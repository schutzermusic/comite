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2b80f7b0f65457d" /><Relationship Type="http://schemas.openxmlformats.org/officeDocument/2006/relationships/extended-properties" Target="/docProps/app.xml" Id="Ra8b70a6d14444241" /><Relationship Type="http://schemas.openxmlformats.org/officeDocument/2006/relationships/officeDocument" Target="/ppt/presentation.xml" Id="R92edbadaf036414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e6ad224c5c04a03"/>
  </p:sldMasterIdLst>
  <p:notesMasterIdLst>
    <p:notesMasterId xmlns:r="http://schemas.openxmlformats.org/officeDocument/2006/relationships" r:id="Rc2c5fc6638a84d39"/>
  </p:notesMasterIdLst>
  <p:sldIdLst>
    <p:sldId xmlns:r="http://schemas.openxmlformats.org/officeDocument/2006/relationships" id="256" r:id="Raa4bb28fcff7404a"/>
    <p:sldId xmlns:r="http://schemas.openxmlformats.org/officeDocument/2006/relationships" id="257" r:id="Rd5fa9b74de9a438b"/>
    <p:sldId xmlns:r="http://schemas.openxmlformats.org/officeDocument/2006/relationships" id="258" r:id="R0034d63938ae46c7"/>
    <p:sldId xmlns:r="http://schemas.openxmlformats.org/officeDocument/2006/relationships" id="259" r:id="R2fb77f895a6a4af8"/>
    <p:sldId xmlns:r="http://schemas.openxmlformats.org/officeDocument/2006/relationships" id="260" r:id="Rfcc7114ce51e4ae1"/>
    <p:sldId xmlns:r="http://schemas.openxmlformats.org/officeDocument/2006/relationships" id="261" r:id="R5c5ac611666347b7"/>
    <p:sldId xmlns:r="http://schemas.openxmlformats.org/officeDocument/2006/relationships" id="262" r:id="R9c6e1b3e8b0942fa"/>
    <p:sldId xmlns:r="http://schemas.openxmlformats.org/officeDocument/2006/relationships" id="263" r:id="R3ada2c73a6964924"/>
    <p:sldId xmlns:r="http://schemas.openxmlformats.org/officeDocument/2006/relationships" id="264" r:id="R5b9644688d624f1c"/>
    <p:sldId xmlns:r="http://schemas.openxmlformats.org/officeDocument/2006/relationships" id="265" r:id="R759713d259f34480"/>
    <p:sldId xmlns:r="http://schemas.openxmlformats.org/officeDocument/2006/relationships" id="266" r:id="R61a30a24df7246cd"/>
    <p:sldId xmlns:r="http://schemas.openxmlformats.org/officeDocument/2006/relationships" id="267" r:id="Rc06ea82ee3ba41c1"/>
    <p:sldId xmlns:r="http://schemas.openxmlformats.org/officeDocument/2006/relationships" id="268" r:id="Rf0530b3f8d2e44f5"/>
    <p:sldId xmlns:r="http://schemas.openxmlformats.org/officeDocument/2006/relationships" id="269" r:id="R900b264bdde84873"/>
    <p:sldId xmlns:r="http://schemas.openxmlformats.org/officeDocument/2006/relationships" id="270" r:id="R9565f525527547e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d1d9241579b45f5" /><Relationship Type="http://schemas.openxmlformats.org/officeDocument/2006/relationships/slideMaster" Target="/ppt/slideMasters/slideMaster1.xml" Id="R7e6ad224c5c04a03" /><Relationship Type="http://schemas.openxmlformats.org/officeDocument/2006/relationships/notesMaster" Target="/ppt/notesMasters/notesMaster1.xml" Id="Rc2c5fc6638a84d39" /><Relationship Type="http://schemas.openxmlformats.org/officeDocument/2006/relationships/presProps" Target="/ppt/presProps.xml" Id="R21268982cd444adb" /><Relationship Type="http://schemas.openxmlformats.org/officeDocument/2006/relationships/tableStyles" Target="/ppt/tableStyles.xml" Id="R08150071683b400c" /><Relationship Type="http://schemas.openxmlformats.org/officeDocument/2006/relationships/slide" Target="/ppt/slides/slide1.xml" Id="Raa4bb28fcff7404a" /><Relationship Type="http://schemas.openxmlformats.org/officeDocument/2006/relationships/slide" Target="/ppt/slides/slide2.xml" Id="Rd5fa9b74de9a438b" /><Relationship Type="http://schemas.openxmlformats.org/officeDocument/2006/relationships/slide" Target="/ppt/slides/slide3.xml" Id="R0034d63938ae46c7" /><Relationship Type="http://schemas.openxmlformats.org/officeDocument/2006/relationships/slide" Target="/ppt/slides/slide4.xml" Id="R2fb77f895a6a4af8" /><Relationship Type="http://schemas.openxmlformats.org/officeDocument/2006/relationships/slide" Target="/ppt/slides/slide5.xml" Id="Rfcc7114ce51e4ae1" /><Relationship Type="http://schemas.openxmlformats.org/officeDocument/2006/relationships/slide" Target="/ppt/slides/slide6.xml" Id="R5c5ac611666347b7" /><Relationship Type="http://schemas.openxmlformats.org/officeDocument/2006/relationships/slide" Target="/ppt/slides/slide7.xml" Id="R9c6e1b3e8b0942fa" /><Relationship Type="http://schemas.openxmlformats.org/officeDocument/2006/relationships/slide" Target="/ppt/slides/slide8.xml" Id="R3ada2c73a6964924" /><Relationship Type="http://schemas.openxmlformats.org/officeDocument/2006/relationships/slide" Target="/ppt/slides/slide9.xml" Id="R5b9644688d624f1c" /><Relationship Type="http://schemas.openxmlformats.org/officeDocument/2006/relationships/slide" Target="/ppt/slides/slide10.xml" Id="R759713d259f34480" /><Relationship Type="http://schemas.openxmlformats.org/officeDocument/2006/relationships/slide" Target="/ppt/slides/slide11.xml" Id="R61a30a24df7246cd" /><Relationship Type="http://schemas.openxmlformats.org/officeDocument/2006/relationships/slide" Target="/ppt/slides/slide12.xml" Id="Rc06ea82ee3ba41c1" /><Relationship Type="http://schemas.openxmlformats.org/officeDocument/2006/relationships/slide" Target="/ppt/slides/slide13.xml" Id="Rf0530b3f8d2e44f5" /><Relationship Type="http://schemas.openxmlformats.org/officeDocument/2006/relationships/slide" Target="/ppt/slides/slide14.xml" Id="R900b264bdde84873" /><Relationship Type="http://schemas.openxmlformats.org/officeDocument/2006/relationships/slide" Target="/ppt/slides/slide15.xml" Id="R9565f525527547e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700aaa12be649e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d1998f9dfd840a3" /><Relationship Type="http://schemas.openxmlformats.org/officeDocument/2006/relationships/notesMaster" Target="/ppt/notesMasters/notesMaster1.xml" Id="Rf38907e517b04b6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6d09341fdea498c" /><Relationship Type="http://schemas.openxmlformats.org/officeDocument/2006/relationships/notesMaster" Target="/ppt/notesMasters/notesMaster1.xml" Id="R1eade639e40e441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314d712253344b7" /><Relationship Type="http://schemas.openxmlformats.org/officeDocument/2006/relationships/notesMaster" Target="/ppt/notesMasters/notesMaster1.xml" Id="Re4a780d724ad4d5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fb73d64adcc4b56" /><Relationship Type="http://schemas.openxmlformats.org/officeDocument/2006/relationships/notesMaster" Target="/ppt/notesMasters/notesMaster1.xml" Id="R864846406522421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8ae696e89bd4cb7" /><Relationship Type="http://schemas.openxmlformats.org/officeDocument/2006/relationships/notesMaster" Target="/ppt/notesMasters/notesMaster1.xml" Id="R08d2ef117bca4f0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96f89a5773c4823" /><Relationship Type="http://schemas.openxmlformats.org/officeDocument/2006/relationships/notesMaster" Target="/ppt/notesMasters/notesMaster1.xml" Id="R6206738ecf2b4d5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5d0d1156e834960" /><Relationship Type="http://schemas.openxmlformats.org/officeDocument/2006/relationships/notesMaster" Target="/ppt/notesMasters/notesMaster1.xml" Id="R3b4993722406459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68c4a025fa043c8" /><Relationship Type="http://schemas.openxmlformats.org/officeDocument/2006/relationships/notesMaster" Target="/ppt/notesMasters/notesMaster1.xml" Id="Rbd4a4bfe2278412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d521d71755949ae" /><Relationship Type="http://schemas.openxmlformats.org/officeDocument/2006/relationships/notesMaster" Target="/ppt/notesMasters/notesMaster1.xml" Id="Re9807b818b2f48e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22f69dc4e4a4394" /><Relationship Type="http://schemas.openxmlformats.org/officeDocument/2006/relationships/notesMaster" Target="/ppt/notesMasters/notesMaster1.xml" Id="Rcc02e7ab0e8d4ee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5f94d81460a4e04" /><Relationship Type="http://schemas.openxmlformats.org/officeDocument/2006/relationships/notesMaster" Target="/ppt/notesMasters/notesMaster1.xml" Id="Rdf7e8d2f2c6d4aa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74e4c877dfd4ee2" /><Relationship Type="http://schemas.openxmlformats.org/officeDocument/2006/relationships/notesMaster" Target="/ppt/notesMasters/notesMaster1.xml" Id="Rcce3d8e564a8454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0c5dc1f2fdd4022" /><Relationship Type="http://schemas.openxmlformats.org/officeDocument/2006/relationships/notesMaster" Target="/ppt/notesMasters/notesMaster1.xml" Id="R7f1e357dd88e431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2033ce5e96f4d85" /><Relationship Type="http://schemas.openxmlformats.org/officeDocument/2006/relationships/notesMaster" Target="/ppt/notesMasters/notesMaster1.xml" Id="Rffc6315238c44370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eb4df8815644d49" /><Relationship Type="http://schemas.openxmlformats.org/officeDocument/2006/relationships/notesMaster" Target="/ppt/notesMasters/notesMaster1.xml" Id="R16cb42776abe472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receita do período cobre 5,44x o custo de folha informado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Use o roteiro para combinar o tempo de cada bloco antes de entrar nos números.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receita do período cobre 5,44x o custo de folha informado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- 31 competência(s) com valor realizado e 29 com previsão. Realizado e previsto permanecem identificados separadamente em todas as séries.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Traço contínuo: valores fechados. Traço tracejado: projeção ancorada na última competência realizada.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trajetória acumulada mantém-se positiva em todo o recorte e fecha em R$ 421,6 mi.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Nenhuma competência do recorte fecha com saldo mensal negativo.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Cada série identifica o cliente que compõe o faturamento previsto.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Base contratual usada para limitar e distribuir a projeção.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Seguimos comprometidos com uma execução disciplinada, crescimento sustentável e geração consistente de valor para nossos investidores.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ea061219d09427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7c1ca554bd24dcd" /><Relationship Type="http://schemas.openxmlformats.org/officeDocument/2006/relationships/slideLayout" Target="/ppt/slideLayouts/slideLayout1.xml" Id="Rb24ce226c087479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24ce226c087479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43391efad34bd3" /><Relationship Type="http://schemas.openxmlformats.org/officeDocument/2006/relationships/image" Target="/ppt/media/image.png" Id="R5f38e751cd1b44c3" /><Relationship Type="http://schemas.openxmlformats.org/officeDocument/2006/relationships/image" Target="/ppt/media/image2.png" Id="R0c4fca48570a42c6" /><Relationship Type="http://schemas.openxmlformats.org/officeDocument/2006/relationships/notesSlide" Target="/ppt/notesSlides/notesSlide1.xml" Id="Rf0fe6fa5628245a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8fc39972964b8e" /><Relationship Type="http://schemas.openxmlformats.org/officeDocument/2006/relationships/image" Target="/ppt/media/image3.png" Id="Rfdaf0a9858504aa0" /><Relationship Type="http://schemas.openxmlformats.org/officeDocument/2006/relationships/notesSlide" Target="/ppt/notesSlides/notesSlide2.xml" Id="Rdfb5f896d430444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d5dbb68e7f49b7" /><Relationship Type="http://schemas.openxmlformats.org/officeDocument/2006/relationships/image" Target="/ppt/media/image4.png" Id="R96ae6495090a453d" /><Relationship Type="http://schemas.openxmlformats.org/officeDocument/2006/relationships/image" Target="/ppt/media/image5.png" Id="R5107fc9bc73d4e4b" /><Relationship Type="http://schemas.openxmlformats.org/officeDocument/2006/relationships/image" Target="/ppt/media/image.svg" Id="R020e801ba6814636" /><Relationship Type="http://schemas.openxmlformats.org/officeDocument/2006/relationships/notesSlide" Target="/ppt/notesSlides/notesSlide3.xml" Id="Rcee0a36625a9431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4967bd3b0b440e" /><Relationship Type="http://schemas.openxmlformats.org/officeDocument/2006/relationships/image" Target="/ppt/media/image6.png" Id="R6e23606e026d438d" /><Relationship Type="http://schemas.openxmlformats.org/officeDocument/2006/relationships/image" Target="/ppt/media/image7.png" Id="R1cd628cfb52a46ff" /><Relationship Type="http://schemas.openxmlformats.org/officeDocument/2006/relationships/image" Target="/ppt/media/image2.svg" Id="R64b4053002ad4cad" /><Relationship Type="http://schemas.openxmlformats.org/officeDocument/2006/relationships/notesSlide" Target="/ppt/notesSlides/notesSlide4.xml" Id="R72c08f63ce25409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783f4bbd674a6b" /><Relationship Type="http://schemas.openxmlformats.org/officeDocument/2006/relationships/image" Target="/ppt/media/image8.png" Id="R53a978594b6048b4" /><Relationship Type="http://schemas.openxmlformats.org/officeDocument/2006/relationships/image" Target="/ppt/media/image9.png" Id="R6fe9ea2d00ac4704" /><Relationship Type="http://schemas.openxmlformats.org/officeDocument/2006/relationships/image" Target="/ppt/media/image3.svg" Id="Ra43235a4332c41b4" /><Relationship Type="http://schemas.openxmlformats.org/officeDocument/2006/relationships/notesSlide" Target="/ppt/notesSlides/notesSlide5.xml" Id="R5b29742ec81d406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7383cc6452440e" /><Relationship Type="http://schemas.openxmlformats.org/officeDocument/2006/relationships/image" Target="/ppt/media/image10.png" Id="R070dd67b6f2a475a" /><Relationship Type="http://schemas.openxmlformats.org/officeDocument/2006/relationships/image" Target="/ppt/media/image11.png" Id="Rc5d743d115c0405b" /><Relationship Type="http://schemas.openxmlformats.org/officeDocument/2006/relationships/image" Target="/ppt/media/image4.svg" Id="Rd591d0d90e7d49ea" /><Relationship Type="http://schemas.openxmlformats.org/officeDocument/2006/relationships/notesSlide" Target="/ppt/notesSlides/notesSlide6.xml" Id="R3f9421c21428439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8ade5527704052" /><Relationship Type="http://schemas.openxmlformats.org/officeDocument/2006/relationships/image" Target="/ppt/media/image12.png" Id="Rb881b4674c024be3" /><Relationship Type="http://schemas.openxmlformats.org/officeDocument/2006/relationships/image" Target="/ppt/media/image13.png" Id="R2d3785dacd584044" /><Relationship Type="http://schemas.openxmlformats.org/officeDocument/2006/relationships/image" Target="/ppt/media/image5.svg" Id="R84e282a229224e51" /><Relationship Type="http://schemas.openxmlformats.org/officeDocument/2006/relationships/notesSlide" Target="/ppt/notesSlides/notesSlide7.xml" Id="Rde3667d03538466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f9d18b9479414b" /><Relationship Type="http://schemas.openxmlformats.org/officeDocument/2006/relationships/image" Target="/ppt/media/image14.png" Id="Rec1b0593cfce454c" /><Relationship Type="http://schemas.openxmlformats.org/officeDocument/2006/relationships/image" Target="/ppt/media/image15.png" Id="R142321493d634d8f" /><Relationship Type="http://schemas.openxmlformats.org/officeDocument/2006/relationships/image" Target="/ppt/media/image6.svg" Id="R7fcee42da3aa44fb" /><Relationship Type="http://schemas.openxmlformats.org/officeDocument/2006/relationships/notesSlide" Target="/ppt/notesSlides/notesSlide8.xml" Id="Rcd3480dd2d714b9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5fd632965342a4" /><Relationship Type="http://schemas.openxmlformats.org/officeDocument/2006/relationships/image" Target="/ppt/media/image16.png" Id="R585a3f83822c4033" /><Relationship Type="http://schemas.openxmlformats.org/officeDocument/2006/relationships/notesSlide" Target="/ppt/notesSlides/notesSlide9.xml" Id="R4ebc1be5adcd45e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a61bab3dc64ebd" /><Relationship Type="http://schemas.openxmlformats.org/officeDocument/2006/relationships/image" Target="/ppt/media/image17.png" Id="R506eaff795dd4315" /><Relationship Type="http://schemas.openxmlformats.org/officeDocument/2006/relationships/notesSlide" Target="/ppt/notesSlides/notesSlide10.xml" Id="R494c3ab7ac7f415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1c2881ff96436e" /><Relationship Type="http://schemas.openxmlformats.org/officeDocument/2006/relationships/image" Target="/ppt/media/image18.png" Id="R766013efd5f34ff8" /><Relationship Type="http://schemas.openxmlformats.org/officeDocument/2006/relationships/notesSlide" Target="/ppt/notesSlides/notesSlide11.xml" Id="Re011766808754b6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2a22eb9a1a44e4" /><Relationship Type="http://schemas.openxmlformats.org/officeDocument/2006/relationships/image" Target="/ppt/media/image19.png" Id="R30c8182968c44ebd" /><Relationship Type="http://schemas.openxmlformats.org/officeDocument/2006/relationships/notesSlide" Target="/ppt/notesSlides/notesSlide12.xml" Id="Re6df84f7088349d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a17515bec34271" /><Relationship Type="http://schemas.openxmlformats.org/officeDocument/2006/relationships/image" Target="/ppt/media/image20.png" Id="R4ff039509f0746fb" /><Relationship Type="http://schemas.openxmlformats.org/officeDocument/2006/relationships/notesSlide" Target="/ppt/notesSlides/notesSlide13.xml" Id="Rc63b59ca455440d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1b03c57d274912" /><Relationship Type="http://schemas.openxmlformats.org/officeDocument/2006/relationships/image" Target="/ppt/media/image21.png" Id="R1ceaf2e1f7644e4c" /><Relationship Type="http://schemas.openxmlformats.org/officeDocument/2006/relationships/notesSlide" Target="/ppt/notesSlides/notesSlide14.xml" Id="R2d9cd8414c69424e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fc7a93e68944d6" /><Relationship Type="http://schemas.openxmlformats.org/officeDocument/2006/relationships/image" Target="/ppt/media/image22.png" Id="R5a621a857344474e" /><Relationship Type="http://schemas.openxmlformats.org/officeDocument/2006/relationships/image" Target="/ppt/media/image23.png" Id="R316dce32b5f84a20" /><Relationship Type="http://schemas.openxmlformats.org/officeDocument/2006/relationships/notesSlide" Target="/ppt/notesSlides/notesSlide15.xml" Id="Rb6eaaf4741364fc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5C54E4-FA53-4CB0-99BE-83AD34651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886478-2D26-4980-988C-A68F99FA8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E4AEAC-2979-4436-A3F7-AC67E6988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38e751cd1b44c3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061831-2CDA-4487-BE59-2D134D1E2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52EBFF-730D-4489-8D57-6EE33073A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4fca48570a42c6"/>
          <a:stretch xmlns:a="http://schemas.openxmlformats.org/drawingml/2006/main"/>
        </p:blipFill>
        <p:spPr>
          <a:xfrm xmlns:a="http://schemas.openxmlformats.org/drawingml/2006/main">
            <a:off x="609600" y="685800"/>
            <a:ext cx="3303330" cy="4381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5EC1C4-71A2-4E29-AF7A-0548B1E68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762000"/>
            <a:ext cx="1866900" cy="285750"/>
          </a:xfrm>
          <a:prstGeom xmlns:a="http://schemas.openxmlformats.org/drawingml/2006/main" prst="roundRect">
            <a:avLst>
              <a:gd name="adj" fmla="val 4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E3A4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B9F931-D072-48D6-897A-BBD353E07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828675"/>
            <a:ext cx="1866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35E6BB"/>
                </a:solidFill>
              </a:defRPr>
            </a:pPr>
            <a:r>
              <a:rPr sz="900" b="1">
                <a:solidFill>
                  <a:srgbClr val="35E6BB"/>
                </a:solidFill>
              </a:rPr>
              <a:t>CONFIDENCIAL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1D70EB-5435-40D4-BBE7-A0D45B438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9525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F2FAF9"/>
                </a:solidFill>
              </a:defRPr>
            </a:pPr>
            <a:r>
              <a:rPr sz="3900" b="1">
                <a:solidFill>
                  <a:srgbClr val="F2FAF9"/>
                </a:solidFill>
              </a:rPr>
              <a:t>Relatório de Faturamento vs Folha de Pagamento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62D1F4-D2FF-45B4-B07D-8D777CE5B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PERÍODO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229607-B7EC-40F2-8FA0-7518D6F85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CBDBDD"/>
                </a:solidFill>
              </a:defRPr>
            </a:pPr>
            <a:r>
              <a:rPr sz="1275" b="1">
                <a:solidFill>
                  <a:srgbClr val="CBDBDD"/>
                </a:solidFill>
              </a:rPr>
              <a:t>jan de 24 — dez de 28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7580BA-590B-41FF-A6BD-EAE52E89F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DATA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C44D87-4279-4B60-BD7A-80A7636C7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CBDBDD"/>
                </a:solidFill>
              </a:defRPr>
            </a:pPr>
            <a:r>
              <a:rPr sz="1275" b="1">
                <a:solidFill>
                  <a:srgbClr val="CBDBDD"/>
                </a:solidFill>
              </a:rPr>
              <a:t>30-07-2026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E4F2EDD-446E-4FAB-8858-47DE8DC94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PREPARADO POR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877A967-1C6B-4709-A52E-448F2D8A3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CBDBDD"/>
                </a:solidFill>
              </a:defRPr>
            </a:pPr>
            <a:r>
              <a:rPr sz="1275" b="1">
                <a:solidFill>
                  <a:srgbClr val="CBDBDD"/>
                </a:solidFill>
              </a:rPr>
              <a:t>Sergio Fagundes</a:t>
            </a:r>
          </a:p>
        </p:txBody>
      </p:sp>
    </p:spTree>
    <p:extLst>
      <p:ext uri="{BB962C8B-B14F-4D97-AF65-F5344CB8AC3E}">
        <p14:creationId xmlns:p14="http://schemas.microsoft.com/office/powerpoint/2010/main" val="151804520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1863C67-55E3-4953-8632-52691D089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73B2A1-EBC5-468A-9405-9BBF7C26E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EA270E-3375-4A43-AB94-299074603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ROTEIRO DA APRESENTAÇÃO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0931DF-61DE-4906-A474-2FBBC1B6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02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3B81A9-A242-4EF8-B507-E0A3C7D24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af0a9858504aa0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DEA9E1-C41A-4BD9-912A-6F9563CF4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5B40C8-94B3-47C9-8DD2-A69FF650B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C167FB-698D-4727-B234-49F23DFEC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O que esta leitura cobre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4AC424-7F72-443D-BE0C-4E2D1A75C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3EB4FF-A435-40B3-8DAD-8A209DC34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7A76AE-6D61-46D4-9721-C21B76D07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0764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Síntese executiva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3128E1A-22DC-4EC7-8F45-F6823E153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622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Cobertura, saldo e os sinais que resumem o período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928035-BDAB-4183-BED1-7647AACAC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962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F7CC6A-F2F9-43C2-BECF-6A0EE83E7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0955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2870428-7883-46CF-A3BE-4491F7EF7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0764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Evolução mensal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8742DE0-3A53-4920-96B7-337670C1E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3622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Receita e folha competência a competência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36439D3-1504-4DD4-90DB-72990C505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26BDBB6-A471-48F3-AD48-D3FDFA032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99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132277F-A47C-4095-8BD1-2E731ED9C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908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Curva mensal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EA17F3F-0273-48EF-9F93-6AA8F30AB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2766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Valores de cada competência, sem acumulação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CE608D6-7742-4F06-9751-8BA9CB45F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765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03E6CD8-905F-4EE4-BC5C-A30711BCF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099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F89CB6E-B32C-4BB3-927C-D520B9603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9908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Curva S acumulada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9BC59C0-8A5C-4F1C-A6D5-B292587B6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2766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Trajetória acumulada e zona de previsão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90259D1-85EB-416F-AFFF-22D24BD38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324DD8F-08D7-4645-9812-BE6F4160F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0D2AC6A-9BF9-469B-A97D-E7F748FBF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9052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Saldo e acumulado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3174E33-7E7B-497C-BD3E-9E0CA82AC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910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Onde o período gera e onde consome resultado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25F8ED8-0E0F-4C7A-B030-F0922E4BF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7909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3AA79FF-3E10-432B-AA73-5A18D729E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243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06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DB0303C-E40A-46AD-BD87-17AF02723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9052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Projeção por cliente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C75A52D-1FA6-4CF7-9A3A-FC9CCACEA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1910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Composição do faturamento projetado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A3ADA71-E765-4A0F-821E-58DD62D62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053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014FFE0-9B32-4C94-9B04-A9C6AB610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387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07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10F8030-64D6-4822-85D8-AE6795F2A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8196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Base mensal informada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03927C4-07C6-4B68-BA6C-08448E831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1054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Todos os valores por trás dos gráficos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B7FFA74-33E8-403A-B532-7E6D65143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7053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272A64F-CAD5-475F-BF45-9E895F5EC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387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A3921FC-A8D8-4F31-8C06-BD7101E5C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8196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Carteira e recebíveis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DF61251-58D0-4F70-8847-F1D1353AF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1054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Backlog que sustenta a projeção</a:t>
            </a:r>
          </a:p>
        </p:txBody>
      </p:sp>
    </p:spTree>
    <p:extLst>
      <p:ext uri="{BB962C8B-B14F-4D97-AF65-F5344CB8AC3E}">
        <p14:creationId xmlns:p14="http://schemas.microsoft.com/office/powerpoint/2010/main" val="48341039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81C042D9-ACE1-417F-864D-9DC2FC2AA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0913DA-4EA0-4CE8-8DB9-2E039E526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3A345E-BD7A-420D-B97C-A870D36C7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SÍNTESE EXECUTIVA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C3D17E-541E-4AF6-8025-AFF211718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03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4B2BD6-ED95-40ED-8EF9-F3661A466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8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ae6495090a453d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CE8180-433D-4E63-A3B9-F2733B85D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D1840A-0A80-454A-A19C-D1CE453F1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DE09B6-7ACD-4E0C-98D0-60A513282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7543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875"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F2FAF9"/>
                </a:solidFill>
              </a:defRPr>
            </a:pPr>
            <a:r>
              <a:rPr sz="2400" b="1">
                <a:solidFill>
                  <a:srgbClr val="F2FAF9"/>
                </a:solidFill>
              </a:rPr>
              <a:t>A receita do período cobre 5,44x o custo de folha informado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C75E56-77F1-4C32-85A8-4C37C0E82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7239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CBDBDD"/>
                </a:solidFill>
              </a:defRPr>
            </a:pPr>
            <a:r>
              <a:rPr sz="1200">
                <a:solidFill>
                  <a:srgbClr val="CBDBDD"/>
                </a:solidFill>
              </a:rPr>
              <a:t>A receita consolidada sustenta a estrutura atual e a carteira prevista amplia a cobertura da folha ao longo do horizonte projetado.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4AD285-98BB-488A-8171-592121A06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95550"/>
            <a:ext cx="7543800" cy="1390650"/>
          </a:xfrm>
          <a:prstGeom xmlns:a="http://schemas.openxmlformats.org/drawingml/2006/main" prst="roundRect">
            <a:avLst>
              <a:gd name="adj" fmla="val 821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E3A4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CD328B-0F9A-40AC-91D4-9B9006672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581275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2D98CD-51CE-4419-89B0-34AC57258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581275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2F86DB-7CD8-46EA-8369-04D628765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37A248-14E9-48FC-B706-58703D104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2094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4F52036-2DB0-4A8B-A277-11246D4B5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68D56E7-036A-4593-B075-E7801EC41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 REALIZADO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C4FEA42-F432-4F5C-BC97-52090DD0B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35E6BB"/>
                </a:solidFill>
              </a:defRPr>
            </a:pPr>
            <a:r>
              <a:rPr sz="1950" b="1">
                <a:solidFill>
                  <a:srgbClr val="35E6BB"/>
                </a:solidFill>
              </a:rPr>
              <a:t>R$ 191,6 mi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226474B-9FA6-4051-9875-989D2A4B3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31 competência(s)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CB237AE-2ED6-438F-A7AA-85C0DF849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1269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401088F-F820-474D-AE84-9984779A1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6138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EB853AE-D633-43E4-BDD4-1E82B6616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AA5184A-79B6-4BF2-B402-505ABAEB8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9394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 PREVISTO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DDE5C7-2B3E-4C0E-A491-8EC3B6D79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4C9DFF"/>
                </a:solidFill>
              </a:defRPr>
            </a:pPr>
            <a:r>
              <a:rPr sz="1950" b="1">
                <a:solidFill>
                  <a:srgbClr val="4C9DFF"/>
                </a:solidFill>
              </a:rPr>
              <a:t>R$ 325 mi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875F98C-F00A-43A2-B2D8-62BB6BC80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63% da receita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B9366E0-61AC-4036-B2F8-292D76507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5313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A9D7675-164A-4668-B9FD-77DA4C507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0181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1651A4E-B62B-4E8A-BFCE-4E57EA9D5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362F09E-8235-4DB6-AD1B-E3C30FBD0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3438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TOTAL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D889C44-B545-444E-8EE6-572EC3B53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FB74D"/>
                </a:solidFill>
              </a:defRPr>
            </a:pPr>
            <a:r>
              <a:rPr sz="1950" b="1">
                <a:solidFill>
                  <a:srgbClr val="FFB74D"/>
                </a:solidFill>
              </a:rPr>
              <a:t>R$ 95 mi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569B44D-C83F-4B22-839D-C75D7853D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fechada + projetada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43AAE2F-7B84-474E-A275-C7EA8E929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9356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7F6B771-9FDB-4E60-A480-0771453BA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4225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FAA8F80-DF10-4FBA-BDD5-70512E79C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3895330-B63D-45CC-A503-92C556FD9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7481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 ACUMULADO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5BED67B-0CCA-4092-9174-21D5F69E5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35E6BB"/>
                </a:solidFill>
              </a:defRPr>
            </a:pPr>
            <a:r>
              <a:rPr sz="1950" b="1">
                <a:solidFill>
                  <a:srgbClr val="35E6BB"/>
                </a:solidFill>
              </a:rPr>
              <a:t>R$ 421,6 mi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827E2DD-B03C-49FA-AD40-172043504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no fecho do recorte</a:t>
            </a:r>
          </a:p>
        </p:txBody>
      </p:sp>
      <p:pic>
        <p:nvPicPr>
          <p:cNvPr id="1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07fc9bc73d4e4b">
            <a:extLst>
              <a:ext uri="{96DAC541-7B7A-43D3-8B79-37D633B846F1}">
                <asvg:svgBlip xmlns:asvg="http://schemas.microsoft.com/office/drawing/2016/SVG/main" r:embed="R020e801ba681463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724900" y="1428750"/>
            <a:ext cx="2286000" cy="2286000"/>
          </a:xfrm>
          <a:prstGeom xmlns:a="http://schemas.openxmlformats.org/drawingml/2006/main" prst="rect">
            <a:avLst/>
          </a:prstGeom>
        </p:spPr>
      </p:pic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BDC7290-B9CD-40F5-BD1D-55EC71223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733800"/>
            <a:ext cx="2971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COBERTURA RECEITA / FOLHA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A9620D3-CF24-49E4-9144-2CCE57574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943350"/>
            <a:ext cx="2971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Marca central do arco = ponto de equilíbrio (1,00x). +444 p.p. em relação ao equilíbrio.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BD91A64-7438-4F3B-8340-184733816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972800" cy="1676400"/>
          </a:xfrm>
          <a:prstGeom xmlns:a="http://schemas.openxmlformats.org/drawingml/2006/main" prst="roundRect">
            <a:avLst>
              <a:gd name="adj" fmla="val 6818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E3A42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C83EADF-DEF5-41A0-AC23-1C72CB589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05325"/>
            <a:ext cx="9525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FED3F78-2CD9-4F6E-8BCC-4B248CF91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87150" y="4505325"/>
            <a:ext cx="9525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D4961D4-304D-4B0A-8F82-F0BB31265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A26D126-0835-405C-9296-BD5B6C231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4979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AB17477-C78F-45B6-B5BC-610FF891E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FCF68B4-9E60-482B-92F2-A1DFC335B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COBERTURA RECEITA / FOLHA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93E13E4-9E40-4258-AAF7-936167EFA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4594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35E6BB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FBFEFB6-D987-452A-B828-DFA53D446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4594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35E6BB"/>
                </a:solidFill>
              </a:defRPr>
            </a:pPr>
            <a:r>
              <a:rPr sz="675" b="1">
                <a:solidFill>
                  <a:srgbClr val="35E6BB"/>
                </a:solidFill>
              </a:rPr>
              <a:t>SINAL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004D9C1-FAF8-4C9F-8EA6-BAB8D8109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35E6BB"/>
                </a:solidFill>
              </a:defRPr>
            </a:pPr>
            <a:r>
              <a:rPr sz="1425" b="1">
                <a:solidFill>
                  <a:srgbClr val="35E6BB"/>
                </a:solidFill>
              </a:rPr>
              <a:t>5,44x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D5C2A4F-87A7-4AE2-A146-066F3C0D7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Razão entre a receita total e a folha total do recorte informado.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6AB6105-530D-4CAC-B67C-65B1E04D4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8519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81A309E-A400-40F1-96A2-3DB006D5F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73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771DE48-EBE2-4D72-BEFF-BDAE33A91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2FFF3D5-0AA9-453E-B962-1752A689C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6644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 ACUMULADO NO FECHO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9DFB7CA-EDE4-4D03-A79D-87B8FF02D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5888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35E6BB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2AFF0EF-273D-49D3-8470-F096ABB91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5888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35E6BB"/>
                </a:solidFill>
              </a:defRPr>
            </a:pPr>
            <a:r>
              <a:rPr sz="675" b="1">
                <a:solidFill>
                  <a:srgbClr val="35E6BB"/>
                </a:solidFill>
              </a:rPr>
              <a:t>SINAL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47AEBDA8-0C54-4D3A-8EFE-BBA30EAB8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35E6BB"/>
                </a:solidFill>
              </a:defRPr>
            </a:pPr>
            <a:r>
              <a:rPr sz="1425" b="1">
                <a:solidFill>
                  <a:srgbClr val="35E6BB"/>
                </a:solidFill>
              </a:rPr>
              <a:t>R$ 421,6 mi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A0243C90-7DB7-4575-A826-5392967DD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Diferença acumulada entre receita e folha ao fim de 60 competências.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E87E3199-57F5-4022-88E8-6D57E61B3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9813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B7305693-E200-4FF1-AEBF-B7FE3211D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7566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1B44ED20-6C2F-40A8-8735-F09F5A1B3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31CB03FA-25E0-4916-BFF0-667AE1EE6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7938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MÊS MAIS APERTADO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9C178C51-3893-4BE3-8D09-E551EE806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181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FFB74D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04B0CB7D-BB74-4E23-B71C-C2CB71A1A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181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FFB74D"/>
                </a:solidFill>
              </a:defRPr>
            </a:pPr>
            <a:r>
              <a:rPr sz="675" b="1">
                <a:solidFill>
                  <a:srgbClr val="FFB74D"/>
                </a:solidFill>
              </a:rPr>
              <a:t>MONITORAR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7F0D79E3-7459-4D1B-918D-52D8CDF64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B74D"/>
                </a:solidFill>
              </a:defRPr>
            </a:pPr>
            <a:r>
              <a:rPr sz="1425" b="1">
                <a:solidFill>
                  <a:srgbClr val="FFB74D"/>
                </a:solidFill>
              </a:rPr>
              <a:t>fev de 26 · 1,39x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51E7D6E1-724C-4238-A49C-75FD64855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Menor cobertura mensal do recorte.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2106F3FF-87FD-4470-B9D9-DD67555F5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1106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FA3E269B-56F2-49EB-91F1-F440115BF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8860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64C66B48-9C66-450F-9158-47FDAE86F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55C2E8F4-0C08-49BF-81E8-69E16103C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231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PICO DE RECEITA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D245B097-1025-4443-82E9-D6DADA8E3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475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35E6BB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DBE2C9B0-124A-4FA1-BD1E-C4DE9B733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475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35E6BB"/>
                </a:solidFill>
              </a:defRPr>
            </a:pPr>
            <a:r>
              <a:rPr sz="675" b="1">
                <a:solidFill>
                  <a:srgbClr val="35E6BB"/>
                </a:solidFill>
              </a:rPr>
              <a:t>SINAL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BD42BF1C-A43F-42B2-AF08-3E9DF0320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35E6BB"/>
                </a:solidFill>
              </a:defRPr>
            </a:pPr>
            <a:r>
              <a:rPr sz="1425" b="1">
                <a:solidFill>
                  <a:srgbClr val="35E6BB"/>
                </a:solidFill>
              </a:rPr>
              <a:t>dez de 28 · R$ 15 mi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7A09E0FA-132F-40F7-A73A-6CF1AD23D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Maior receita mensal (realizada + prevista) do recorte.</a:t>
            </a:r>
          </a:p>
        </p:txBody>
      </p:sp>
    </p:spTree>
    <p:extLst>
      <p:ext uri="{BB962C8B-B14F-4D97-AF65-F5344CB8AC3E}">
        <p14:creationId xmlns:p14="http://schemas.microsoft.com/office/powerpoint/2010/main" val="105374436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F5DDCCA-B48B-4F6C-A1AA-9269DE7BB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C23690-1EA1-4CE9-82BB-E3FC41136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B7E3EF-5C04-4F8B-8059-5A4EBDC26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EVOLUÇÃO MENSAL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26036C-084E-4B49-8F57-A75B7B1F5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04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5A1404-0BD8-43FE-86FE-2B4934BDB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23606e026d438d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03E471-18B8-4E7F-87BE-F98EDF625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919D7B-696F-42BD-8063-0259D5446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BB515A-0252-4E1F-ABE7-2C36CCE1D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Receita e folha, competência a competência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3F5548-FCA9-455B-8373-CF59C7CD9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31 competência(s) com valor realizado e 29 com previsão. Realizado e previsto permanecem identificados separadamente em todas as séries.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6BE91A-4864-4279-8D8C-F16FE70B4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d628cfb52a46ff">
            <a:extLst>
              <a:ext uri="{96DAC541-7B7A-43D3-8B79-37D633B846F1}">
                <asvg:svgBlip xmlns:asvg="http://schemas.microsoft.com/office/drawing/2016/SVG/main" r:embed="R64b4053002ad4ca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0861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73285F-8B94-4205-841B-07757E1B9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8935FAC-A463-4903-A06F-371D5C5AD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958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realizado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E5BBFA-BB0A-4509-9AC2-BB442BA1E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4C9D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10954B-B4D3-4F90-8DC0-C6CE798D8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895850"/>
            <a:ext cx="1790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previsto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8816E40-1ED5-4FEE-91B2-DED8F4E2C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4D3A218-91B3-4C87-8FB0-432ACD459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0165" y="4895850"/>
            <a:ext cx="20802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fechada + encargos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D0D9B9D-3DA1-450B-BD84-434578046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FFB74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516C009-A48A-4EB4-BE20-08B236CEA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projetada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1723975-C792-4802-98DF-816674BE4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F684F68-4DF2-4600-91CE-9DFD96601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PICO DE RECEITA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564158E-5DA4-498E-AB5C-2B146BCC7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dez de 28 · R$ 15 mi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4FD5F06-606F-4FEB-BBDD-ACFD32DCB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PICO DE FOLHA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CDFB054-58FE-41BD-A91F-110C18CAE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fev de 26 · R$ 3,4 mi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EB8597A-F2AF-442F-A835-92CAC3C62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MÊS MAIS APERTADO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950E8E3-A473-4835-8BD7-9362DEBE7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fev de 26 · 1,39x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B450747-5CEA-4D06-8B1B-5BBF2D7CB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SALDO MENSAL MÉDIO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91E1021-3434-488D-8B89-26B9D5766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R$ 7 mi</a:t>
            </a:r>
          </a:p>
        </p:txBody>
      </p:sp>
    </p:spTree>
    <p:extLst>
      <p:ext uri="{BB962C8B-B14F-4D97-AF65-F5344CB8AC3E}">
        <p14:creationId xmlns:p14="http://schemas.microsoft.com/office/powerpoint/2010/main" val="62244378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05DE97E-8F0A-4010-B2AC-6154CE888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9B67EA-4157-41C1-8B0D-8DB29B60F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6D1636-856F-451B-9896-7046D5738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CURVA MENSAL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14FA87-1903-4027-8D8E-1493042E3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05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9FE053-D7B1-4962-9DD2-B87CA001E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a978594b6048b4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6E6453-FE0D-4468-85C9-A1B5A3FD2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438F85-19B4-44A8-A0F9-50B8A9180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EF9F6E-17E4-4792-8505-D3E3EED3B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Valores de cada competência, sem acumulação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C59B39-8AD7-485F-9B5B-4107474E0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A leitura mês a mês da receita e da folha: onde cada uma sobe, onde recua e a partir de quando passam a ser projeção.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321717-BCFB-4BB6-AF29-010C00C0B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e9ea2d00ac4704">
            <a:extLst>
              <a:ext uri="{96DAC541-7B7A-43D3-8B79-37D633B846F1}">
                <asvg:svgBlip xmlns:asvg="http://schemas.microsoft.com/office/drawing/2016/SVG/main" r:embed="Ra43235a4332c41b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28575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6F2468-21F5-4E34-80B3-BB9FB689C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F2EDC1-7EE5-4353-8B19-6A3B29921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6672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realizado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EA9C4DF-AB19-43DD-A13A-A2F8A4C55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62ED52-4F16-4E7C-80B0-2F659C8FC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7990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A0F587D-A80F-4A16-B4FD-A10886020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667250"/>
            <a:ext cx="1790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previsto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B491ACD-6F2B-409B-98FE-07C014FB6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6A9E406-5AF2-48DD-9F06-DFC9EAFB3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0165" y="4667250"/>
            <a:ext cx="20802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fechada + encargos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17071DF-DF33-410E-99D0-50A9F2395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8FFA06-01D0-4DF8-9337-7016CF186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C2951AE-D29F-4AC0-AD8B-F82BA4F89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6672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projetada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699F65A-538D-4111-8B53-4CACC4E29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Traço contínuo: valores fechados. Traço tracejado: projeção, ancorada na última competência realizada.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9865A31-50BE-443C-B353-3DD90B4C0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2B7514B-7613-4103-94EE-B2CDDEEB9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PICO DE RECEITA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35584EF-2D59-484A-A7DB-01DD69D5D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dez de 28 · R$ 15 mi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3C9A610-126D-498A-8EB2-9D027B8E1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PICO DE FOLHA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BB39CB5-9036-4541-84B4-E879145AB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fev de 26 · R$ 3,4 mi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49F3920-C11A-4B83-A7E1-0CF9C1F0B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COMPETÊNCIAS REALIZADAS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1638EBE-B747-436C-BADC-7F144DA27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31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39F6896-6146-429D-84FC-BBE18EA6B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COMPETÊNCIAS PROJETADAS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7DDACF5-2C35-4D1B-8799-20C3A3216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173121432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F88183B-AD16-426C-AA9A-909035261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99D43C-5426-43C6-AC12-6EA6CFA47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EEB610-7D99-4C3D-99CF-DDDB93D1A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CURVA S ACUMULADA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5F9A9F-59D9-4C25-84EE-061638F02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06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00F410-8627-4540-8FF3-DB2842609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0dd67b6f2a475a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A8FB59-C25A-4442-9D6B-313C87696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96E820-7A90-43BF-A0B1-18288F9F1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C28250-8377-4F7D-8527-41C7FF0E9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A trajetória acumulada do período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68BCF1-530E-47F7-BA09-88F0A275D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A trajetória acumulada mantém-se positiva em todo o recorte e fecha em R$ 421,6 mi.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2B051A-23B1-4B4C-8CDF-4E2E921BC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d743d115c0405b">
            <a:extLst>
              <a:ext uri="{96DAC541-7B7A-43D3-8B79-37D633B846F1}">
                <asvg:svgBlip xmlns:asvg="http://schemas.microsoft.com/office/drawing/2016/SVG/main" r:embed="Rd591d0d90e7d49e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0861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B9C437-8575-4A6F-87AB-C99957E4D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720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B58CD6-FD66-499A-AEA3-8D090CEF5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958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acumulado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413432-E5F4-45C7-B3D7-F9978C23F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9720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D2E54C-2ACF-4BB4-A8DE-9B9A7798C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acumulada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F0B2A0C-2579-4E4C-B986-8788C72B0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0090" y="49720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8C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B1D51CB-7AFC-4C08-B683-23CE0DADE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4865" y="49720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8C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53EC306-D577-4AD0-8399-DE831C628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8215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Saldo acumulado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359C54E-7E3F-491A-A840-E80726880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D4D14AA-5AF8-4591-841B-186B05FC8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RECEITA ACUMULADA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9EC3263-B741-42E1-AC28-D8E599B39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R$ 516,6 mi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A1A4506-AE11-49C8-AFB4-D0D972CAC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FOLHA ACUMULADA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E9AF63D-1391-40EF-BA54-F9C789476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R$ 95 mi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643E24E-EEE7-4FE5-B018-05443373D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SALDO NO FECHO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2F38D46-7F82-4274-807F-892C8B9F5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35E6BB"/>
                </a:solidFill>
              </a:defRPr>
            </a:pPr>
            <a:r>
              <a:rPr sz="1350" b="1">
                <a:solidFill>
                  <a:srgbClr val="35E6BB"/>
                </a:solidFill>
              </a:rPr>
              <a:t>R$ 421,6 mi</a:t>
            </a:r>
          </a:p>
        </p:txBody>
      </p:sp>
    </p:spTree>
    <p:extLst>
      <p:ext uri="{BB962C8B-B14F-4D97-AF65-F5344CB8AC3E}">
        <p14:creationId xmlns:p14="http://schemas.microsoft.com/office/powerpoint/2010/main" val="94726373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43A8F2A-1C8C-4096-9ECA-4B83414B8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1F7305-23A2-47C4-BBCB-C26840D27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7DFAF1-84BC-4A63-B65F-865D3CF0F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SALDO MENSAL E ACUMULADO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ABBF70-C67C-465E-9F29-48E2767CB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07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7280A4-628C-40B7-A859-D7E963C5E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81b4674c024be3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E9B02F-1049-4FF8-A335-522D998E2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AF980D-70C4-4B01-802E-6EB2E79DE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529B9C-0730-49A8-A833-2B24B9446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Onde o período gera e onde consome resultado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104DCA-CA3F-4688-941C-C0003848D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Nenhuma competência do recorte fecha com saldo mensal negativo.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E77330-AD3F-465B-8214-C5F1B88F0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3785dacd584044">
            <a:extLst>
              <a:ext uri="{96DAC541-7B7A-43D3-8B79-37D633B846F1}">
                <asvg:svgBlip xmlns:asvg="http://schemas.microsoft.com/office/drawing/2016/SVG/main" r:embed="R84e282a229224e5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28575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112CD5-BEE4-4ACA-89C3-8A3AB8215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05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99CA7F-6721-4178-A32E-8FC69C1DF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667250"/>
            <a:ext cx="20078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Saldo do mês (positivo)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6F05F8-3E54-4076-AF2A-06E4862C4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7995" y="4705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610A6A-CDDA-46A3-97DD-0D0CE6E52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667250"/>
            <a:ext cx="20078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Saldo do mês (negativo)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3D69517-005C-4D8F-B5E4-682D9DE91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399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9C8C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1A0DB03-843F-47E2-BED1-320119389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2115" y="4667250"/>
            <a:ext cx="2514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Saldo acumulado — eixo direito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C7FE4B-54F0-46E8-BEF5-C917F7B6C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Colunas: saldo do mês (eixo esquerdo). Linha: saldo acumulado (eixo direito).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B385BCE-0EB5-42D3-80E0-38B1A5E6B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A982708-8136-4CD2-81B5-07159E9E6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MELHOR MÊS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5D60293-D0A7-4AC9-8920-64A1ABACD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35E6BB"/>
                </a:solidFill>
              </a:defRPr>
            </a:pPr>
            <a:r>
              <a:rPr sz="1350" b="1">
                <a:solidFill>
                  <a:srgbClr val="35E6BB"/>
                </a:solidFill>
              </a:rPr>
              <a:t>dez de 28 · R$ 13,3 mi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E025B13-2603-4AEC-8BFB-345F45D96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PIOR MÊS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10F0C42-27EE-4473-B67F-E84D544FB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CBDBDD"/>
                </a:solidFill>
              </a:defRPr>
            </a:pPr>
            <a:r>
              <a:rPr sz="1350" b="1">
                <a:solidFill>
                  <a:srgbClr val="CBDBDD"/>
                </a:solidFill>
              </a:rPr>
              <a:t>dez de 25 · R$ 940,3 mil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77A5E96-1FB3-44D0-B0DD-668DB77F6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COMPETÊNCIAS NO RECORTE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FC95DAD-8CE5-4733-975E-E25F16BD9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60</a:t>
            </a:r>
          </a:p>
        </p:txBody>
      </p:sp>
    </p:spTree>
    <p:extLst>
      <p:ext uri="{BB962C8B-B14F-4D97-AF65-F5344CB8AC3E}">
        <p14:creationId xmlns:p14="http://schemas.microsoft.com/office/powerpoint/2010/main" val="110913298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49F7A2D-5AB7-413B-8EB7-54DDFDE81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E9D476-CC34-410D-8FF9-9FF11FFF4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699D97-7929-4A7E-BAE1-B620DC956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PROJEÇÃO POR CLIENTE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82AF44-913B-418A-B06A-B2DF45674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08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6BA96B-3286-442E-964E-AE55099EA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1b0593cfce454c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364CB9-3105-4686-9FF1-1CBBB8FB8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702223-B55D-4BFB-B24D-0CA6EFB8D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227C2C-2C3D-4FF9-8538-FECCE1F89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Quem compõe o faturamento projetado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E3E2A5-8E20-4460-94C3-90D935444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A composição mensal reflete o cronograma contratual e a evolução prevista da carteira de clientes.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DA1DC7-075C-4305-A515-F091CC0A0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4457700"/>
          </a:xfrm>
          <a:prstGeom xmlns:a="http://schemas.openxmlformats.org/drawingml/2006/main" prst="roundRect">
            <a:avLst>
              <a:gd name="adj" fmla="val 256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2321493d634d8f">
            <a:extLst>
              <a:ext uri="{96DAC541-7B7A-43D3-8B79-37D633B846F1}">
                <asvg:svgBlip xmlns:asvg="http://schemas.microsoft.com/office/drawing/2016/SVG/main" r:embed="R7fcee42da3aa44f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79095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725652-1EBF-4C4B-A0FE-C1BCA6CAF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6938F1-F649-4145-8F6E-CE2CA3C72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600700"/>
            <a:ext cx="121158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AXIA Energia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0D5D79-D93F-4587-8AAA-E7FED2185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170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A45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B5E734B-ECE6-4FB3-BF44-0AB67C330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9830" y="5600700"/>
            <a:ext cx="99441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Petrobras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73EA604-40D1-4C2C-B782-71C6F655E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424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4A9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E174D5C-06AD-45D1-B45A-A2334CC15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2365" y="5600700"/>
            <a:ext cx="15011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Enel Green Power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74F01EF-B70D-4DAE-A236-5601DBCF1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350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3C94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5A51E14-4DB7-42CD-902C-A2EC95452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1630" y="5600700"/>
            <a:ext cx="15011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Belém Bioenergia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50FBD54-0727-4BDF-89F4-8049B8F32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277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4B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0C64D5A-BE22-400C-B8E3-22F53845C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0895" y="5600700"/>
            <a:ext cx="84963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Flessak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17CD1CB-50B8-470B-A910-9E18B0763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CD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044E740-147F-4E27-A4CB-C9954F314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600700"/>
            <a:ext cx="704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CEMIG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4407D46-3C02-48AD-8217-C2FE8734C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B7F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1168EBC-ED71-4CE4-B091-F15ABE893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5600700"/>
            <a:ext cx="7772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Harbin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96C32F5-3C39-4D0B-B94A-35AB46BC4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A2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6EDAB7B-D010-4878-ADAE-5CE9ABD8C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810250"/>
            <a:ext cx="12839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ArcelorMittal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D9D6606-14FF-48CE-9C65-FBE38811F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4095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8A9E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521DFB7-31A5-4F55-AD2C-F2988790B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2220" y="5810250"/>
            <a:ext cx="84963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Andritz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056E153-13B6-4D39-88FE-B093BFCA4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8AA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C947A83-453A-4A90-BC48-CAA2B7BF9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5810250"/>
            <a:ext cx="704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Âmbar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8CE1857-6D4E-4E9E-9409-F0C7B3B4F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B8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6436E1A-6012-4AC4-8BAA-BA1854FD9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810250"/>
            <a:ext cx="13563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Hydro Alunorte</a:t>
            </a:r>
          </a:p>
        </p:txBody>
      </p:sp>
    </p:spTree>
    <p:extLst>
      <p:ext uri="{BB962C8B-B14F-4D97-AF65-F5344CB8AC3E}">
        <p14:creationId xmlns:p14="http://schemas.microsoft.com/office/powerpoint/2010/main" val="43196293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22495A7A-2F93-4D2A-B682-C04600491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055F06-82CB-49AC-8291-8937DD1DF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AEBA19-9686-4358-9248-1D058815E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63BCF6-F511-4900-8D5A-38168B1C8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09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0F4FAB-AF03-4493-B018-603099389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5a3f83822c4033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31F249-E66C-46CC-8CB0-85809D3B3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DA993A-0867-4E6A-B432-C2435AAEC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33A8CD-B3EE-4A92-8665-EB92DD0F7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Todos os valores por trás dos gráficos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F79B16-E069-4604-A46D-6F20FEC86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Dados informados do sistema na Projeção Financeira. As competências projetadas seguem na sequência cronológica, destacadas em cor.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57CC2E-4912-4D96-A449-E78FDF01F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53F7B0-C485-4716-9818-DCCFC6939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725A0A-8DA2-492E-9855-0A9D0567D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6663852-900D-4F34-81FC-6342D6186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D3F2E6-68D4-4120-B766-5F68981A8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7C208FF-B143-4686-8806-3AB828A4E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D1C094E-EB04-4B95-A595-D25C3775C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37E6989-BF1D-44D8-AC37-C07FB92B7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F77703-124D-4C44-A28D-17892341B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49F3910-9428-4A59-B252-7A7ADA1DA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R$ 6.789.213,81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FD42F16-EA31-4089-A403-DE4B6A2C2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R$ 890.704,19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DF97E6B-37D8-43D5-B8D8-640BC51F3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R$ 5.898.509,62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9176790-A46B-47B0-BAFE-AA7B1FB31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R$ 5.898.509,62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52F37F9-B1FC-4331-BC23-2A5269811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907437F-C85E-4DFA-AB4F-03C79CCD2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159B38E-3331-4B22-842D-AADAD0DE3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9A84E5C-B045-435F-B44B-4DDC3FCDC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R$ 3.817.372,69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E42B383-1895-4EF1-9300-514817D38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R$ 1.020.426,58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D04E582-6D2A-4637-AAA1-45B34256B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R$ 2.796.946,11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A2CCD55-EFEE-4067-A913-2B5291B7F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R$ 8.695.455,73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3612484-41BF-4B39-8B4E-DCF4E065E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B655A59-549F-41C4-8122-F84E42D0F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24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4731614-E5EF-4D49-8929-9F7E61B22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R$ 4.732.792,38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726DE3B-B407-4022-881E-9CB91E359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R$ 1.185.267,32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6631EED-DA92-4D6F-A2F2-FFB337F25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R$ 3.547.525,06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40C05D0-4F58-4D4C-8B73-A44A6A0DB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R$ 12.242.980,79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22D7D02-61D3-4049-8D94-1ED0C7BA1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579FE0A-5636-474F-9F87-488267C21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E4F7632-BC84-4915-8A0E-7628E10DE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24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7287D3F-677C-495E-9874-3E86AA7C1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R$ 7.231.990,50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A24C8F1-D268-465D-ADC3-329F022FA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R$ 1.174.044,87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28F0D6B-D3F1-4301-9F93-E89B2EEA8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R$ 6.057.945,63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58A8D7B-7F11-4351-AF3A-219D150F0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R$ 18.300.926,42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62731EA-72FF-4EDC-9438-D80854B2B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FD8A990-0813-4A09-A61E-78A3DAD9F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24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454F986-6FFB-4866-AB86-808EFF88D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R$ 5.506.503,71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89B87B1-519B-4CE5-9B64-ED835C347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R$ 1.091.167,43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905444F-0669-434C-AD14-473EC4A8C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R$ 4.415.336,28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AF53560-2028-45FF-B483-889557534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R$ 22.716.262,70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9AF7E33-B987-48F0-83A6-268EE2E42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CBAF4CF-54C9-4A23-9E9D-26C6EC716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97D468E-A033-4C47-A13B-3AFAFEC51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24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79FE3A7-3270-4DB7-971B-5F242DD9D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R$ 4.380.902,39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D3C8135-F556-444F-9336-3AE3E98F1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R$ 1.133.609,80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5434351-8BF9-4DC7-ACC2-BE211BE76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R$ 3.247.292,59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171D664-D788-4772-920E-0B8F01B54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R$ 25.963.555,29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A9FBB20-5496-4522-B694-1775E4BC8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448B2BD-EAD3-4804-A9CD-4B7A5B324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24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C72A3E41-7B43-45A0-887C-6236D3335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R$ 6.510.910,49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7BEDE41A-54EB-498C-9671-1563BD7DF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R$ 1.113.424,01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1DFFD357-5956-4E36-BFD1-3F2B5BCF4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R$ 5.397.486,48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3F0B4344-491C-4600-92EE-9AD0B3F0B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R$ 31.361.041,77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104EE825-CDE8-4D26-94E9-07B0B0517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DA1E10DD-C3FB-440D-9542-076CCE52B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CF28CDB4-96B3-4E74-AB7B-90D5D8224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24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90205860-018E-4468-86E8-98E287553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R$ 5.421.686,74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6294C650-9EEF-4CDB-A9C9-E1C317789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R$ 1.040.357,05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F626DC2E-C93A-44E1-8CF0-65F46FB90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R$ 4.381.329,69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9AFB5EBC-689F-449F-8D70-E8F9C4B7A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R$ 35.742.371,46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C6AFAA53-AE07-4835-A295-E8ACF0A96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F91C2C74-8BD7-4407-985C-36FFFC764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24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AE9331B6-402E-46B9-AB6D-A51E3AC89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R$ 5.682.241,80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241C96C8-9AEF-4037-8213-F49F91FF3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R$ 859.008,24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9801339D-323D-4831-8F18-8629EBA92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R$ 4.823.233,56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E42DACC7-0A81-48D3-9E83-EC3BF3967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R$ 40.565.605,02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6BD8C21B-F0CC-4596-8C96-2F4A5ED43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BC93C816-C72E-4303-97D7-8C8BA14AC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FCF25224-849F-41D1-A280-8C0501416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24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54A4F995-59DD-457C-A3B0-0AEEFB256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R$ 8.541.056,13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14655F80-FA17-4DB4-A2DA-E6549AB08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R$ 897.448,27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EECA625E-F862-4E27-83DD-91A108A1F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R$ 7.643.607,86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FD4CD822-B297-4E5D-99AE-E496314A2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R$ 48.209.212,88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BC3A0C83-16AF-4976-BD09-6EAF09E54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8EE4E43A-84AF-4C5A-B437-719CB5869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24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28BA85F5-F67F-413B-A149-8F93FB57C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R$ 7.608.873,04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1F0212E2-53E8-4EF1-AE09-419D65C51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R$ 1.021.448,72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01816850-89D0-4DDE-AAD2-A9EB75154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R$ 6.587.424,32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3D3AC99A-593C-471A-AB0E-4A1AE16A0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R$ 54.796.637,20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3296C872-B7B8-4964-8649-924022CCC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3ADDE125-70A8-43DE-B602-5150FE9CF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5C95DBAB-5004-4B06-A985-6105A4C25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24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804DC7A0-D8A7-4578-A1A2-3617E2C6A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R$ 12.158.119,93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ED3C5851-EFC7-4979-8CD2-6BAD04CE8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R$ 953.973,58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7A2070DF-E492-4C8B-BEBD-3FF7BDE34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R$ 11.204.146,35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77C0E2F5-29E1-4C57-B975-36CA10026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R$ 66.000.783,55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DA4044A7-7812-4199-AB75-4D0A490C6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B4C23092-924A-4DC9-94B8-D500383F4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25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BD6C5EFD-D6F8-4F50-B7CA-DE1908B87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R$ 6.481.505,36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1C2F7513-D670-4AAD-8B7B-45F48806A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R$ 1.331.022,91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DB15039A-8B27-4436-95F1-0AEFC37A3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R$ 5.150.482,45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D9C28D43-674C-48A1-A6E8-E096F222F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R$ 71.151.266,00</a:t>
            </a:r>
          </a:p>
        </p:txBody>
      </p:sp>
    </p:spTree>
    <p:extLst>
      <p:ext uri="{BB962C8B-B14F-4D97-AF65-F5344CB8AC3E}">
        <p14:creationId xmlns:p14="http://schemas.microsoft.com/office/powerpoint/2010/main" val="207200467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5828E48C-5F4C-408B-B693-489909BC1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C08CC7-2EDA-4186-B3C8-C8BDEB6CC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D30337-9A91-4D4A-A4E7-6A103B5E5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F0FCEF-2A6A-4D2F-8A32-5AFB5A88A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10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666D74-C0A9-4499-87A1-19269A0A4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6eaff795dd4315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C9447F-A07D-4C6B-B247-E8B7B6FC0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48EE62-BC99-4424-9CA5-71C2298A6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251859-2E87-410C-9778-BC8D620E2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E1945B-56DE-451C-8E58-A1A9DC872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Continuação da base: folha 2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1484AC-7891-4402-93E4-6CE3E68B9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9BCF15-A2D9-4727-A0E5-3ABCB57F1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447D479-4804-4588-A8B9-EBDCD8422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D05777-16A3-4E48-B2FC-467AFF8CC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B37EB4D-F7A7-4A53-B083-0F9D73E79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515DCB5-9DAF-473E-8291-BB78D2654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F3A3F28-99A2-4A7F-84D5-6C8D484E4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8C74BEA-6D01-4463-9765-E28A0D532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9C81163-9988-465A-96E9-D436204CA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D435F84-1641-4EAB-B9DD-C3C9B872E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5F3145F-943C-4766-9CDB-2FDD6BC50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R$ 7.218.837,49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779ADFC-F672-43E7-BFEE-09D0837AF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R$ 1.310.101,05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172E79B-0637-4C80-83E2-08DFE1466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R$ 5.908.736,44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15C94E0-3119-44B2-9371-3544A7AD0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R$ 77.060.002,44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D6D6566-D072-4A53-9043-29DE58FD9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F6203DE-72AD-43E0-8DBB-D4924E513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E4C9BD7-AABF-48B7-BB1F-5481D2CD4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R$ 7.554.012,04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3EEEF5A-3EF5-4DEF-B5CC-C8A83E891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R$ 1.354.501,90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EDC1EB3-9F98-4B70-96A8-726A38C4B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R$ 6.199.510,14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6CB0A68-E803-4923-BB60-81D235A9B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R$ 83.259.512,58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C776B53-4BA0-4977-A815-237067D36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964D597-B324-4430-BA2E-F6F979AF1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6E19E82-C48A-4F2B-B7CB-7B4D35F7E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25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8D15650-4C14-48C6-A204-9111A3801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R$ 4.739.459,41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F366C9B-1DC9-42E4-AC76-67F4BFF64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R$ 1.531.002,29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8148665-F6CB-4EF3-9A72-367E97891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R$ 3.208.457,12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0B0E977-EB70-4059-BAFF-D8914B654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R$ 86.467.969,70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EBA6B32-2E41-4820-B4E1-1D084D8AF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359FF73-A19E-463D-A767-16B21E3A8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25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C8D5A37-AA9A-4D2D-B6D5-63FCF9F0C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R$ 6.235.104,42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30446B6-24BA-4A60-9573-09745422E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R$ 1.761.893,50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92B8A64-96CF-48DA-AC11-4911FFFE4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R$ 4.473.210,92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254AC7C-A2AB-405B-AEED-E215446FD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R$ 90.941.180,62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B518E39-DABF-4087-9C47-16BF1D76A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584EE1E-091D-4FAD-89A1-35C68AA64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8FC2595-E816-461B-AF2B-E31C1C5E1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4415912-422A-45A8-B936-3C597A843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R$ 3.511.692,47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05A0E2F-CF0A-4D9D-A116-D1250C1A7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R$ 1.523.207,92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7ACF250-4CB1-4648-A2FC-9AF639728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R$ 1.988.484,55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C496B38-802B-4A84-9FE5-87C53BD83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R$ 92.929.665,17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7444045-A6B7-48AB-B3C3-C8A287FBA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A9F8E9B-FEC2-4102-8121-CA86F2B57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25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51E0A58-3A87-4EDD-B6E2-95F4C6E34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R$ 3.267.455,46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F411DDD-1FD2-47A3-9D66-5327E0FC0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R$ 1.574.251,96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BA7C93E-7813-411B-9CA6-AA97A7E3F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R$ 1.693.203,50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5CBA51BD-3BED-4E8B-BE86-2C45EF3DF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R$ 94.622.868,67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BCC85065-C8CB-4B0A-9BE7-6F1A98AD5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D20CC73-5DBB-49B0-8857-1FE71D08F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726DE987-5E44-44A9-86E2-B6CDFF3B4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25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D4F21E01-3833-45ED-8770-05E490C0D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R$ 4.042.135,73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9201E4C1-5F9E-413E-8AAB-6317DF805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R$ 1.597.750,18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18F6781A-5D3E-43B7-89E1-13E3B7E56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R$ 2.444.385,55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704D4426-722F-4A72-A56D-12AFFDAEF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R$ 97.067.254,22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5ACC16B4-8EB3-47EA-A79D-3D449A0ED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E7445146-EF4E-4D91-B521-DF0BA6F29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25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F4BB7379-A0BA-40F3-85D6-E29BA8F14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R$ 5.879.203,03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423BEBD2-211F-486B-8225-B35EB7CE8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R$ 1.644.127,33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990F5D79-36B4-4A2C-993B-8177AB8EE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R$ 4.235.075,70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6A9D537F-1468-4EB1-800D-96D9A2B96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R$ 101.302.329,92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76ED42B6-A68B-48D4-A063-89E640B56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432B300C-85E4-438A-AE25-63EB31F64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115E925A-FB7B-4535-B30E-18008DAE1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25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51645861-F032-4D0A-AADD-ECF5FD043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R$ 4.431.996,15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29BBD99F-602A-4D74-A799-0DE1FDA7D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R$ 1.728.097,81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6FA66752-7640-496D-BC34-FE7BA7FD8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R$ 2.703.898,34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CD592906-E1A0-4CD5-B83B-39011003B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R$ 104.006.228,26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2F063AED-84A7-45CD-9FD2-D96EF8EDD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82AC2EAE-BBA7-401B-A283-BD5B25F52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25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851FB069-D03B-42B1-839B-067F6C36F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R$ 10.858.257,81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5CEC08C1-AB96-4683-883A-379C97C8E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R$ 1.877.160,31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A2B71F7A-683A-489E-9F1D-D0A40F879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R$ 8.981.097,50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6518DB33-85DD-47CC-814B-D9FAA9D75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R$ 112.987.325,76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FA35BAFC-4733-407B-8AA2-1024B063C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F84BCB0E-ECCA-468F-BD60-1B110F256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6A0110B0-6E40-44D6-8959-7FAA1C35D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25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74B85EA6-F253-4B44-A561-737DF9EB3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R$ 2.904.942,16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AEBA444E-42F6-4D85-9B53-0922E0CC7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R$ 1.964.681,62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4E56690A-4BB1-47C3-BE78-72950FB01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R$ 940.260,54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F908ACED-4402-44DE-80EB-E7F4B9AB2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R$ 113.927.586,30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FE50036E-4284-4B02-89DF-580C28023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508ED51B-4D18-4E78-874B-5D44E481B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26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BFAE1D8F-31E3-4989-AA3F-1C0C545F8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R$ 10.366.331,04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667B9B2D-5828-4211-9E25-AA1727672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R$ 3.208.000,00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3D185811-228C-4DBF-B17A-C54476DBE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R$ 7.158.331,04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5BF13486-DC41-408B-A963-7279F6BE8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R$ 121.085.917,34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AA4444A0-566C-4873-AC47-3D8F42804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30A58CD0-AF20-449E-904F-C84013EC2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273FDBC0-3BBC-4BC0-A66B-56FB4BA4D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26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7E9FEAEA-ADD6-4C20-B2B3-36244F6AA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R$ 4.700.897,81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2A78BA21-8803-44CB-A66B-0EC0B16A4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R$ 3.389.000,00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27CA2FCC-B1F9-4839-99AD-0C0D71690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R$ 1.311.897,81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B897438B-B29A-4375-9DD1-C3CB359F2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R$ 122.397.815,15</a:t>
            </a:r>
          </a:p>
        </p:txBody>
      </p:sp>
    </p:spTree>
    <p:extLst>
      <p:ext uri="{BB962C8B-B14F-4D97-AF65-F5344CB8AC3E}">
        <p14:creationId xmlns:p14="http://schemas.microsoft.com/office/powerpoint/2010/main" val="200488836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8C247691-339C-48AA-99C9-A38024742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DFA6A1-DD9E-46DD-BD43-D5B40F911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353E9E-B775-46D1-9967-CA8511E22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D4D476-1E10-4A25-9325-7F9132FC2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11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D9083B-2C04-4F6F-82D3-5F77478B9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6013efd5f34ff8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5E080E-87B0-4689-B977-C999BC301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189AB5-BD61-4B5B-A274-A6193C5AB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737655-5C3A-4BE5-BA4B-6852AE3D9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679DB1-9A40-49EA-A383-ED33721A6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Continuação da base: folha 3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D319CE-5522-47B7-8B0A-F1D4DDFD9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BFB399-3713-4B47-BBB7-EA60AA1F8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9E4E2B-DB2D-492B-8C6A-BF06DFC4E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DD0332-98CA-476C-9DC2-A33018E5C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B5BBC8-4E56-45CB-810A-5D8E05E5D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58B5E3-64B6-4233-A56C-09D1EF358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DEA181F-8FED-4044-A912-A4567A523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C392EF-C60A-4C3D-85E8-51EAC47E4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2196733-DF16-4C10-93E2-6D840E82E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5D20D55-0783-4D6C-BB4F-6C8DDF178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R$ 5.650.881,81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DCD7885-0978-4718-8CFA-41387FEFC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R$ 3.266.000,00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82CE488-9D4C-4182-A9E4-9C7DBC4E9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R$ 2.384.881,81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17A8004-754C-4927-A459-B5A93C050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R$ 124.782.696,96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DE96DF4-FB88-4619-8CA2-35016114C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6DA0BBC-6DD6-405D-90EA-EE06A15D2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F0E0524-4EAC-4320-AEBF-007CE8316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2D87201-493F-441F-B3FA-987A0D9BF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R$ 5.897.524,13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D87F590-CAC9-451E-B03A-0B87825FD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R$ 3.360.000,00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22257ED-8B79-4C7A-B1F8-F332F484C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R$ 2.537.524,13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99F87EF-5AE0-408F-BE4F-50AF8C203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R$ 127.320.221,09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8E9B43B-DFC1-49E6-9693-D20DB7FAB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04A7D4C-6DC1-4E6C-B967-29CAD7B25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26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F4D3CBA-2103-4D2E-8624-335860ED4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R$ 7.355.196,27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09DC359-2780-410D-B62C-4A9E1CCD9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R$ 2.953.000,00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7D2CAC3-4A4C-4641-92AF-EBEAC924A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R$ 4.402.196,27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661FA51-9F72-4411-976E-925306C87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R$ 131.722.417,36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1805E22-15A0-40C5-878D-3F059B460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625332C-02C9-49E8-8A4B-3CCE62799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5E13C29-DD65-4B42-8CB1-3E10189F1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26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9690D96-0E79-4D23-A535-D0EC536D6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R$ 7.178.434,69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3D5CBD5-3C34-4174-A535-0C8CC0CBE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R$ 3.108.000,00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968AC74-6B41-4716-BC78-8A658A5BD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R$ 4.070.434,69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C2F3657-80CA-4337-A00C-241A38416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R$ 135.792.852,05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7881B93-DAEC-45A0-9F7E-23D306BE1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01E0E1E-BD0D-4EBC-9667-5FECF8245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26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285D027-9612-47CB-9761-4A50B4FBB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R$ 4.978.967,55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8F3EA8C-84D0-4B73-82CA-CA5868DA2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—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F16E971-196F-40A2-BAB6-9AB50EC04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R$ 4.978.967,55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16B7633-61CF-4B5A-94A3-520AFBE9E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R$ 140.771.819,60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4D4AD67-BD0D-4385-9ADE-569FB044B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24263"/>
            <a:ext cx="10801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4C9DFF"/>
                </a:solidFill>
              </a:defRPr>
            </a:pPr>
            <a:r>
              <a:rPr sz="825" b="1">
                <a:solidFill>
                  <a:srgbClr val="4C9DFF"/>
                </a:solidFill>
              </a:rPr>
              <a:t>PROJEÇÃO — COMPETÊNCIAS AINDA NÃO FECHADAS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8647F5F-F52D-406A-9487-C67527280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9A34C33-D8D1-4DDE-9A02-C20899D75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3EA3BB9-DFFB-4D7D-8DC0-EC432E04B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ACC0E51-D733-402B-BF6B-05C44491F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26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AB25F5BF-296F-44C9-9D64-5C306168B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R$ 11.459.330,09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5570900F-EA06-4C54-B471-866AE3416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R$ 1.512.430,00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F26EE4F1-2436-4E2A-B2BC-163C112B4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R$ 9.946.900,09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A2FA1B49-3E6B-4636-938D-369A6C3D6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R$ 150.718.719,69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65488EB0-9A24-4F6D-8D51-DA1511E98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8640E3AD-1E40-4B42-9780-3FE882CFD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26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5C67092C-27DA-4C7C-B15C-72B319ABD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R$ 5.617.810,24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7C270BB0-20CD-4DD8-B1AF-38F886FE7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R$ 1.387.850,00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E1572209-53EF-4A3E-87DF-21902D67C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R$ 4.229.960,24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695EBADB-4D02-4FD1-915D-B3E244EB5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R$ 154.948.679,93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11473958-C19E-4AC8-BB6C-829951376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BF24C79C-9355-4333-B0A2-56CA80237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3EBE8E13-DFA9-49E1-A218-AA23DA184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26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B953FC2A-981C-4161-B5EF-8732F25D6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R$ 10.000.000,00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A616B525-BE05-436B-B8D0-525918E50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R$ 1.634.720,00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A9166D23-CEA4-412E-8440-4AE449B1F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R$ 8.365.280,00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914232E7-B15C-4508-AE37-720E52834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R$ 163.313.959,93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1D7B4359-6209-446F-B424-2A2C86B3F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5804A55A-E35B-433F-B650-E702C2B59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26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647DADF0-41A2-4EC3-889A-0720FD54D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R$ 10.725.000,00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9775E1C1-8945-4EE6-8544-636F83BC2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R$ 1.728.940,00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3CA82BD1-AE59-404D-857E-5989C3A79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R$ 8.996.060,00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7E125CA4-0DF3-4FB7-8929-97C995E7B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R$ 172.310.019,93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9A90D950-89B8-443D-9235-B2AC4F098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6F89131C-054C-4BAF-B138-9E014CCB9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0E31AA59-A6D3-4DA8-8E08-2074B107E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26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B1C11872-5567-4C24-9D97-3D6F62AA6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R$ 10.502.461,80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CEC24552-4EFF-48DA-91FF-71998BDEC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R$ 1.596.380,00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BB32F22C-5C09-424F-B9D9-4E9B7506A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R$ 8.906.081,80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A6F26F16-2D01-4048-AA83-824BD2622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R$ 181.216.101,73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45B94481-DDCB-47ED-A12E-2CC303706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7CC24DE1-1EB8-486C-B243-2728BCEE7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27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53B02204-3902-4557-BEE5-17464829B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R$ 12.200.000,00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DB21FCFE-D673-435A-BB05-9BAED06AB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R$ 1.682.510,00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4CABCFD6-C26C-42DF-8A35-5F7C040CD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R$ 10.517.490,00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85B14AA1-1E80-4FB3-8DDC-F1D066A36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R$ 191.733.591,73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25CD2162-B001-4227-B456-94B3183A4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D049E793-C6DF-4754-A31E-4E213D4CA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DAB365CD-163B-4FB2-826F-910417DCE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27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A82378C2-0422-4DCA-A116-BDAE3B8A8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R$ 11.800.000,00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F246DE5D-9116-410D-B386-C783651E2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R$ 1.574.260,00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D064F87C-A742-45DB-BF07-E62936613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R$ 10.225.740,00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375B1D33-24B4-43B7-A5C5-884ED52E6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R$ 201.959.331,73</a:t>
            </a:r>
          </a:p>
        </p:txBody>
      </p:sp>
    </p:spTree>
    <p:extLst>
      <p:ext uri="{BB962C8B-B14F-4D97-AF65-F5344CB8AC3E}">
        <p14:creationId xmlns:p14="http://schemas.microsoft.com/office/powerpoint/2010/main" val="209018390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9E2A0FBE-DFD2-4608-A442-E8DCC3CE6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A8FC07-AE19-44B4-A70C-D5175212E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5010B9-C773-4CE5-98CB-B0D106B7E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105726-B7FA-41F4-812D-3DBF5F222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12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02E117-A411-4FF9-A1A7-4D0DBF1A3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c8182968c44ebd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C30E12-68FE-4A03-83B5-5F16C62A2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ED69F4-1F82-4585-A44C-29CEE550B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4C0A07-BA84-4A52-B4E7-6F2C84069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3F6E5C-79C8-4644-8F05-4AD53E4EA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Continuação da base: folha 4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5A61EE-FC03-4716-A7E0-A91B16C5A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5D736F-9369-4B85-9A9B-7FA5F6FA8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0E88C0-52BA-41C5-B843-EB55336B0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167621-7B82-4356-A7EC-8997019B3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104C05-A755-4DA4-976A-99FFDADF2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38DB2F4-512B-465B-B307-9DA05DED7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7E874B2-1221-466C-821C-FFFCDE5E5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3987592-6254-4A32-AD3E-AE83511D9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F338A11-1336-43D5-8ADF-3BC9184A0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27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F557194-0248-4890-999F-77C11240B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R$ 11.200.000,00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9C6380A-CCCB-423F-AA7C-1FEC6F3A2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R$ 1.493.870,00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D3CA219-CCFD-483E-8E1D-E4E2CEB71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R$ 9.706.130,00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5EE8E5A-C805-4FA4-BE7E-188A45BAF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R$ 211.665.461,73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579C739-26CA-4DDC-AFE9-A5C4F9A5E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B0227FD-81B9-4783-9E4D-C50D21BE2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6AB2EB3-3C15-4A08-A2CA-E2B2F6A00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27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A5C3625-573E-446A-AEFE-10980562C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R$ 10.500.000,00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D429FE8-9B66-46E0-93C2-9C6CE1A82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R$ 1.421.650,00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C4696DD-C560-4009-938C-1AA050DC1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R$ 9.078.350,00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3A24077-705F-462E-8E35-789AACB44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R$ 220.743.811,73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6D5A823-FA97-4B49-9662-BC63BA068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077C955-9730-4F6F-BAF1-BE375AA53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27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FD8158A-E545-43BA-A6D5-B541DA0AC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R$ 10.100.000,00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3C2C4EC-980C-42D3-B7AD-4FAD5432F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R$ 1.356.420,00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58613F2-2628-46A0-BC83-3D24AEE7A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R$ 8.743.580,00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58D26EE-8EC2-498E-B114-A5C2D088C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R$ 229.487.391,73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BE4D1B5-99C4-4C00-8CC4-E873B85DC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BB5D38D-D25E-40C8-96AD-9DB10266D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DB4C855-A8C9-4F95-A9BB-B37B186D5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27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C4D654F-445B-412E-98AD-916C9ADB7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R$ 9.500.000,00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D1AC3A0-6664-4A9D-A328-1776F115E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R$ 1.318.760,00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8067A88-B24D-496F-9E0E-11C85C40A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R$ 8.181.240,00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5AE2A8B-B881-40C4-90D3-C5C8A9DB6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R$ 237.668.631,73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D7C9034-17FB-4BE0-B86F-15E7DA5D9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052EC7A-8F11-4408-92E0-9D51E3631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27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290D492-FEB3-4897-88C0-648F86380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R$ 9.200.000,00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CE933A8-34D2-4995-8ABE-9F8087619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R$ 1.342.590,00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176E642-EB3E-4242-8D45-D4468AF0C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R$ 7.857.410,00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5843602-CBEE-42ED-863C-8D7FA5133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R$ 245.526.041,73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BD2D972-3577-4DCF-8417-8D7FB9895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AAFCA9D-E9CD-4C2F-A673-E39486D5E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5E8ED7E-DAEF-4AC5-AB63-4981F0CA1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27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378A8B4-7C62-47AA-966D-1887BCDDE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R$ 9.600.000,00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3441050-B6EC-44A4-8D8D-543EB7125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R$ 1.397.840,00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4749B6DE-A4D1-4F3B-A507-B6638E1F6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R$ 8.202.160,00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F3D05F3-2540-459E-8D47-3A3BC65FF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R$ 253.728.201,73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B99D88F8-E22D-49F0-99A5-060E4F14E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3FDBB1C5-7B07-46C1-B017-E1A844116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27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AEFB0CFF-079C-44EC-8EB0-B8FADADBB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R$ 10.500.000,00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7E68A870-9BB6-4A23-9B36-9BA859F5C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R$ 1.468.230,00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8E86E690-F87C-4CA3-BED5-DA1AFB7F2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R$ 9.031.770,00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68D44F83-4B67-4CD1-A98B-AE1B08741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R$ 262.759.971,73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AC995789-575B-4979-9464-FD60DA918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83519D7D-3768-48A6-8DA8-9BC783A92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F0B30490-4FB4-4F18-8939-8847DC983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27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9A4432B8-26C3-4689-9B8B-AD934174F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R$ 11.500.000,00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4CE3C324-E751-4D4F-96D0-A9D43ACDA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R$ 1.559.670,00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823CC4E5-D5EC-401B-B957-2A5377A4D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R$ 9.940.330,00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332BC2F4-9DF8-4232-B5F8-DF4ADB1BF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R$ 272.700.301,73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D585E244-A7CB-4AAC-96B3-3D35E84FB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0648D30F-26EA-4EF7-B099-F59BF5FB3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27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97037C55-4B49-4B73-A812-1E2313E3C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R$ 12.800.000,00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453DFE2C-E2C8-4076-9BEA-75E48E5A0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R$ 1.671.480,00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47BC32B8-5E76-4BE5-AA3A-C73EDED55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R$ 11.128.520,00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FC213967-0790-45DF-BF3B-ED2865905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R$ 283.828.821,73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9C24ED98-C3CE-4EA5-AC57-DE34D1E9C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57EC266F-7DF9-4A10-9B78-3643A9A16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108F063F-11C9-4ACE-8258-A9EFB9863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27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E9FF92A4-B1EF-498F-B10F-F3E662C8D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R$ 14.050.000,00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A228199A-78ED-423C-A720-11CC81E59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R$ 1.739.250,00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8875D684-1FC2-47C3-A876-CCAF69364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R$ 12.310.750,00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A0D231E2-0729-4D05-AC5A-392B78336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R$ 296.139.571,73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76123CC5-B583-4949-8B34-AE84CE775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D0F70BE0-5459-42EF-BE12-420F8D4FE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28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C5C3A6CD-BE45-4E43-8FEC-EAC4FED2F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R$ 13.750.000,00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8689080E-D65C-4DCD-A406-CDBC067E6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R$ 1.696.840,00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7446E599-7100-4EE0-A29E-76511F8E1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R$ 12.053.160,00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AD45B45B-53BD-4C41-8A97-07CA0E13E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R$ 308.192.731,73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0DE4CFD0-2933-4D5A-8A3D-02ECB1116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49DA831A-435C-4364-A976-C33A0379D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18850086-6A9A-44E0-AC2E-BF1532AC9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28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DF05BDE0-7AF7-4382-A6C9-31C54478A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R$ 13.000.000,00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3DFE47DD-23F9-4E6E-95E9-EAB1AA9D2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R$ 1.612.370,00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A76534D8-F515-409A-ADD2-615404DAC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R$ 11.387.630,00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E4E243C3-1457-421F-A6B6-B006BCC1D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R$ 319.580.361,73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11D84F42-AEE2-46FA-9531-98BBEC1E8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DA29256D-24FF-420E-A600-24AD2D014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28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EBB28AF9-6FE4-4300-A8FB-709819A0B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R$ 12.300.000,00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446AFDE4-F336-4D49-9D26-7FE208DAC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R$ 1.529.680,00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7E1F22E4-7E35-47CC-8742-92575BA36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R$ 10.770.320,00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FF879D2E-A780-4241-9CF5-E93FCD0C3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R$ 330.350.681,73</a:t>
            </a:r>
          </a:p>
        </p:txBody>
      </p:sp>
    </p:spTree>
    <p:extLst>
      <p:ext uri="{BB962C8B-B14F-4D97-AF65-F5344CB8AC3E}">
        <p14:creationId xmlns:p14="http://schemas.microsoft.com/office/powerpoint/2010/main" val="204627990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42BC6229-5E50-4EAE-AEE1-F2EA859F8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057408-3396-4BA7-AADF-09C5387B5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5F9F13-3DE5-4856-B3AF-95F0F374B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DA2B1F-45A6-4721-8501-647548E16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13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0D0F82-08E7-4FFA-961B-E66D7895B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f039509f0746fb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6A0643-27B5-43E5-AA56-610D23B01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F3D1B6-0D94-4CCB-A669-86A3B4DC9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3129FD-5B15-4E58-A965-E97CF7AA1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B3DE39-ADDB-49DD-9BB0-5A9C12E10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Continuação da base: folha 5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ACD4C11-72A4-4A0D-8266-66C13433F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5F4771-8AA4-40A5-B9B7-2F83DF898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C0006D-A20E-4363-9F9D-76B0091E3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DD2AD9-8645-4552-812B-8F65E4D2D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CE8E7A-568A-49DA-8DA4-416AE4528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87713B-CEF6-4BF8-A8D7-022297BDD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6C3B8E-7F8D-4678-83B8-9AE2E94FF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6484F52-8864-4C18-AA27-A43C2E55B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6A49BFA-0A34-4D9B-98EA-9A0D6A695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9CED02B-94BB-4E0E-A116-8BD9E5995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DF51352-58CC-48AE-AE43-39C618EE2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R$ 11.500.000,00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5659C17-F3AF-4CB2-A1F3-96ED3D240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R$ 1.447.340,00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F93B6A3-0983-455B-BF27-7770A650E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R$ 10.052.660,00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4044644-6953-4FE7-9E93-358778E92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R$ 340.403.341,73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8140CAD-0D8D-4B1D-A785-FF77340DF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17743BB-2BFC-439B-8B46-01CB01B8D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28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2E347EC-3466-425D-AF21-3EBD5D8BA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R$ 10.800.000,00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2150316-779C-4198-917C-CE06981FD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R$ 1.378.920,00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BC9D213-18D8-447F-8D6D-F95EFCEF4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R$ 9.421.080,00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54A7806-F7D8-4549-A255-4B0842B86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R$ 349.824.421,73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CF0EEFF-BF36-4F32-A3F6-D8B29066C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38AEB6A-AFE6-4827-A7A7-39226F31A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7A8D173-89B2-4D4C-B3A9-9E86CF8AB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4FBBE03-A84C-489D-A5F2-A16EF6947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R$ 9.800.000,00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2D1C1E4-819F-4C22-AA76-FEFD82E80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R$ 1.326.410,00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426AB5F-B999-4BAD-8251-E48032F97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R$ 8.473.590,00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8822F75-475B-45AC-B9C4-FAB5424D0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R$ 358.298.011,73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1ECB49A-DEAA-4A19-AEC0-89979212B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2F771B4-787A-4F56-A216-B14603657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BB067DF-AF0D-4A0A-A190-B261CE39A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R$ 9.500.000,00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214DAF4-D539-40D8-B88D-2A361A3AF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R$ 1.349.870,00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356BE38-430C-4771-96B9-D51F10DF5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R$ 8.150.130,00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01F0295-5E47-4174-AD41-C36D43EF4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R$ 366.448.141,73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2715B4D-9F3E-4844-8FFA-30D253745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F74F2EF-A92D-445A-B9F1-83A330BA6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674F1C1-AC07-4E5F-AF67-2634DB7F9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28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E480467-E80F-4A9A-A3D4-D22E1C987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R$ 10.000.000,00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36CF1B0-1B14-43D2-83F3-DEBE5A97B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R$ 1.408.630,00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D857977-6AB7-4FB4-8D47-E3E01B1AE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R$ 8.591.370,00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E6FE055-4530-438F-BC54-22A33700E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R$ 375.039.511,73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13CE8BF-C739-4369-A4CD-B4EEC47E6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E85D725-D414-463D-ABEB-C055361A3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28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A41838A-2E00-4FF1-9652-7BEE27D3C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R$ 11.300.000,00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027B20D7-E1B1-419C-8DC1-3BDE660B9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R$ 1.482.760,00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87B07BF-D79A-4203-A0F1-9EF788662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R$ 9.817.240,00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7C3D01A-48EC-4106-9455-A36EED0ED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R$ 384.856.751,73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0AE3A48-7522-4D36-A5E6-31F015791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6F166593-F71E-4EE6-A42F-1AF3B9E56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58A0BD82-DD2A-4DD6-950B-1510BD37B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28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28240EBC-8E68-4A9D-8589-B1D016340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R$ 12.600.000,00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B880B06B-DF4A-47A6-B920-CB5369CD8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R$ 1.578.140,00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E4A2ABC0-C478-45DF-A260-C48D18745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R$ 11.021.860,00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6B7A016C-BBD6-4C7F-8456-EC971DB6E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R$ 395.878.611,73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961295F3-D583-47A9-BFED-EA719B07D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AE8201F7-B087-453F-BF3C-B09F98C72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28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B6C5191E-3D23-4F4D-9183-15D62F08B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R$ 14.200.000,00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96A0D6C9-5547-4581-B13F-BED1E24C4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R$ 1.689.630,00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C0E998CF-33CB-4A8E-8D59-B6573EFC3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R$ 12.510.370,00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921F840B-3629-43B0-96A3-E880D806A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R$ 408.388.981,73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BC024F51-E59E-4E64-8E62-758E52F37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CD9A1611-0ABE-40A5-AE7C-97DCCC4EC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E07DB3FA-6CED-46F4-B191-9B242AE0F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92340229-B4BE-410B-95B1-969CF412A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R$ 15.000.000,00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0BBF10FF-CA28-4672-8AC5-949F3C831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R$ 1.742.180,00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55DD9F94-755C-4ED4-9367-EAC6B4A0C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R$ 13.257.820,00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7412F864-2D6C-4898-81A7-CD89CA93D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R$ 421.646.801,73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68D4AB83-1D13-40B0-A285-0BBF8B2FE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56466E1D-D6A9-4F30-848E-ED23CED31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Subtotal realizado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ED509DF7-A8AA-4BED-9C02-B01D33403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R$ 191.634.498,44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DB571EE5-D3E8-4A01-875C-A91BAB60D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R$ 50.862.678,84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41A6F7C7-D89E-4A2D-A3B6-3D724C59F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R$ 140.771.819,60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A0861AF3-5C2E-485D-8296-38DD00919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—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AE1FF6BE-F832-45B3-9C72-CDEA89146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9986C82B-69F4-4194-A293-96BC399CA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Subtotal projetado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08E9215A-95EC-4A67-A7BA-11F5AB89E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4C9DFF"/>
                </a:solidFill>
              </a:defRPr>
            </a:pPr>
            <a:r>
              <a:rPr sz="1050" b="1">
                <a:solidFill>
                  <a:srgbClr val="4C9DFF"/>
                </a:solidFill>
              </a:rPr>
              <a:t>R$ 325.004.602,13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5523D908-DA03-4100-87DE-D6C6467F7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4C9DFF"/>
                </a:solidFill>
              </a:defRPr>
            </a:pPr>
            <a:r>
              <a:rPr sz="1050" b="1">
                <a:solidFill>
                  <a:srgbClr val="4C9DFF"/>
                </a:solidFill>
              </a:rPr>
              <a:t>R$ 44.129.620,00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EFB8A146-9E6C-4F7C-AF0F-40C5AB5BE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R$ 280.874.982,13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D8C274F6-83C1-450D-B12A-53370B20E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—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8E9AE32D-3C27-4578-AD79-FD4BD92D3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AD68B155-0651-4F89-B904-81A6B07A0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C7FAFAC6-44EA-4073-8A28-29712E6CC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Total do recorte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60D953F0-CA2C-4980-BEB5-FD617B7CC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R$ 516.639.100,57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E7A239EB-F788-49B7-B8AB-DB8459407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R$ 94.992.298,84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713A1C98-5C0E-4AA1-9E9A-20AB6CEA3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R$ 421.646.801,73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61A633E3-E06D-46EB-8490-7680696CF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R$ 421.646.801,73</a:t>
            </a:r>
          </a:p>
        </p:txBody>
      </p:sp>
    </p:spTree>
    <p:extLst>
      <p:ext uri="{BB962C8B-B14F-4D97-AF65-F5344CB8AC3E}">
        <p14:creationId xmlns:p14="http://schemas.microsoft.com/office/powerpoint/2010/main" val="101508491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49D9A2E4-3DCB-4F6C-8462-0AAF01B62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19C474-1B53-4721-A1E6-D5A570E91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AD4DE0-6D0A-461C-BA89-F12D02776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CARTEIRA E RECEBÍVEIS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35DC40-AD46-4090-BD2F-53C0BCCF1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14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E651B4-AB1B-43A3-8BE1-7D7B3A544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eaf2e1f7644e4c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CA0D0D-307B-4A46-BCEF-66CF9395E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F74318-89D3-4143-98E2-93076D303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78023E-65B0-4482-9393-8E1EAC529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Backlog que sustenta a projeção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987CF0-5614-4190-A75D-CFD181AD3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Saldo a receber conforme informado na carteira; não equivale necessariamente a caixa recebido.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F6A444-41C4-45DF-A525-5727A0DD7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C202FD-44F1-4B72-BD9C-19F012F76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9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57668A-EF63-407B-968B-2C0B8AD9C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52600"/>
            <a:ext cx="1276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CLIENTE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F9A8DC8-BB8A-4C4E-9C39-DC2F7A203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752600"/>
            <a:ext cx="895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STATUS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AEC3D2-11CF-4452-A362-F2A1A2773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CARTEIRA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9ACE0EA-CC7C-4C2C-996C-BA1280786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1ADEFA-D2F6-42D8-842C-C9E2C3D03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BACKLOG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80F9552-16C5-476F-BE21-39E20B935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 RECEBER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1E06AD3-61E9-4AA4-BD4A-C4023D01F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ATÉ 2028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F8D5960-E7DE-4918-8E6E-6851D1F89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PÓS-2028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95A5270-ABD5-440C-B80C-9759056EC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EE2DE20-09B9-4424-A89C-D5A8D4A9B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859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AXIA Energia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1D80AC4-3BF7-44AE-BE22-3D6A3A40F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0859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6CDDA01-33C9-4065-A44A-D945C1FB7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R$ 42.544.856,72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3EC7005-4841-461F-A386-4E3C58003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R$ 13.587.630,96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90F58F8-8C57-402C-9594-625A8EEEA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R$ 28.957.225,76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EC5C480-E058-4093-B83E-D0D3EF1FF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R$ 16.901.328,68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83F9C27-7A1D-46AA-B772-F9DC1DA6F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R$ 28.957.225,76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24D21F2-F4CE-43E6-9A18-CB02C65BE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873CB1C-DCF4-4F3F-831E-0B860E090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842A799-4B91-49B2-B8BC-0A2624F4E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955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506B71F-44E7-4AF3-93FD-F672686EC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4288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Petrobras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468967D-716D-48BB-A448-18755F127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4288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6EB46A5-EB8D-4718-9376-309C5EAAF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R$ 126.739.271,47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9ECC5C8-95CA-453A-BB8B-14A89ACDA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R$ 1.506.178,20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DB09584-54DF-4D1C-B0C0-134E9ACD8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R$ 125.233.093,27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DD942E6-F043-4D20-8E9A-D392FA373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R$ 2.752.843,23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DBA60CB-83D7-43AE-BB81-B771D1426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R$ 123.670.948,92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549A9FA-522C-4C29-8C1C-8E178AB23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R$ 1.562.144,35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5D1E1DD-0794-42DB-BBD2-7A789313B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38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156E0E1-BE37-479A-A63A-99BBA7BA3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7717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Enel Green Power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D9289C0-616B-480A-B790-EE0700F60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7717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7053EF1-FDEF-46B2-AD39-A819D5DBC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R$ 74.695.374,05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71919A7-8A76-4576-B779-506B7820C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R$ 46.633.200,10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1BF66D8-9AB6-4D91-A388-D13A95239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R$ 28.062.173,95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CD8E551-C1B2-4CDE-9623-53ED5E4F0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R$ 25.512.835,02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FBEB2E4-E72A-4DCC-B4AD-8B4633238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R$ 28.062.173,95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0861077-A871-463D-80EE-C1E932801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8955A9B-61B4-4F6A-86BA-C426E9DAA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E0639BB-9F36-4720-B4F6-B8A8333C0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813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A1B849D-8E28-4F1D-A2B5-B92736351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1146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CEMIG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FE4CAD1-3612-4FE2-BF16-B5BFC8C05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1146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FDBC182-85A3-4229-B642-C24BD7AD5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R$ 157.646.971,08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1F0A5A7D-7215-4080-87DD-E6F49C4DC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R$ 15.287.450,14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1D130A8-7C9A-45F5-AB2D-CD1D36FBB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R$ 142.359.520,94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699968F-DDA2-4B2E-A75D-F560D21B8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R$ 15.391.505,90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8510828-B92F-4ABC-904B-977AE127A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R$ 142.359.520,94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CD1799A7-0120-4AA8-A72B-3E96AADBC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47B96C2C-FA75-4458-A1E1-F3CB25962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242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1414BBD5-58B3-495C-B0E5-7C28076E5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4575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Âmbar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84A711EE-0EDA-4986-8F13-63175AFA7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4575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F5972F7D-E0FB-4F87-956D-F92820E9E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R$ 883.317,21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5F10C675-7FA6-4952-8389-903FB76FB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R$ 794.985,49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E5857E35-191D-4E14-A9C0-9951223D8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R$ 88.331,72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74FD68B2-53E0-45C0-AD7C-4ACDE7378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R$ 883.317,20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3061FFA7-C101-4EA5-A775-577E6AE38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R$ 485.824,46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4B4EF6F7-615D-465D-83E7-3005CB946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59244973-6CA7-4995-BEE5-E60395057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FC7E3115-5DF1-4AF8-9399-388EF24D0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67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8B70F55F-8DDA-4D21-ADE3-5FC35E116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8004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Hydro Alunorte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EC36EF09-3E1F-4EE5-9431-C16182823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8004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5748E845-F202-412A-859E-2A4774701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R$ 4.965.143,38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DB1F2EE7-9ADF-4124-B276-E0FBA1D6F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R$ 828.439,34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0FDAA669-6203-40E4-9B36-F4AC654BC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R$ 4.136.704,04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333B59EC-18CD-43B5-A216-E008E1D76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R$ 872.409,82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2466032F-E113-4ACA-904D-649AC0575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R$ 4.136.704,04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8765CCC5-E4CD-4430-90F6-AC9996538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5518C8F9-D706-4C1F-89CB-656F8D9FF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5A3CA7D8-1BBE-4F08-8507-4DD006EE3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1433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Belém Bioenergia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2F2CA07A-6C82-4D19-B445-F86A08DE8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1433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D7ECF963-13E6-460A-830A-C4BBE340F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R$ 1.445.844,71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BD3FEC99-B06E-4C8A-99C0-A6CCC9478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R$ 279.135,36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575D22A4-3E43-4428-BC36-942973C40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R$ 1.166.709,35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BF2C9994-3C72-4903-8387-AF2C83CD5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R$ 1.445.844,71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32D45013-9131-4E8A-85AC-A7B063F0F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R$ 1.166.709,35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BB228262-C4A3-4125-BBB0-ED7C0D98E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6F6EF24D-6A65-45B0-92D6-D3AAB07DE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7BA488E5-BF05-4688-AE1B-95FCD416E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529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0FAE4574-5166-4943-9D52-2FC902E79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4862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Flessak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3F97AC3A-5302-428C-8AE7-A41A95C5B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4862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B6D4201E-0099-45AB-874D-A9382FB0E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R$ 803.178,97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78FDB0F3-A897-4C71-91C6-41BB3A507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R$ 80.317,90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1A5C8435-0C62-4225-8061-F92D4899A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R$ 722.861,07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D0721604-DC96-4A71-AD57-38C8F45FF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R$ 803.178,96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03C5C33F-4641-42E0-99BC-847C9310C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R$ 722.861,06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C78C2A26-E3C5-4306-AC8E-241F90574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R$ 0,01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4AA5A67E-17C3-4F91-98C8-36B93AE9C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DCADF9B3-FF77-4FC8-A89B-5ED24E39B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291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Harbin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A450A8BF-7EBA-4614-B2A3-1B7BECEED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8291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98FBE5BF-A7A9-4664-A99D-305C6BEEB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5F56E906-26B3-4838-9B40-0648CC43B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11A026EC-C685-427B-973E-6E349F6FD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R$ 80.000,00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6654A51F-C915-4729-A5D9-DF8A478AE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3D20F2F9-B70D-406B-9F58-71D347B11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F0FB564E-7DBC-43A9-8CC0-EDC6B8AE9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844A4CE2-9627-42D9-B00C-7BCB90E70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054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A7CF7CED-201F-470D-96BD-06D4AEC1F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6806FD7F-063F-4867-83EF-5C8410BE7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720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ArcelorMittal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BA0D7BC2-C2E1-476A-8847-373585289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1720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863762A2-C436-4CB8-A873-586DCA82A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R$ 261.601,20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628739F0-6393-431B-B461-C4EB9E932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DAC409AC-EDEC-4FDD-B8E3-F93017E11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R$ 261.601,20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FAC8AA77-27F1-4548-AEB1-12FB20632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R$ 261.601,20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A9D26707-3192-4E2D-8AEA-0D71971CF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R$ 261.601,20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BE9C0915-FD3B-4D4F-97EA-4E67A892F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DD5D5321-0388-4C94-AADB-91B7D23C4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72100919-2612-41AC-B902-884E5FF25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149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Andritz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D68CFA3C-B180-41E8-9009-01EEA2EAF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5149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3A50F34D-4BE8-42B3-AF5A-7C4DA8FE4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C2D3016B-18E8-454E-9ADD-090A2D76F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70EC918F-192B-4158-907F-2AD066D30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R$ 80.000,00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7FDFA9D8-FF86-4F3B-AE67-EC491E1EE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A8D495C9-6503-47BF-BF1D-EA7CFA5D9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B134DCC0-39BA-4508-BDBE-6B6408EEA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8E12A07F-C71D-474F-B191-FDA5B284C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EAC82918-61ED-4619-B828-3AB1B92F0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41D41535-AF0D-421D-896A-0129DE234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578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Total da carteira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ED185BF1-EAD5-4D80-A5FD-187B6D8FD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8578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11 cliente(s)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B60C9CB5-C550-44CC-A364-990492EB5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R$ 410.145.558,79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FD312917-5597-496C-B7FA-F899288C7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R$ 78.997.337,49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92EA70B7-D1B6-44E2-BBD9-DEA4FC9E0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4C9DFF"/>
                </a:solidFill>
              </a:defRPr>
            </a:pPr>
            <a:r>
              <a:rPr sz="938" b="1">
                <a:solidFill>
                  <a:srgbClr val="4C9DFF"/>
                </a:solidFill>
              </a:rPr>
              <a:t>R$ 331.148.221,30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55746C0E-C7E7-40F5-BE4F-7D50E21A1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R$ 64.984.864,72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2641F3C0-3880-4F6E-B4E2-305BF0EDB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R$ 329.983.569,68</a:t>
            </a:r>
          </a:p>
        </p:txBody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7915636E-33D7-4A7A-8507-D834E0AA6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R$ 1.562.144,36</a:t>
            </a:r>
          </a:p>
        </p:txBody>
      </p:sp>
    </p:spTree>
    <p:extLst>
      <p:ext uri="{BB962C8B-B14F-4D97-AF65-F5344CB8AC3E}">
        <p14:creationId xmlns:p14="http://schemas.microsoft.com/office/powerpoint/2010/main" val="119898726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AE2B9C-39E3-455A-9B27-59F180091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AE17B1-CF46-4BC2-8501-E77B6DE8C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3EB412-8163-4750-8D50-5EC9D063A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15 / 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119AD4-A095-428C-9A6F-51EB1BC15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621a857344474e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1D120D-63D7-4170-88BE-3B5CE5F47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D71448-63A6-46A8-9574-B0164D164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6dce32b5f84a20"/>
          <a:stretch xmlns:a="http://schemas.openxmlformats.org/drawingml/2006/main"/>
        </p:blipFill>
        <p:spPr>
          <a:xfrm xmlns:a="http://schemas.openxmlformats.org/drawingml/2006/main">
            <a:off x="3143250" y="3037351"/>
            <a:ext cx="5905500" cy="78329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818102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2026-08-13T14:17:51.3590000Z</dcterms:created>
  <dcterms:modified xsi:type="dcterms:W3CDTF">2026-08-13T14:17:51.3590000Z</dcterms:modified>
</coreProperties>
</file>