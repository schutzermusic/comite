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9a17765024d48" /><Relationship Type="http://schemas.openxmlformats.org/officeDocument/2006/relationships/extended-properties" Target="/docProps/app.xml" Id="R16b9e97e05e549cc" /><Relationship Type="http://schemas.openxmlformats.org/officeDocument/2006/relationships/officeDocument" Target="/ppt/presentation.xml" Id="R1b21f1ddaa08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498d5ceb042df"/>
  </p:sldMasterIdLst>
  <p:notesMasterIdLst>
    <p:notesMasterId xmlns:r="http://schemas.openxmlformats.org/officeDocument/2006/relationships" r:id="R6eb0dff2df1b4f26"/>
  </p:notesMasterIdLst>
  <p:sldIdLst>
    <p:sldId xmlns:r="http://schemas.openxmlformats.org/officeDocument/2006/relationships" id="256" r:id="R7f78e4092ce24da4"/>
    <p:sldId xmlns:r="http://schemas.openxmlformats.org/officeDocument/2006/relationships" id="257" r:id="R3c1b896edd5e44f8"/>
    <p:sldId xmlns:r="http://schemas.openxmlformats.org/officeDocument/2006/relationships" id="258" r:id="Re830c0149fc3416a"/>
    <p:sldId xmlns:r="http://schemas.openxmlformats.org/officeDocument/2006/relationships" id="259" r:id="Rf5ba52b6b0174616"/>
    <p:sldId xmlns:r="http://schemas.openxmlformats.org/officeDocument/2006/relationships" id="260" r:id="R5533211f84d34083"/>
    <p:sldId xmlns:r="http://schemas.openxmlformats.org/officeDocument/2006/relationships" id="261" r:id="Rcdb59937459845eb"/>
    <p:sldId xmlns:r="http://schemas.openxmlformats.org/officeDocument/2006/relationships" id="262" r:id="R32a4705ee38c48b3"/>
    <p:sldId xmlns:r="http://schemas.openxmlformats.org/officeDocument/2006/relationships" id="263" r:id="Rad0721f11e0d4624"/>
    <p:sldId xmlns:r="http://schemas.openxmlformats.org/officeDocument/2006/relationships" id="264" r:id="R74b5f1cc00ed4d3e"/>
    <p:sldId xmlns:r="http://schemas.openxmlformats.org/officeDocument/2006/relationships" id="265" r:id="R74a3541abc0a4eea"/>
    <p:sldId xmlns:r="http://schemas.openxmlformats.org/officeDocument/2006/relationships" id="266" r:id="Ra7a30ef2cbf843b0"/>
    <p:sldId xmlns:r="http://schemas.openxmlformats.org/officeDocument/2006/relationships" id="267" r:id="R049f66e00f494c15"/>
    <p:sldId xmlns:r="http://schemas.openxmlformats.org/officeDocument/2006/relationships" id="268" r:id="Rce8f8ddf30414286"/>
    <p:sldId xmlns:r="http://schemas.openxmlformats.org/officeDocument/2006/relationships" id="269" r:id="Rfc2af6014f934312"/>
    <p:sldId xmlns:r="http://schemas.openxmlformats.org/officeDocument/2006/relationships" id="270" r:id="Re213907487d8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ddeb5b064a4144" /><Relationship Type="http://schemas.openxmlformats.org/officeDocument/2006/relationships/slideMaster" Target="/ppt/slideMasters/slideMaster1.xml" Id="R542498d5ceb042df" /><Relationship Type="http://schemas.openxmlformats.org/officeDocument/2006/relationships/notesMaster" Target="/ppt/notesMasters/notesMaster1.xml" Id="R6eb0dff2df1b4f26" /><Relationship Type="http://schemas.openxmlformats.org/officeDocument/2006/relationships/presProps" Target="/ppt/presProps.xml" Id="R6cf16806f6bc407c" /><Relationship Type="http://schemas.openxmlformats.org/officeDocument/2006/relationships/tableStyles" Target="/ppt/tableStyles.xml" Id="R053a20a3dffe42af" /><Relationship Type="http://schemas.openxmlformats.org/officeDocument/2006/relationships/slide" Target="/ppt/slides/slide1.xml" Id="R7f78e4092ce24da4" /><Relationship Type="http://schemas.openxmlformats.org/officeDocument/2006/relationships/slide" Target="/ppt/slides/slide2.xml" Id="R3c1b896edd5e44f8" /><Relationship Type="http://schemas.openxmlformats.org/officeDocument/2006/relationships/slide" Target="/ppt/slides/slide3.xml" Id="Re830c0149fc3416a" /><Relationship Type="http://schemas.openxmlformats.org/officeDocument/2006/relationships/slide" Target="/ppt/slides/slide4.xml" Id="Rf5ba52b6b0174616" /><Relationship Type="http://schemas.openxmlformats.org/officeDocument/2006/relationships/slide" Target="/ppt/slides/slide5.xml" Id="R5533211f84d34083" /><Relationship Type="http://schemas.openxmlformats.org/officeDocument/2006/relationships/slide" Target="/ppt/slides/slide6.xml" Id="Rcdb59937459845eb" /><Relationship Type="http://schemas.openxmlformats.org/officeDocument/2006/relationships/slide" Target="/ppt/slides/slide7.xml" Id="R32a4705ee38c48b3" /><Relationship Type="http://schemas.openxmlformats.org/officeDocument/2006/relationships/slide" Target="/ppt/slides/slide8.xml" Id="Rad0721f11e0d4624" /><Relationship Type="http://schemas.openxmlformats.org/officeDocument/2006/relationships/slide" Target="/ppt/slides/slide9.xml" Id="R74b5f1cc00ed4d3e" /><Relationship Type="http://schemas.openxmlformats.org/officeDocument/2006/relationships/slide" Target="/ppt/slides/slide10.xml" Id="R74a3541abc0a4eea" /><Relationship Type="http://schemas.openxmlformats.org/officeDocument/2006/relationships/slide" Target="/ppt/slides/slide11.xml" Id="Ra7a30ef2cbf843b0" /><Relationship Type="http://schemas.openxmlformats.org/officeDocument/2006/relationships/slide" Target="/ppt/slides/slide12.xml" Id="R049f66e00f494c15" /><Relationship Type="http://schemas.openxmlformats.org/officeDocument/2006/relationships/slide" Target="/ppt/slides/slide13.xml" Id="Rce8f8ddf30414286" /><Relationship Type="http://schemas.openxmlformats.org/officeDocument/2006/relationships/slide" Target="/ppt/slides/slide14.xml" Id="Rfc2af6014f934312" /><Relationship Type="http://schemas.openxmlformats.org/officeDocument/2006/relationships/slide" Target="/ppt/slides/slide15.xml" Id="Re213907487d8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9fc40320c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8fc46bc2046e6" /><Relationship Type="http://schemas.openxmlformats.org/officeDocument/2006/relationships/notesMaster" Target="/ppt/notesMasters/notesMaster1.xml" Id="R5f9f21c8549e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363013a174e04" /><Relationship Type="http://schemas.openxmlformats.org/officeDocument/2006/relationships/notesMaster" Target="/ppt/notesMasters/notesMaster1.xml" Id="R7265b391365f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5a276bb0449a0" /><Relationship Type="http://schemas.openxmlformats.org/officeDocument/2006/relationships/notesMaster" Target="/ppt/notesMasters/notesMaster1.xml" Id="R027c4b4e87b54e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cf7432c404040" /><Relationship Type="http://schemas.openxmlformats.org/officeDocument/2006/relationships/notesMaster" Target="/ppt/notesMasters/notesMaster1.xml" Id="Rdd84fb6092e248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23a3044194a1c" /><Relationship Type="http://schemas.openxmlformats.org/officeDocument/2006/relationships/notesMaster" Target="/ppt/notesMasters/notesMaster1.xml" Id="Rb57920da089049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dc0889aab142c8" /><Relationship Type="http://schemas.openxmlformats.org/officeDocument/2006/relationships/notesMaster" Target="/ppt/notesMasters/notesMaster1.xml" Id="Rcb757ee9a7af42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3fe1e620746ea" /><Relationship Type="http://schemas.openxmlformats.org/officeDocument/2006/relationships/notesMaster" Target="/ppt/notesMasters/notesMaster1.xml" Id="R8969cdb0d90844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ec241e71bc4232" /><Relationship Type="http://schemas.openxmlformats.org/officeDocument/2006/relationships/notesMaster" Target="/ppt/notesMasters/notesMaster1.xml" Id="R96ce4075458b4d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606e0732c54da9" /><Relationship Type="http://schemas.openxmlformats.org/officeDocument/2006/relationships/notesMaster" Target="/ppt/notesMasters/notesMaster1.xml" Id="R72a6b1437faf4d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7f6278f54d4c80" /><Relationship Type="http://schemas.openxmlformats.org/officeDocument/2006/relationships/notesMaster" Target="/ppt/notesMasters/notesMaster1.xml" Id="R2097727cca6e48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a632acb5c04f48" /><Relationship Type="http://schemas.openxmlformats.org/officeDocument/2006/relationships/notesMaster" Target="/ppt/notesMasters/notesMaster1.xml" Id="R918a9bae0f54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2a8e78c0df4d17" /><Relationship Type="http://schemas.openxmlformats.org/officeDocument/2006/relationships/notesMaster" Target="/ppt/notesMasters/notesMaster1.xml" Id="R2e843a69be3c4b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22127ad90b4b06" /><Relationship Type="http://schemas.openxmlformats.org/officeDocument/2006/relationships/notesMaster" Target="/ppt/notesMasters/notesMaster1.xml" Id="R7b99fc0a5c974b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3feb3ddc124138" /><Relationship Type="http://schemas.openxmlformats.org/officeDocument/2006/relationships/notesMaster" Target="/ppt/notesMasters/notesMaster1.xml" Id="Rb0761d99fab343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0b6868fd834a0b" /><Relationship Type="http://schemas.openxmlformats.org/officeDocument/2006/relationships/notesMaster" Target="/ppt/notesMasters/notesMaster1.xml" Id="Ree4183d2453a4c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A receita do período cobre 5,44x o custo de folha informado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Use o roteiro para combinar o tempo de cada bloco antes de entrar nos números.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A receita do período cobre 5,44x o custo de folha informado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- 31 competência(s) com valor realizado e 29 com previsão. Realizado e previsto permanecem identificados separadamente em todas as séries.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Traço contínuo: valores fechados. Traço tracejado: projeção ancorada na última competência realizada.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A trajetória acumulada mantém-se positiva em todo o recorte e fecha em R$ 421,6 mi.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Nenhuma competência do recorte fecha com saldo mensal negativo.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Cada série identifica o cliente que compõe o faturamento previsto.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Todos os valores que sustentam os gráficos anteriores.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Base contratual usada para limitar e distribuir a projeção.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[Fonte]</a:t>
            </a:r>
          </a:p>
          <a:p xmlns:a="http://schemas.openxmlformats.org/drawingml/2006/main">
            <a:r>
              <a:t>- Dados informados do sistema na Projeção Financeira.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[Leitura]</a:t>
            </a:r>
          </a:p>
          <a:p xmlns:a="http://schemas.openxmlformats.org/drawingml/2006/main">
            <a:r>
              <a:t>- Seguimos comprometidos com uma execução disciplinada, crescimento sustentável e geração consistente de valor para nossos investidores.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750d0cd4c44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302f80aa44246" /><Relationship Type="http://schemas.openxmlformats.org/officeDocument/2006/relationships/slideLayout" Target="/ppt/slideLayouts/slideLayout1.xml" Id="R0216e0d2b454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16e0d2b454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7fc88010e4b4e" /><Relationship Type="http://schemas.openxmlformats.org/officeDocument/2006/relationships/image" Target="/ppt/media/image.png" Id="R280e827277104b23" /><Relationship Type="http://schemas.openxmlformats.org/officeDocument/2006/relationships/image" Target="/ppt/media/image2.png" Id="Rbd706493f4bb410e" /><Relationship Type="http://schemas.openxmlformats.org/officeDocument/2006/relationships/notesSlide" Target="/ppt/notesSlides/notesSlide1.xml" Id="Rac5119e992f14a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894d48c92497b" /><Relationship Type="http://schemas.openxmlformats.org/officeDocument/2006/relationships/image" Target="/ppt/media/image3.png" Id="R054f246c907e4bcb" /><Relationship Type="http://schemas.openxmlformats.org/officeDocument/2006/relationships/notesSlide" Target="/ppt/notesSlides/notesSlide2.xml" Id="R75fceede10ea4d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d72e251374dcc" /><Relationship Type="http://schemas.openxmlformats.org/officeDocument/2006/relationships/image" Target="/ppt/media/image4.png" Id="R113a4b61580e40a0" /><Relationship Type="http://schemas.openxmlformats.org/officeDocument/2006/relationships/image" Target="/ppt/media/image5.png" Id="R3e67d932567242e5" /><Relationship Type="http://schemas.openxmlformats.org/officeDocument/2006/relationships/image" Target="/ppt/media/image.svg" Id="Rbf423caca320488f" /><Relationship Type="http://schemas.openxmlformats.org/officeDocument/2006/relationships/notesSlide" Target="/ppt/notesSlides/notesSlide3.xml" Id="Rcecb2a55288742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3df9a598a48de" /><Relationship Type="http://schemas.openxmlformats.org/officeDocument/2006/relationships/image" Target="/ppt/media/image6.png" Id="R83cf8aea7f74470e" /><Relationship Type="http://schemas.openxmlformats.org/officeDocument/2006/relationships/image" Target="/ppt/media/image7.png" Id="R008ed80c753947b5" /><Relationship Type="http://schemas.openxmlformats.org/officeDocument/2006/relationships/image" Target="/ppt/media/image2.svg" Id="R55aea9171efb428e" /><Relationship Type="http://schemas.openxmlformats.org/officeDocument/2006/relationships/notesSlide" Target="/ppt/notesSlides/notesSlide4.xml" Id="R928acc5c4d2e4d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704a5e29b47c3" /><Relationship Type="http://schemas.openxmlformats.org/officeDocument/2006/relationships/image" Target="/ppt/media/image8.png" Id="Re33978e1c0e643e7" /><Relationship Type="http://schemas.openxmlformats.org/officeDocument/2006/relationships/image" Target="/ppt/media/image9.png" Id="R3f2154b227df489c" /><Relationship Type="http://schemas.openxmlformats.org/officeDocument/2006/relationships/image" Target="/ppt/media/image3.svg" Id="R7f4c4ad95b104459" /><Relationship Type="http://schemas.openxmlformats.org/officeDocument/2006/relationships/notesSlide" Target="/ppt/notesSlides/notesSlide5.xml" Id="R593accdb33a445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d924fb81946be" /><Relationship Type="http://schemas.openxmlformats.org/officeDocument/2006/relationships/image" Target="/ppt/media/image10.png" Id="R859dbbbc24644e9d" /><Relationship Type="http://schemas.openxmlformats.org/officeDocument/2006/relationships/image" Target="/ppt/media/image11.png" Id="R55687720fd844923" /><Relationship Type="http://schemas.openxmlformats.org/officeDocument/2006/relationships/image" Target="/ppt/media/image4.svg" Id="R85342fe0ed14444d" /><Relationship Type="http://schemas.openxmlformats.org/officeDocument/2006/relationships/notesSlide" Target="/ppt/notesSlides/notesSlide6.xml" Id="Rde3093d881af4a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815c3c5a44913" /><Relationship Type="http://schemas.openxmlformats.org/officeDocument/2006/relationships/image" Target="/ppt/media/image12.png" Id="R90b768e6b9214fe9" /><Relationship Type="http://schemas.openxmlformats.org/officeDocument/2006/relationships/image" Target="/ppt/media/image13.png" Id="R973b0536db134c3e" /><Relationship Type="http://schemas.openxmlformats.org/officeDocument/2006/relationships/image" Target="/ppt/media/image5.svg" Id="R40b36d5b07b5465c" /><Relationship Type="http://schemas.openxmlformats.org/officeDocument/2006/relationships/notesSlide" Target="/ppt/notesSlides/notesSlide7.xml" Id="Rd33bb21772a742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ca61271884180" /><Relationship Type="http://schemas.openxmlformats.org/officeDocument/2006/relationships/image" Target="/ppt/media/image14.png" Id="R20d44f123b8e470a" /><Relationship Type="http://schemas.openxmlformats.org/officeDocument/2006/relationships/image" Target="/ppt/media/image15.png" Id="R5580cc2052c44f61" /><Relationship Type="http://schemas.openxmlformats.org/officeDocument/2006/relationships/image" Target="/ppt/media/image6.svg" Id="R80741fb50e5e4539" /><Relationship Type="http://schemas.openxmlformats.org/officeDocument/2006/relationships/notesSlide" Target="/ppt/notesSlides/notesSlide8.xml" Id="R69263c8349ef4f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155c0c12540b0" /><Relationship Type="http://schemas.openxmlformats.org/officeDocument/2006/relationships/image" Target="/ppt/media/image16.png" Id="R22af83273c864212" /><Relationship Type="http://schemas.openxmlformats.org/officeDocument/2006/relationships/notesSlide" Target="/ppt/notesSlides/notesSlide9.xml" Id="R1863f9a168f442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5d9abe8d1424b" /><Relationship Type="http://schemas.openxmlformats.org/officeDocument/2006/relationships/image" Target="/ppt/media/image17.png" Id="Rc8a421493c114c78" /><Relationship Type="http://schemas.openxmlformats.org/officeDocument/2006/relationships/notesSlide" Target="/ppt/notesSlides/notesSlide10.xml" Id="R4d5af937074a43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0d959411346c0" /><Relationship Type="http://schemas.openxmlformats.org/officeDocument/2006/relationships/image" Target="/ppt/media/image18.png" Id="Rb50983b3b3f64ba1" /><Relationship Type="http://schemas.openxmlformats.org/officeDocument/2006/relationships/notesSlide" Target="/ppt/notesSlides/notesSlide11.xml" Id="R1e05bbecccea47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3893d8684844" /><Relationship Type="http://schemas.openxmlformats.org/officeDocument/2006/relationships/image" Target="/ppt/media/image19.png" Id="R13a8ad26ad6845bd" /><Relationship Type="http://schemas.openxmlformats.org/officeDocument/2006/relationships/notesSlide" Target="/ppt/notesSlides/notesSlide12.xml" Id="R8c55ff2e3b9f47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d3ed0954e4b77" /><Relationship Type="http://schemas.openxmlformats.org/officeDocument/2006/relationships/image" Target="/ppt/media/image20.png" Id="Ra536e9c67a3249d7" /><Relationship Type="http://schemas.openxmlformats.org/officeDocument/2006/relationships/notesSlide" Target="/ppt/notesSlides/notesSlide13.xml" Id="Re778b5f427474c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ffd57eee2465f" /><Relationship Type="http://schemas.openxmlformats.org/officeDocument/2006/relationships/image" Target="/ppt/media/image21.png" Id="R27894c3a7d674ff6" /><Relationship Type="http://schemas.openxmlformats.org/officeDocument/2006/relationships/notesSlide" Target="/ppt/notesSlides/notesSlide14.xml" Id="R9aaf11f013cf43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2213c665f454b" /><Relationship Type="http://schemas.openxmlformats.org/officeDocument/2006/relationships/image" Target="/ppt/media/image22.png" Id="Rdf760d429aab4de8" /><Relationship Type="http://schemas.openxmlformats.org/officeDocument/2006/relationships/image" Target="/ppt/media/image23.png" Id="Rc9a8f6176fd44c6d" /><Relationship Type="http://schemas.openxmlformats.org/officeDocument/2006/relationships/notesSlide" Target="/ppt/notesSlides/notesSlide15.xml" Id="Rd9457d063a8848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A65FE-F152-4F91-A78B-F6491965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2E3D3-7377-4440-861D-02937D5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CA39E-4AF5-4296-93F8-9D8F777D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e827277104b23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C2759-D1D1-4F5F-9E4C-38065BD9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1697E-0B99-4482-AD74-8D388038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06493f4bb410e"/>
          <a:stretch xmlns:a="http://schemas.openxmlformats.org/drawingml/2006/main"/>
        </p:blipFill>
        <p:spPr>
          <a:xfrm xmlns:a="http://schemas.openxmlformats.org/drawingml/2006/main">
            <a:off x="609600" y="685800"/>
            <a:ext cx="3303330" cy="43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F00CD-142B-46D6-A9D0-FE4AE72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200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E3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1C148-3ED5-44F4-89F3-64AAB6D7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2867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6BB"/>
                </a:solidFill>
              </a:defRPr>
            </a:pPr>
            <a:r>
              <a:rPr sz="900" b="1">
                <a:solidFill>
                  <a:srgbClr val="35E6BB"/>
                </a:solidFill>
              </a:rPr>
              <a:t>CONFIDENCIAL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275C0-9A9A-424B-A3EB-86BBF06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AF9"/>
                </a:solidFill>
              </a:defRPr>
            </a:pPr>
            <a:r>
              <a:rPr sz="3900" b="1">
                <a:solidFill>
                  <a:srgbClr val="F2FAF9"/>
                </a:solidFill>
              </a:rPr>
              <a:t>Relatório de Faturamento vs Folha de Pagamento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04687-1415-466B-8F32-C55AC48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PERÍODO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5D6D3-537F-48C2-9F10-238DC55A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BDBDD"/>
                </a:solidFill>
              </a:defRPr>
            </a:pPr>
            <a:r>
              <a:rPr sz="1275" b="1">
                <a:solidFill>
                  <a:srgbClr val="CBDBDD"/>
                </a:solidFill>
              </a:rPr>
              <a:t>jan de 24 — dez de 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B0FD5-9ACD-4C53-80F8-775E6829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91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58A2A-D636-4289-8063-678A673F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BDBDD"/>
                </a:solidFill>
              </a:defRPr>
            </a:pPr>
            <a:r>
              <a:rPr sz="1275" b="1">
                <a:solidFill>
                  <a:srgbClr val="CBDBDD"/>
                </a:solidFill>
              </a:rPr>
              <a:t>30-07-2026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CFDDD-EB9F-4F87-A649-0CF53F0A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91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PREPARADO POR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3065E-2255-4FA2-9F93-D8BE39D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19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BDBDD"/>
                </a:solidFill>
              </a:defRPr>
            </a:pPr>
            <a:r>
              <a:rPr sz="1275" b="1">
                <a:solidFill>
                  <a:srgbClr val="CBDBDD"/>
                </a:solidFill>
              </a:rPr>
              <a:t>Sergio Fagundes</a:t>
            </a:r>
          </a:p>
        </p:txBody>
      </p:sp>
    </p:spTree>
    <p:extLst>
      <p:ext uri="{BB962C8B-B14F-4D97-AF65-F5344CB8AC3E}">
        <p14:creationId xmlns:p14="http://schemas.microsoft.com/office/powerpoint/2010/main" val="1392104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88F0CB-99BC-4074-A25E-1DCB1A55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BC27D-6796-4A2B-8896-D5FEF10C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392B3-A9AC-4F8B-81DD-BA00A3A2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ROTEIRO DA APRESENTAÇÃO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D592C-1542-4F9C-B931-BDC5E50D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02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BDCA1-02B6-4B1E-9077-E14FD3FC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f246c907e4bcb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38783-64F8-42F5-929B-8527D717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9E56-5F5D-4ADF-AAE3-8E3E90A3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09DC0-8710-4BA1-AF31-535302F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O que esta leitura cobre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5A3A9-FC8C-4045-8412-5AAE3E82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5E1A6-1BE1-46FC-A4CE-8A11460B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0A12D-D7B1-4815-8CBC-AA613C89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Síntese executiva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2F459-A162-4666-8AEC-412D071E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Cobertura, saldo e os sinais que resumem o período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67AF7-B8DE-435A-A2F3-EAB39B6C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23E28-E88F-4375-A80E-23E859DD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371D9-A5AC-4338-A214-6ABD675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Evolução mensal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6F3E5-0BFE-4F09-8C12-91262A3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Receita e folha competência a competência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F52BD-5D41-43CE-9260-798DB1CF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24BB9-0239-4F1D-B269-AB30DDC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DCC6A-4ED6-483C-BCC4-3DD1E36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Curva mensal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433B4-604B-4081-B4D0-7500D295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Valores de cada competência, sem acumulação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DF9E4-5477-4312-AB5D-107F772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03E9F-A9EC-4B25-A957-705C11CB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CDEBE-2DFE-4B0C-B197-916B8DFA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Curva S acumulada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028B3-A2A3-4CB0-A2C3-E33EB285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Trajetória acumulada e zona de previsão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51EF2-01E8-4CF5-8E2C-87AB389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50873-6D6C-4728-AF59-F369FB1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0113A-BAF2-4324-96BE-34CFD75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Saldo e acumulado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DC70F-0599-45C6-A705-5251895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Onde o período gera e onde consome 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715B9-AA72-4C6B-85E4-F2AEE3EF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87107-37CE-4F6E-928A-257610B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F370A-D7AB-45D6-AB95-EC644D91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Projeção por cliente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4C8B9-4BEA-4A1B-849E-81269A6D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Composição do faturamento projetado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99662-D18E-4E4D-8DAF-123B3FE2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891CD-75AA-4C7A-8EBB-305CEEA0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7E83B6-F509-4BBC-BEE3-A9310E4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Base mensal informada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D05AFA-E00D-4C99-9617-5B0A6CC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Todos os valores por trás dos gráficos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95A535-C14C-4283-B4FD-255E6A0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E69CDB-0A03-477D-87A5-1CF06792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1BCF9E-D272-48DB-AB48-5F01A07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FAF9"/>
                </a:solidFill>
              </a:defRPr>
            </a:pPr>
            <a:r>
              <a:rPr sz="1425" b="1">
                <a:solidFill>
                  <a:srgbClr val="F2FAF9"/>
                </a:solidFill>
              </a:rPr>
              <a:t>Carteira e recebíveis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7AE86F-3408-44C5-B181-EDD1CD9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E7880"/>
                </a:solidFill>
              </a:defRPr>
            </a:pPr>
            <a:r>
              <a:rPr sz="1013">
                <a:solidFill>
                  <a:srgbClr val="5E7880"/>
                </a:solidFill>
              </a:rPr>
              <a:t>Backlog que sustenta a projeção</a:t>
            </a:r>
          </a:p>
        </p:txBody>
      </p:sp>
    </p:spTree>
    <p:extLst>
      <p:ext uri="{BB962C8B-B14F-4D97-AF65-F5344CB8AC3E}">
        <p14:creationId xmlns:p14="http://schemas.microsoft.com/office/powerpoint/2010/main" val="1521212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5564ED-749F-46B6-96C4-546A10D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91EFA-F62E-407E-9788-7F1EF2F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6A2CE-19B3-48BD-B52E-B91D3E63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SÍNTESE EXECUTIVA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D6DE0-BA31-47CD-BDE6-92A096B9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03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484C6-5CBD-4AE9-8D0B-10B28022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a4b61580e40a0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6868C-84DD-40F3-89A0-0AF96F0B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62B9A-D059-4C10-8E4B-C62D994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640B5-16BD-4019-846D-825D3FD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543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2FAF9"/>
                </a:solidFill>
              </a:defRPr>
            </a:pPr>
            <a:r>
              <a:rPr sz="2400" b="1">
                <a:solidFill>
                  <a:srgbClr val="F2FAF9"/>
                </a:solidFill>
              </a:rPr>
              <a:t>A receita do período cobre 5,44x o custo de folha informado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9ADED-6AA9-4645-AD89-6C5A9D49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BDD"/>
                </a:solidFill>
              </a:defRPr>
            </a:pPr>
            <a:r>
              <a:rPr sz="1200">
                <a:solidFill>
                  <a:srgbClr val="CBDBDD"/>
                </a:solidFill>
              </a:rPr>
              <a:t>A receita consolidada sustenta a estrutura atual e a carteira prevista amplia a cobertura da folha ao longo do horizonte projetado.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64277-38EA-4FD2-87BA-E3C5F8E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7543800" cy="1390650"/>
          </a:xfrm>
          <a:prstGeom xmlns:a="http://schemas.openxmlformats.org/drawingml/2006/main" prst="roundRect">
            <a:avLst>
              <a:gd name="adj" fmla="val 8219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E3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48F06-A04D-4E30-B512-227A7A91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6E010-4E32-49C1-87A9-CD77C63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81275"/>
            <a:ext cx="95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B69D9-8A42-4282-A0EC-E329A6B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E2AF9-8FC9-4245-9633-6D4D421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94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D3206-5538-47D6-8D3A-03AD5B21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4D8E6-D52F-4BB3-BD47-2CA4D1D1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 REALIZADO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665BF-9391-4425-8E3A-A0181E3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5E6BB"/>
                </a:solidFill>
              </a:defRPr>
            </a:pPr>
            <a:r>
              <a:rPr sz="1950" b="1">
                <a:solidFill>
                  <a:srgbClr val="35E6BB"/>
                </a:solidFill>
              </a:rPr>
              <a:t>R$ 191,6 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465AD-FACA-40C0-8571-7FA42804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7880"/>
                </a:solidFill>
              </a:defRPr>
            </a:pPr>
            <a:r>
              <a:rPr sz="863">
                <a:solidFill>
                  <a:srgbClr val="5E7880"/>
                </a:solidFill>
              </a:rPr>
              <a:t>31 competência(s)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17B73-D8B1-4617-9161-8A87335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69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EEBEB-C7C7-4E89-AC1D-576D346C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138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E0029-9EEB-4301-A669-928E4929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211F2-12D0-46C0-8E22-1D6F4827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394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 PREVISTO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5C193-96E4-41DE-A7CA-EC3FCBF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C9DFF"/>
                </a:solidFill>
              </a:defRPr>
            </a:pPr>
            <a:r>
              <a:rPr sz="1950" b="1">
                <a:solidFill>
                  <a:srgbClr val="4C9DFF"/>
                </a:solidFill>
              </a:rPr>
              <a:t>R$ 325 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17B6E-AC75-4B15-A6C9-C7C517F8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7880"/>
                </a:solidFill>
              </a:defRPr>
            </a:pPr>
            <a:r>
              <a:rPr sz="863">
                <a:solidFill>
                  <a:srgbClr val="5E7880"/>
                </a:solidFill>
              </a:rPr>
              <a:t>63% da receita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13807-3FD0-4EFB-91C8-12A79181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313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7F793-C065-443C-8CB0-655CA12F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181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3B199-F81B-4815-9E6B-B3AE9DE3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7B900-6C49-4AC1-A47D-AA36716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38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FOLHA 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F1055-3865-4A82-A22B-4004196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74D"/>
                </a:solidFill>
              </a:defRPr>
            </a:pPr>
            <a:r>
              <a:rPr sz="1950" b="1">
                <a:solidFill>
                  <a:srgbClr val="FFB74D"/>
                </a:solidFill>
              </a:rPr>
              <a:t>R$ 95 mi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5ED0C-0397-49AA-BD58-7F06B14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7880"/>
                </a:solidFill>
              </a:defRPr>
            </a:pPr>
            <a:r>
              <a:rPr sz="863">
                <a:solidFill>
                  <a:srgbClr val="5E7880"/>
                </a:solidFill>
              </a:rPr>
              <a:t>fechada + projetada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0FD15D-09D0-4CB9-831D-F90946E0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56" y="2543175"/>
            <a:ext cx="1826419" cy="1295400"/>
          </a:xfrm>
          <a:prstGeom xmlns:a="http://schemas.openxmlformats.org/drawingml/2006/main" prst="roundRect">
            <a:avLst>
              <a:gd name="adj" fmla="val 8824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9A568-4A83-425D-86EE-49B83A18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225" y="2543175"/>
            <a:ext cx="8766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5CDB17-9749-4ABF-BA9F-C491E05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706" y="27051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05ACF2-8B46-4227-8401-6148BB29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481" y="2647950"/>
            <a:ext cx="14549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 ACUMULADO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D3B0DE-693D-4B51-A54D-30E84CD8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706" y="2962275"/>
            <a:ext cx="155971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5E6BB"/>
                </a:solidFill>
              </a:defRPr>
            </a:pPr>
            <a:r>
              <a:rPr sz="1950" b="1">
                <a:solidFill>
                  <a:srgbClr val="35E6BB"/>
                </a:solidFill>
              </a:rPr>
              <a:t>R$ 421,6 mi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1E5F87-8EDE-4436-A198-CDE1459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706" y="3343275"/>
            <a:ext cx="15597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7880"/>
                </a:solidFill>
              </a:defRPr>
            </a:pPr>
            <a:r>
              <a:rPr sz="863">
                <a:solidFill>
                  <a:srgbClr val="5E7880"/>
                </a:solidFill>
              </a:rPr>
              <a:t>no fecho do recorte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7d932567242e5">
            <a:extLst>
              <a:ext uri="{96DAC541-7B7A-43D3-8B79-37D633B846F1}">
                <asvg:svgBlip xmlns:asvg="http://schemas.microsoft.com/office/drawing/2016/SVG/main" r:embed="Rbf423caca32048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4900" y="14287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3F6E8C-0B8E-454E-9704-E1B3FF3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COBERTURA RECEITA / FOLHA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B1CFE-6264-47B1-A450-8305122D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Marca central do arco = ponto de equilíbrio (1,00x). +444 p.p. em relação ao equilíbrio.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C6C106-1983-42A4-B858-3454131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1676400"/>
          </a:xfrm>
          <a:prstGeom xmlns:a="http://schemas.openxmlformats.org/drawingml/2006/main" prst="roundRect">
            <a:avLst>
              <a:gd name="adj" fmla="val 6818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E3A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17BE6-B7FE-42FF-8D4E-66DEEF7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05325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3194B5-8C95-410F-BF0D-B6E04683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505325"/>
            <a:ext cx="9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F44BC8-286E-4C1B-B37B-078BAAD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EFEFB3-09A5-48A3-8DEA-32798474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79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45B08-5CEF-4EEA-ADB0-A7991FA1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DACC61-B99B-4961-AE0C-9ACC99EA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COBERTURA RECEITA / FOLHA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77DD54-BD4D-426B-9C43-27521B6C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594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E6B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71C3D8-8656-4AB4-88E1-F3347BBF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594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5E6BB"/>
                </a:solidFill>
              </a:defRPr>
            </a:pPr>
            <a:r>
              <a:rPr sz="675" b="1">
                <a:solidFill>
                  <a:srgbClr val="35E6BB"/>
                </a:solidFill>
              </a:rPr>
              <a:t>SINAL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F46703-9E88-4E1F-897C-B890808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5E6BB"/>
                </a:solidFill>
              </a:defRPr>
            </a:pPr>
            <a:r>
              <a:rPr sz="1425" b="1">
                <a:solidFill>
                  <a:srgbClr val="35E6BB"/>
                </a:solidFill>
              </a:rPr>
              <a:t>5,44x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0395FE-C1AD-4473-AEC7-47F8CF1D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Razão entre a receita total e a folha total do recorte informado.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D19CDE-0A43-4876-9EFF-36BE742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19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0DFCA1-14AE-4F44-AAF3-60AE1C4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73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B25C9C-FC4A-4847-8ADF-D806F710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69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C201D8-B9F6-447E-BC8F-0A9F3C2C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44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 ACUMULADO NO FECHO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B7C994-C613-47E2-871A-01C3B999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E6B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2F0B10-8C43-469C-9CAF-22246FF9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88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5E6BB"/>
                </a:solidFill>
              </a:defRPr>
            </a:pPr>
            <a:r>
              <a:rPr sz="675" b="1">
                <a:solidFill>
                  <a:srgbClr val="35E6BB"/>
                </a:solidFill>
              </a:rPr>
              <a:t>SINAL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204133-B04D-4E71-B79A-08408421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69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5E6BB"/>
                </a:solidFill>
              </a:defRPr>
            </a:pPr>
            <a:r>
              <a:rPr sz="1425" b="1">
                <a:solidFill>
                  <a:srgbClr val="35E6BB"/>
                </a:solidFill>
              </a:rPr>
              <a:t>R$ 421,6 mi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C4D050-70F1-4185-BA03-19CBB259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69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Diferença acumulada entre receita e folha ao fim de 60 competências.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6E9812-5079-480C-BC72-25E14E2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813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21F79F-BFFF-4064-8D24-255CA51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566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D3026A-05DD-4E20-9EE5-49D9E45E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045321-9048-40AE-8C65-1FFF2D69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MÊS MAIS APERTADO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8D260D-88DF-43DD-9CC8-BFBCE3A1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181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B74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7C40EE-EE02-4EB6-B865-29627689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181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B74D"/>
                </a:solidFill>
              </a:defRPr>
            </a:pPr>
            <a:r>
              <a:rPr sz="675" b="1">
                <a:solidFill>
                  <a:srgbClr val="FFB74D"/>
                </a:solidFill>
              </a:rPr>
              <a:t>MONITORAR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F612EF-AD3A-4508-9652-DA65E370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B74D"/>
                </a:solidFill>
              </a:defRPr>
            </a:pPr>
            <a:r>
              <a:rPr sz="1425" b="1">
                <a:solidFill>
                  <a:srgbClr val="FFB74D"/>
                </a:solidFill>
              </a:rPr>
              <a:t>fev de 26 · 1,39x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495210-6AD5-4D7F-B4E6-2833FE3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Menor cobertura mensal do recorte.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A348FB-382C-4394-8428-FC142338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06" y="4467225"/>
            <a:ext cx="2683669" cy="1581150"/>
          </a:xfrm>
          <a:prstGeom xmlns:a="http://schemas.openxmlformats.org/drawingml/2006/main" prst="roundRect">
            <a:avLst>
              <a:gd name="adj" fmla="val 7229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40A10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0F4D7E-D0A7-4A72-B7F0-03C2A6F4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60" y="4467225"/>
            <a:ext cx="128816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879618-9C13-4A09-8248-8D472C05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462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22C27C-2CC8-42B6-B649-B2F30EEC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231" y="4572000"/>
            <a:ext cx="153114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PICO DE RECEITA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4BEEC0-735F-4F61-A862-3227AD59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72000"/>
            <a:ext cx="7429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E6B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2455A74-25B8-4FAB-B1F0-5188641B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815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5E6BB"/>
                </a:solidFill>
              </a:defRPr>
            </a:pPr>
            <a:r>
              <a:rPr sz="675" b="1">
                <a:solidFill>
                  <a:srgbClr val="35E6BB"/>
                </a:solidFill>
              </a:rPr>
              <a:t>SINAL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F55E25-9B5E-4045-AC5D-203E7CCF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4886325"/>
            <a:ext cx="24169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5E6BB"/>
                </a:solidFill>
              </a:defRPr>
            </a:pPr>
            <a:r>
              <a:rPr sz="1425" b="1">
                <a:solidFill>
                  <a:srgbClr val="35E6BB"/>
                </a:solidFill>
              </a:rPr>
              <a:t>dez de 28 · R$ 15 mi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A0ED68-ABED-4989-8B4F-EFF06C6A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456" y="5286375"/>
            <a:ext cx="2416969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Maior receita mensal (realizada + prevista) do recorte.</a:t>
            </a:r>
          </a:p>
        </p:txBody>
      </p:sp>
    </p:spTree>
    <p:extLst>
      <p:ext uri="{BB962C8B-B14F-4D97-AF65-F5344CB8AC3E}">
        <p14:creationId xmlns:p14="http://schemas.microsoft.com/office/powerpoint/2010/main" val="410207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BBA9E-642A-4D8D-BC19-736348A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E676D-34E7-427F-8511-082C3B43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00B5E-1CE6-466D-BFA9-CFE873C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EVOLUÇÃO MENSAL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16058-7441-407A-9B91-D2BF635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04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BED33-2A4C-4E10-AEBF-B1030484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f8aea7f74470e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CB7CC-7524-4E87-8A88-C56D2C5E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17660-B24F-4EF5-A436-BADF0843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1DA3-8284-4815-AF42-867DE75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Receita e folha, competência a competência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5653C-1D02-46E7-ABA8-DF69301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31 competência(s) com valor realizado e 29 com previsão. Realizado e previsto permanecem identificados separadamente em todas as séries.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43895-FDB6-4B6E-93C8-5900C2ED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ed80c753947b5">
            <a:extLst>
              <a:ext uri="{96DAC541-7B7A-43D3-8B79-37D633B846F1}">
                <asvg:svgBlip xmlns:asvg="http://schemas.microsoft.com/office/drawing/2016/SVG/main" r:embed="R55aea9171efb42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3086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41876-2B2D-4752-9C53-1F514FE5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E1625-5D05-4328-98B5-1E94398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8630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Faturamento realizado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7103A-55B1-43F4-83C0-9F719D61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15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4C9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4BD3E-773B-4070-8171-36DF655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8958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Faturamento previsto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6463B-F008-477C-B19F-9B5DBB6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E5BD7-B5BC-41B7-85DF-B3C65650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4895850"/>
            <a:ext cx="20802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Folha fechada + encargos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3C022-4872-4A71-AB9F-39783776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339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B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6851D-DA9D-4D7D-B0AE-0A9605D9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9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Folha projetada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1F396-CE12-4B16-A286-1934067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9F276-D72D-4028-8EC1-BF144A45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PICO DE RECEITA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47971-8300-4D50-B73F-745E1238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dez de 28 · R$ 15 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31533-BC00-4416-BEE1-9AE12CC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PICO DE FOLHA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0567B-1E4F-44EF-BDB1-5350955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fev de 26 · R$ 3,4 mi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FD95D-45A9-47E7-A4F6-873D4BA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MÊS MAIS APERTADO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3DD89-062D-4580-ACDA-645E2991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fev de 26 · 1,39x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0BE19-4664-49CE-BA31-A83E683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SALDO MENSAL MÉDIO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18413-A562-432D-B14C-67593F2C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R$ 7 mi</a:t>
            </a:r>
          </a:p>
        </p:txBody>
      </p:sp>
    </p:spTree>
    <p:extLst>
      <p:ext uri="{BB962C8B-B14F-4D97-AF65-F5344CB8AC3E}">
        <p14:creationId xmlns:p14="http://schemas.microsoft.com/office/powerpoint/2010/main" val="1646398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2B094C-E627-4B0C-8E41-735DA44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281CA-FA46-484B-B2F0-D03EB5F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60039-DEBF-40A7-8245-5127FD85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CURVA MENSAL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241D9-0BB3-4A5C-A244-870BFB3A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05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9E704-5C82-48C4-AD58-F11A996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978e1c0e643e7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17CD1-54BE-4132-A169-225118B2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B89D8-B754-41EE-985A-D003166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84B4F-197B-4D1D-A493-882EC557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Valores de cada competência, sem acumulação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9AE96-C07B-4CEB-B6C4-AA986A4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A leitura mês a mês da receita e da folha: onde cada uma sobe, onde recua e a partir de quando passam a ser projeção.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554FD-F7A2-458B-8083-85693CA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154b227df489c">
            <a:extLst>
              <a:ext uri="{96DAC541-7B7A-43D3-8B79-37D633B846F1}">
                <asvg:svgBlip xmlns:asvg="http://schemas.microsoft.com/office/drawing/2016/SVG/main" r:embed="R7f4c4ad95b1044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D91B9-D7D5-42E4-845C-ABA16AF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9AB37-6D34-4462-AD8C-4FB51B29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18630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Faturamento realizado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B8A05-6C46-4561-96E3-6A25780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15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0580B-CF44-4889-A113-AFB9C213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85763-11E3-44C0-9A1B-B80777B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6672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Faturamento previsto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708BC-0D3C-4306-86EE-AB62AC8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743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0CFF7-DA62-49BB-A57F-AD6EA204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4667250"/>
            <a:ext cx="20802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Folha fechada + encargos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6AEC6-3414-4AA9-A51C-42988B95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50A3-C4F0-4277-962F-0E90D50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2310A-BDCD-4690-B7C1-F4535A8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Folha projetada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AA3E2-3938-4531-86BD-44F1693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7880"/>
                </a:solidFill>
              </a:defRPr>
            </a:pPr>
            <a:r>
              <a:rPr sz="863">
                <a:solidFill>
                  <a:srgbClr val="5E7880"/>
                </a:solidFill>
              </a:rPr>
              <a:t>Traço contínuo: valores fechados. Traço tracejado: projeção, ancorada na última competência realizada.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E6041-27D3-4E28-9BBD-3C57EBD4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999DB-5EE3-4EC5-9FE4-B918EC13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PICO DE RECEITA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EAD9C-739B-480D-BC0B-3273D436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dez de 28 · R$ 15 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E668C-111D-4185-95FA-374CD9F4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PICO DE FOLHA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29238-B477-4128-9F16-3ACC94CE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fev de 26 · R$ 3,4 mi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C1DFB-8DB2-4CDC-BC5E-01DFA87F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COMPETÊNCIAS REALIZADAS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E4FCA-0C6D-480A-9B1C-B1F9E559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14A6A-5B74-4247-8D68-BF4B16A4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864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COMPETÊNCIAS PROJETADAS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4A41FF-CE0E-41C9-AFE6-264F2129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769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18970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6D577-69AB-4408-8CD1-89EC6F8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EA445-3CD3-4B41-AFA7-4F59B389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F5937-BBFF-47C6-8C7A-28BA9F9A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CURVA S ACUMULADA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3BF6F-BB0B-4B9E-8343-4B51AD03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06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13913-30D9-48FC-998A-BA18C2B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dbbbc24644e9d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64842-CD3C-459F-B89B-297644F1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73F26-6887-42A0-8FB4-516554A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C4715-309F-4B44-8E59-5697077C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A trajetória acumulada do período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6205A-7836-483F-BFDC-77F38BEA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A trajetória acumulada mantém-se positiva em todo o recorte e fecha em R$ 421,6 mi.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73F4-D3F8-41BA-B697-3B633121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87720fd844923">
            <a:extLst>
              <a:ext uri="{96DAC541-7B7A-43D3-8B79-37D633B846F1}">
                <asvg:svgBlip xmlns:asvg="http://schemas.microsoft.com/office/drawing/2016/SVG/main" r:embed="R85342fe0ed1444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30861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B57BA-BD1E-4BDA-B9EB-1CDCA083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B244-7275-41EE-B091-310109E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18630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Faturamento acumulado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85625-2487-4986-BB3A-C948636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15" y="49720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FA031-D552-49DB-95E3-F5DA4308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340" y="489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Folha acumulada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00D8A-BE34-466F-B175-847F14E2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090" y="4972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A1920-8E24-4BCA-B413-89890514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865" y="4972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CCA2B-6FB7-4257-A675-BE51526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15" y="4895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Saldo acumulado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877E7-F488-4154-BCB0-C28D010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5A4DC-4D2A-4840-90B9-CDA99E59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RECEITA ACUMULADA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8BABE-7F41-4684-9432-8BDAA4D2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R$ 516,6 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7E7C5-A9E9-4A9D-93B1-EFDC1E31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FOLHA ACUMULADA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AFAEF3-2A66-44A4-ABD6-B63C5F77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R$ 95 mi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A8DEA-EC43-4192-B534-281729F9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SALDO NO FECHO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EE572-13AB-48E6-A09A-5E41353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E6BB"/>
                </a:solidFill>
              </a:defRPr>
            </a:pPr>
            <a:r>
              <a:rPr sz="1350" b="1">
                <a:solidFill>
                  <a:srgbClr val="35E6BB"/>
                </a:solidFill>
              </a:rPr>
              <a:t>R$ 421,6 mi</a:t>
            </a:r>
          </a:p>
        </p:txBody>
      </p:sp>
    </p:spTree>
    <p:extLst>
      <p:ext uri="{BB962C8B-B14F-4D97-AF65-F5344CB8AC3E}">
        <p14:creationId xmlns:p14="http://schemas.microsoft.com/office/powerpoint/2010/main" val="1953342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E57952-DCC1-4BE0-AF47-A9298964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E15BE-0114-4A7D-945A-A7F43A88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3A9A7-8F63-4BB3-A44B-F21C8A1E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SALDO MENSAL E ACUMULADO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D02EA-A837-46E0-AC77-F5B518AC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07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782C9-72E5-468E-B986-C2AA7793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768e6b9214fe9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81269-32E8-408B-AD27-87AC1AA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6CC0E-2F3A-4ABA-9E31-6424465B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905D8-F6BB-4F61-80E5-100C2DA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Onde o período gera e onde consome 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B834F-BC85-4360-9813-61A068D3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Nenhuma competência do recorte fecha com saldo mensal negativo.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28100-3B14-424A-81DD-9B1ADE3F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3543300"/>
          </a:xfrm>
          <a:prstGeom xmlns:a="http://schemas.openxmlformats.org/drawingml/2006/main" prst="roundRect">
            <a:avLst>
              <a:gd name="adj" fmla="val 3226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b0536db134c3e">
            <a:extLst>
              <a:ext uri="{96DAC541-7B7A-43D3-8B79-37D633B846F1}">
                <asvg:svgBlip xmlns:asvg="http://schemas.microsoft.com/office/drawing/2016/SVG/main" r:embed="R40b36d5b07b546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F6D89-1393-4F50-8440-F2B8029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E44F3-F48A-4B2D-AD5D-85116319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20078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Saldo do mês (positivo)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5CD79-524C-4178-8D96-071A6FC2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4705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0B31A-3665-4E56-B3A0-F765BCD1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67250"/>
            <a:ext cx="20078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Saldo do mês (negativo)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8EE88-0064-456F-8270-0317ED8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990" y="4743450"/>
            <a:ext cx="171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98249-3D04-4B3C-A0F3-DD1871F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115" y="46672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Saldo acumulado — eixo direito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7861C-82DA-4CCC-B515-79CB8A1F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5E7880"/>
                </a:solidFill>
              </a:defRPr>
            </a:pPr>
            <a:r>
              <a:rPr sz="863">
                <a:solidFill>
                  <a:srgbClr val="5E7880"/>
                </a:solidFill>
              </a:rPr>
              <a:t>Colunas: saldo do mês (eixo esquerdo). Linha: saldo acumulado (eixo direito).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AD29B-7FBA-4C1D-9E18-AD1CD483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5703D-7EFF-42D0-9043-A6A8D703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MELHOR MÊS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8BB25-274B-4845-8952-E3F91CE2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E6BB"/>
                </a:solidFill>
              </a:defRPr>
            </a:pPr>
            <a:r>
              <a:rPr sz="1350" b="1">
                <a:solidFill>
                  <a:srgbClr val="35E6BB"/>
                </a:solidFill>
              </a:rPr>
              <a:t>dez de 28 · R$ 13,3 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E68C6-8A21-4F09-A5D9-1B51739B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PIOR MÊS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D25F1-C3A2-48AA-BD75-173C3ED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BDBDD"/>
                </a:solidFill>
              </a:defRPr>
            </a:pPr>
            <a:r>
              <a:rPr sz="1350" b="1">
                <a:solidFill>
                  <a:srgbClr val="CBDBDD"/>
                </a:solidFill>
              </a:rPr>
              <a:t>dez de 25 · R$ 940,3 mil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08F27-431E-4EF7-9A9E-89A482DF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7880"/>
                </a:solidFill>
              </a:defRPr>
            </a:pPr>
            <a:r>
              <a:rPr sz="825" b="1">
                <a:solidFill>
                  <a:srgbClr val="5E7880"/>
                </a:solidFill>
              </a:rPr>
              <a:t>COMPETÊNCIAS NO RECORTE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4C564-D69B-4351-B4BD-F39C253D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769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FAF9"/>
                </a:solidFill>
              </a:defRPr>
            </a:pPr>
            <a:r>
              <a:rPr sz="1350" b="1">
                <a:solidFill>
                  <a:srgbClr val="F2FAF9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086446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526627-8732-4639-8284-2F1F0BF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0477C-497C-4E5A-95A4-8D3EE9A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676AD-06DA-4D86-B2CC-74A5D76E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PROJEÇÃO POR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838D6-6233-42D4-BFE6-4201FE06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08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C3390-BCB9-45D9-91FD-5577B069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44f123b8e470a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7F79-A60D-4C0C-9651-59BC056B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51251-53E2-4813-B1E5-A43ADDC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55E18-8FB1-44D5-A9CF-91BBC0B8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Quem compõe o faturamento projetado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372EB-4A14-47A5-9F7A-67B7DB23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A composição mensal reflete o cronograma contratual e a evolução prevista da carteira de clientes.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40BD7-5140-4A94-B2C2-948B909A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457700"/>
          </a:xfrm>
          <a:prstGeom xmlns:a="http://schemas.openxmlformats.org/drawingml/2006/main" prst="roundRect">
            <a:avLst>
              <a:gd name="adj" fmla="val 2564"/>
            </a:avLst>
          </a:prstGeom>
          <a:gradFill xmlns:a="http://schemas.openxmlformats.org/drawingml/2006/main">
            <a:gsLst>
              <a:gs pos="0">
                <a:srgbClr val="0C1C24"/>
              </a:gs>
              <a:gs pos="100000">
                <a:srgbClr val="06121A"/>
              </a:gs>
            </a:gsLst>
            <a:lin/>
          </a:gradFill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0cc2052c44f61">
            <a:extLst>
              <a:ext uri="{96DAC541-7B7A-43D3-8B79-37D633B846F1}">
                <asvg:svgBlip xmlns:asvg="http://schemas.microsoft.com/office/drawing/2016/SVG/main" r:embed="R80741fb50e5e45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752600"/>
            <a:ext cx="10706100" cy="3790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DA8B1-32E7-4996-8DE9-7135DBE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6DC2E-A6FA-4D6A-853C-7498A19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2115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AXIA Energia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8F373-4164-477E-B968-AA49E524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05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2F1FD-BCAC-4696-9427-82F752E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830" y="5600700"/>
            <a:ext cx="9944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Petrobras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FB265-92E6-426E-86F1-0FDB7898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24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84BC7-2819-4653-BC0F-37B86DC7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5600700"/>
            <a:ext cx="15011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Enel Green Power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C9DED-BAFB-490F-B194-A7AF9991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3C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070AB-9006-486B-A76F-689A35D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630" y="5600700"/>
            <a:ext cx="15011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Belém Bioenergia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48D1D-2F4E-420E-A06B-FAA771FF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7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F585D-AB57-4213-B309-90610E4C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895" y="5600700"/>
            <a:ext cx="8496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Flessak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31FDF-D077-4C18-828D-711C8787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C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15F8F-B04D-408C-A880-2521B031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007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CEMIG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E8298-58E4-4A42-A48C-AB18CD32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3880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7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1641E-DE23-4977-9D41-D1F4C75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00700"/>
            <a:ext cx="7772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Harbin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62C36-619C-4024-9131-350ED21C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0E9A3-F1CE-4745-9D04-BC8558FF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2839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ArcelorMittal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0007B0-C0CE-46E4-AD62-78DC6095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95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A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4232DD-1D97-42A2-B630-3364CEC0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810250"/>
            <a:ext cx="84963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Andritz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67CC7E-5CF9-466E-8385-E1D1E20B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AA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2CF0F2-A90F-4F1E-B4B5-16DB9C2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102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Âmbar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D43A5-8AA9-45DF-AE2D-4F311EF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848350"/>
            <a:ext cx="171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1BAED-8C04-4E03-96C2-54CF823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0250"/>
            <a:ext cx="1356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A5AB"/>
                </a:solidFill>
              </a:defRPr>
            </a:pPr>
            <a:r>
              <a:rPr sz="975">
                <a:solidFill>
                  <a:srgbClr val="8CA5AB"/>
                </a:solidFill>
              </a:rPr>
              <a:t>Hydro Alunorte</a:t>
            </a:r>
          </a:p>
        </p:txBody>
      </p:sp>
    </p:spTree>
    <p:extLst>
      <p:ext uri="{BB962C8B-B14F-4D97-AF65-F5344CB8AC3E}">
        <p14:creationId xmlns:p14="http://schemas.microsoft.com/office/powerpoint/2010/main" val="619135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103BEC2-50CF-471B-A953-1F0A33CA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212F1-6F93-4A81-83ED-5F864E14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D9739-BFFD-43A5-ADCE-650D72AD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2FD41-D99E-4BCF-931D-C2BC223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09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DA645-9462-4895-BD23-93C92BD5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f83273c864212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9A461-6A94-444C-97FC-481F6ED7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8577-60F8-48E6-BB04-564C79CD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4BAE1-8AE8-4976-9EF0-58D095BF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Todos os valores por trás dos gráficos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8F604-23FA-4CDB-AFD3-1CC5F654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Dados informados do sistema na Projeção Financeira. As competências projetadas seguem na sequência cronológica, destacadas em cor.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B31DD-FE83-4A6D-AFBC-7236408B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93872-D299-4750-A62D-5A8F65E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A3D9E-1EE0-41DC-8D85-2E2CE520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AAB46-7989-4589-893A-CCDBE38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86751-0D0C-427C-BD6B-91FDA378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6DA88-6AB5-4671-A2CB-43F1D192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ED649-8FFD-42C9-AF99-0D02DF2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07727-9991-45E8-818F-33B1F90F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6010C-9AD4-4177-A0F0-6327666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jan de 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CDA17-FA18-4C00-9E5F-86744124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R$ 6.789.213,81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46DEC-5AF7-477D-8744-91F2AA6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R$ 890.704,19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BF57A-338C-4BDE-B921-F5BA270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R$ 5.898.509,62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45626-2B91-4281-A5C3-6681929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R$ 5.898.509,62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C3290-2D1D-4B65-92A5-E0DE6A39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FA8F7-5BA0-4468-B774-D4BADE63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BFF4C-DBAD-49C4-B5C5-38A72FD4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fev de 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835733-1558-4344-BE3C-775F8C3C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R$ 3.817.372,69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85ABE-A3F3-467D-9EB8-84E17B91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R$ 1.020.426,58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44E08-5928-4765-86E8-489207BC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R$ 2.796.946,11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5C323-8FEB-48C1-871F-5CAC9D83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R$ 8.695.455,73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F526D-6248-4B1A-BBD2-659871E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FAF4B-CFD4-46CD-9A33-971FC52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mar de 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4DC53-12F9-48AF-A814-58CB64C2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R$ 4.732.792,38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07CF72-46DE-42E6-9D4D-3DA0FDCF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R$ 1.185.267,32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E096CE-275B-4B84-B524-4162912C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R$ 3.547.525,06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D0DF39-3FAB-449B-844D-DCBAD22D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R$ 12.242.980,79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40C6A-2EF1-4004-8925-F5CE6277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F3AE43-AE16-4CFB-B265-E9900EA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366888-EAED-46D5-B0AC-1006BD49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abr de 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7E69E2-CECC-4189-BAB6-BE53A69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R$ 7.231.990,50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BDCC55-3339-4D8F-961E-3D513DD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R$ 1.174.044,87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F2B3C5-4B47-4966-90A7-53CB86C1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R$ 6.057.945,63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1D54B2-01F7-4F50-8E98-031F3CD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R$ 18.300.926,42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7BF108-695A-4760-A2B4-A6DCE83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928DFC-0747-4A47-8DE6-458E2C2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mai de 24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DCC6AE-7FBB-4F2F-9773-F0A373E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R$ 5.506.503,71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BA4BCA-FC13-405A-BB69-E9AC3B1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R$ 1.091.167,43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2D6207-D6CE-43B5-8D95-C1AD629C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R$ 4.415.336,28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919AFE-ACDD-4988-92F3-1D49F8F4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R$ 22.716.262,70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80F328-14DF-4C72-8938-AE2B15D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05F4ED-86DB-4107-832B-AEBEA2D1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200242-3BA9-4EAF-B7F4-5CA7AB1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jun de 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7051C5-D122-4966-8D8C-FCF7B39B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R$ 4.380.902,39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A04E2B-45EF-4916-BD7B-55487C1B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R$ 1.133.609,80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786B53-DA8D-4DD0-A567-B720D4B3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R$ 3.247.292,59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B04FC1-C4E6-48A0-AD10-A51D5A49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R$ 25.963.555,29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B12758-6DD0-4B18-AC63-7DEEF8BA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DC15F4-9C21-4932-9555-FE1FB75D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jul de 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5ED911-63A3-4A82-A18B-292A08D3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R$ 6.510.910,49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01475A-66CE-4A9E-8FC1-DC9EDE24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R$ 1.113.424,01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57B330-835D-46D8-8E38-677C9FA6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R$ 5.397.486,48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1AE28F-7A86-4BE6-BB9A-C9B5ECE5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R$ 31.361.041,77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E3D1D4-C204-4604-9B23-2145FB2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AF20AA-A32F-4DF8-A3EE-30A3AC93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BC6CD7-DFCA-47F6-8E2E-037D57B2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ago de 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418D8A-AF9C-4CCC-B187-62636640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R$ 5.421.686,74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09E8AF-2839-44FB-A510-8BDF2D8C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R$ 1.040.357,05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2485011-D61B-4D89-B349-CB56AE9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R$ 4.381.329,69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F3C84C-5E55-422C-A77A-F36D6A24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R$ 35.742.371,46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C49428A-CCC9-448C-BE56-28C3095B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A00086-A6D6-414F-ADBA-55C41990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set de 24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0FC55AF-B3E4-4605-B32D-17E5B27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R$ 5.682.241,80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0AE899-A0B1-476F-83B6-306C5C38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R$ 859.008,24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4BBBD8-EA8D-43C2-86FE-AA83D68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R$ 4.823.233,56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AA56FE-C8DE-4425-BCEE-E05961A0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R$ 40.565.605,02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D6AD65-EE02-4C35-A591-389CEDCC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91E5F5-7BA2-41C1-9AA3-CA51460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CFBF57-CFB7-43D5-8013-C5021A4E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out de 24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51B98F-9554-4E68-9263-CE40A49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R$ 8.541.056,13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EA504D8-F043-4141-A635-B414C4B8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R$ 897.448,27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92FA8EB-D155-4AB7-8DCB-7AC9D13F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R$ 7.643.607,86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9067FE-8CDE-4E1E-B481-EF8048E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R$ 48.209.212,88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7D3894-E6A8-4A3D-8421-38CF2E0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6C57799-F92B-41F7-95F2-AF90F60F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nov de 24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1F4BFD-0EDA-4A6B-9BBB-F78D9521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R$ 7.608.873,04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A248A5B-45A5-4F09-82D3-0E08987A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R$ 1.021.448,72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A1FE3C-242F-4639-9B43-69F3CD4D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R$ 6.587.424,32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AC3E65-B85E-4887-BA6D-A777E5C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R$ 54.796.637,20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177CC7-8E5C-4D96-A198-ED03DCF9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E015854-E948-401B-B96E-4B3F8238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F22D670-91D4-4290-A285-62CBF50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dez de 24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B562716-B939-4C47-BAB8-E59D06B0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R$ 12.158.119,93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0E03465-4D97-476A-8984-918E86C7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R$ 953.973,58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C5FEE0-936C-4068-8CF2-38FB6C2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R$ 11.204.146,35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1E9F85-3E7B-4B09-A7D8-C88F152A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R$ 66.000.783,55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8F4623-9435-49E0-8528-5E7AA71C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28C279-093A-43A8-80FC-B50FF2A1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jan de 25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D7A5EEB-C2F4-45FF-A97F-F84686A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R$ 6.481.505,36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818C9D5-81A6-42E8-9C18-E19A4F09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R$ 1.331.022,91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CFDFB8-40B0-40F1-B5BE-AABAE573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R$ 5.150.482,45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E98FE1D-394B-43A2-AF25-0C711456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R$ 71.151.266,00</a:t>
            </a:r>
          </a:p>
        </p:txBody>
      </p:sp>
    </p:spTree>
    <p:extLst>
      <p:ext uri="{BB962C8B-B14F-4D97-AF65-F5344CB8AC3E}">
        <p14:creationId xmlns:p14="http://schemas.microsoft.com/office/powerpoint/2010/main" val="1462693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1D69FD2-9D58-492D-A85E-3FE4570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CE411-BC28-4025-B196-B7CA584E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5A600-1E26-478E-9277-B702FB3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A08B0-46F8-42FF-A5AA-3AB9FB2F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10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44B53-231B-40EB-B7CA-37E7D48C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421493c114c78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B9D1E-ACFA-410A-8FAA-2905AE0B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703C5-F38A-4CCB-BBFF-8C4F1A6F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A5D1F-55D2-4CAB-909C-FB959C11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E8811-3196-4A67-ADE5-191B827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Continuação da base: folha 2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7E1A2-4887-4AE3-982C-7DFF3257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85768-841A-4D49-B12C-E7164A0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05BD9-D55F-4C47-955E-0216FE8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61351-71FC-4F98-AAC5-386A0A1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47A34-5ECA-49E7-A248-C880F917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BF7B7-15A9-4288-B290-2F640D10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8E81B-0AB2-4C5D-8C38-6756AAB6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71A3A-82D3-4D73-8016-3CA70E8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BF820-8B72-4284-9150-F21B910B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A3232-D638-4E24-A7C5-098068AC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fev de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FC4A4-C99A-42E9-8F3E-E0F1D1BC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R$ 7.218.837,49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D36AC-9EE0-4FB2-A68F-60D58718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R$ 1.310.101,05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1C725-49F5-4650-8AD7-1405BA9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R$ 5.908.736,44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8D605-2F2C-4AA4-BB63-69B0AC93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R$ 77.060.002,44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7FF62-D665-41CA-A6E1-94DFC593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2FFA1-DC6E-4504-BAD0-8F3F7F9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mar de 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ABAC9-E7C5-40F3-A488-3BDC1EE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R$ 7.554.012,04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7FB18-3A4A-4A34-9264-0F1CB35E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R$ 1.354.501,90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EAAE8-E30C-493D-9C11-0230776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R$ 6.199.510,14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7AD4D-4812-417B-9659-0AD75AA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R$ 83.259.512,58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A60D3-2C34-4942-8646-9FDDF562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D46E39-AB81-4DD2-8B5D-EF391FDA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EFF83-BFF2-409D-922F-180FCC5F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abr de 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802F4F-65A7-475C-AF59-1BEC3457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R$ 4.739.459,41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237932-0F7D-42A6-8613-FA7FD5D4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R$ 1.531.002,29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F77C77-E019-4048-967B-8F2CDB9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R$ 3.208.457,12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252EF9-E250-4EA3-A422-B408BE1A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R$ 86.467.969,70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3B41D-A27D-4546-8DFF-34BE8B11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300F35-5D69-4839-B2DC-5B1D74FF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mai de 25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DFBFBB-E2FC-4EB4-900D-9AFBD9D2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R$ 6.235.104,42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AB06A3-5222-4ADA-8B38-553EAE27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R$ 1.761.893,50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69BA77-150F-41EA-9540-304423EC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R$ 4.473.210,92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92DE14-8296-47D0-BE26-B862C54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R$ 90.941.180,62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B3482E-5FE6-4992-BCFA-609F7723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D81616-1DB0-427F-81EE-5EE405F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2E7E4A-7F85-44BF-81E5-044FE93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jun de 25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6573B5-97FB-4A19-9C1F-06239DE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R$ 3.511.692,47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E938F5-FE3C-4FD9-AE35-35E0A77A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R$ 1.523.207,92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DBF1D-90EB-4FCA-A6D9-F49831D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R$ 1.988.484,55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F64647-DE93-49E8-8B53-CCD7CD99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R$ 92.929.665,17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B5048F-DCCB-4EEF-863A-031C1E0C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56C7A0-5A24-4A25-87C7-308DD149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jul de 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D0598D-4F94-4215-9827-391D454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R$ 3.267.455,46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83F463-C132-467B-963E-7B24344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R$ 1.574.251,96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BE0CFF-96D7-45BC-9649-49A1730A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R$ 1.693.203,50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615573-630F-41F1-B3DF-AA49BD90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R$ 94.622.868,67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D903B6-3CE4-4AF7-897B-266953F0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51431A-ABAF-44AA-A72F-3961F13A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A04683-B044-4410-A778-B09055D2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ago de 25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31E7B9-A08D-4063-A356-BAA51574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R$ 4.042.135,73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A52B26-A66B-482C-ACDA-2A8E4EC2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R$ 1.597.750,18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3E0735-8DBE-46CF-BA40-91EA32E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R$ 2.444.385,55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4EB9C4-4E8A-4571-9474-59434B87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R$ 97.067.254,22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A4D8F3-3334-45F3-AE50-F2D8B2C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F8B6DC-D0DF-432E-94B7-DE4D9E0A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set de 25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02E814-55BA-48AB-AEEC-E6A89932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R$ 5.879.203,03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D33C64-4C86-4DD6-B208-5F81405F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R$ 1.644.127,33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B79AA3-68AD-49D5-AC44-112FA53F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R$ 4.235.075,70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0B6995-F227-46C3-89E7-E018EC28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R$ 101.302.329,92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E78A4B-2A43-4FBA-936D-B98FC6DA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D40EB0-E961-4662-93E1-01BAACF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C7CDE6-D063-4DFF-AC8E-7EEB25B8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out de 25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99FD89-6800-4D26-9F60-92B250D8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R$ 4.431.996,15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CBC7B3-2824-41C4-9EDD-58ADAB6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R$ 1.728.097,81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9785EA-3BD0-46C8-B101-9A6B5C19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R$ 2.703.898,34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CEB741-07FF-41B4-AF9C-912258E0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R$ 104.006.228,26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61631C-CE6D-4051-A82B-EB6E7D8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CF4822A-BE1A-44B6-A456-CDA64DD2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nov de 25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E6CB0E-E993-4811-8961-A4658BE4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R$ 10.858.257,81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3C6B96-C4C7-4673-97C2-A511938A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R$ 1.877.160,31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FF363A-59FA-4741-852D-C89392E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R$ 8.981.097,50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D79B17-3F16-40D0-BD47-3D0F3C2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R$ 112.987.325,76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3062C0-2BAB-4CEB-BFBB-0E477985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212F61-CC12-4E55-8839-F8647776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84054D3-A96B-4722-A723-B655A475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dez de 25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9EABA2-72E5-4880-8131-1B95B9FC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R$ 2.904.942,16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DEB35F-C9D0-419A-A75F-037EEFC7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R$ 1.964.681,62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68D042-D76A-4CE8-BB1B-5BEE5CC0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R$ 940.260,54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0C3C1F9-0292-4556-AFE8-6170A3D3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R$ 113.927.586,30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0E5BB79-74DC-49CF-85EA-5568E0C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1FE2BEE-348C-467C-ADFD-984CAB3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jan de 26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8B9BD4D-8761-4ABE-95F8-948DE2B3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R$ 10.366.331,04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1B53CD-A4D4-4BA0-ADD0-D91194CE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R$ 3.208.000,00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FB6BBEA-054F-4714-A75E-F2893D22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R$ 7.158.331,04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C897DE-57F0-4E08-8E6E-CEE5C4FF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R$ 121.085.917,34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2E79045-CE49-4D84-B5C8-0BCF6BF4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6A3049-0B8B-467F-96DF-FA90EBA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177E59-3595-46DE-872D-33A54BC0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fev de 26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D0F0E61-AC22-46DE-811D-FC114353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R$ 4.700.897,81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08CBBFB-AAB1-4863-9EE6-8A514C2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R$ 3.389.000,00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B41C6C1-5E66-4FCA-9CD5-965B628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R$ 1.311.897,81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35DEA0-7B28-4EC3-A955-F729EA02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R$ 122.397.815,15</a:t>
            </a:r>
          </a:p>
        </p:txBody>
      </p:sp>
    </p:spTree>
    <p:extLst>
      <p:ext uri="{BB962C8B-B14F-4D97-AF65-F5344CB8AC3E}">
        <p14:creationId xmlns:p14="http://schemas.microsoft.com/office/powerpoint/2010/main" val="856229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02B43C1-F6DF-49CB-9B93-D321C385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82238-0A76-45E8-8F72-2DC66030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21E52-8657-4853-B999-ADD67941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4557D-AFBD-4F1D-B8E5-80640390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11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2DE7-8018-4864-A037-D6E95688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983b3b3f64ba1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09AD4-1695-4E91-B5D0-27F1D7AA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FD356-A3E8-4DA8-964B-9E79C961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D74D2-5AF4-4202-8001-C6F3667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E3332-8DA9-440F-AE36-10D4C6DE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Continuação da base: folha 3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11EC5-3192-4D98-AAF6-A95C237B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D013B-0ABF-4E67-AB92-8875BBB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8266D-4B32-43AB-B3EC-9B8DBA6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7E35A-43E6-47D7-BBAF-CBC2AE8F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F0C26-D7F1-455B-9CDF-0B3B2AF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8F457-DCB4-45C2-A90D-567C3759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7DAFB-31E8-4371-95D5-52184F74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C623D-9238-4A42-BA97-813E0BC5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86C21-C64B-4F7B-A220-EEE1A11F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mar de 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47153-35AD-4F36-A8FB-C98CC5A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R$ 5.650.881,81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1050A-93E1-4457-BD72-2DFD5274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R$ 3.266.000,00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66969-5870-43F6-9F0E-E9BF9D2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R$ 2.384.881,81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27DD7-3BD7-4A53-AA88-66E3A4B1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R$ 124.782.696,96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92017-780F-40F9-8C97-3091DBC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81FCB-B5B0-4D3E-AC99-4878A9BC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6BB29-850F-478D-93DE-798854E2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abr de 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3C8F7-6C55-44B8-BFB6-F0197C5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R$ 5.897.524,13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E12C6B-06A5-4E4E-B1A0-BA3D5C8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R$ 3.360.000,00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B07D7-90E0-438F-88AD-210697D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R$ 2.537.524,13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35035C-F03E-4D60-B8E0-5AFABFEA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R$ 127.320.221,09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3BDE6-625C-4D25-8A70-DA26D7E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AB022B-4968-4517-81E8-7D8D5E4E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mai de 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23D92-00AA-496D-B914-931D4615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R$ 7.355.196,27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753FAB-ED00-4893-8CE3-5BF3DD67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R$ 2.953.000,00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F676A-FBCF-4B79-A83F-96A255B5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R$ 4.402.196,27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F624DD-EF1E-44E3-B573-68C44B7E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R$ 131.722.417,36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19034C-4BDA-451A-87E8-98548362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D06F8-A366-4642-9811-AF1A38A2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DD279-112A-4212-88AF-CF244CF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jun de 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82D3CB-D4F7-4B50-A5A5-6F454C8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R$ 7.178.434,69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DB0C0-3ED5-4631-AF17-89235B8E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R$ 3.108.000,00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1DB032-7463-4EE8-A6C0-633CE713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R$ 4.070.434,69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39E1FE-A1C2-4F32-97F2-B595184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R$ 135.792.852,05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46F53F-86C7-4827-9835-46606C79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50C63F-C39F-4A52-A717-C37DB0C6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jul de 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3FC1E1-0C77-4733-B096-B5C88825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R$ 4.978.967,55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27931B-6140-4B0A-8E24-22D102D8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814822-5359-4C04-B1EF-B95D9FBE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R$ 4.978.967,55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F87FA-4721-48FA-BB97-EEDE2AA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R$ 140.771.819,60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9EC853-EB95-4955-A3CC-893BAAB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24263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C9DFF"/>
                </a:solidFill>
              </a:defRPr>
            </a:pPr>
            <a:r>
              <a:rPr sz="825" b="1">
                <a:solidFill>
                  <a:srgbClr val="4C9DFF"/>
                </a:solidFill>
              </a:rPr>
              <a:t>PROJEÇÃO — COMPETÊNCIAS AINDA NÃO FECHADAS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B37977-8983-44D3-80ED-B3C3427B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C619BC-96CC-45DE-A866-3727E58F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04D537-4E30-4D8A-9B75-D28D48B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DB0AB6-82B3-4EDB-ABF8-5C136F0F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ago de 26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1CA301-49BE-4CC1-BD0D-A7075069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R$ 11.459.330,09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8F9C71-0C15-4F31-AA5A-5588F5D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R$ 1.512.430,00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ED44E0-823B-43FD-9CA5-C2A9BC4D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R$ 9.946.900,09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9A0F95-401F-4778-8E39-C828EF1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R$ 150.718.719,69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E30ECD-0386-4C03-BA00-8F3DA6C7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FA873E-A096-4CE5-AF99-6ADB799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set de 26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839062-237B-4AB2-95D1-F2C3897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R$ 5.617.810,24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F14F37-698A-40D6-9687-B822B466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R$ 1.387.850,00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1F7C83-A835-4CE0-9248-522324E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R$ 4.229.960,24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ED9FAD-07F1-4269-9390-157AAB4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R$ 154.948.679,93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0086EC-12A3-4861-A10E-FA18440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30D59F-8535-4616-ACAF-BFEDE32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5C88C7-9474-48D4-A016-CC16671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out de 26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0E0948-991B-4533-9D29-4906A659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R$ 10.000.000,00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8B3CB5-AFAB-48DB-AE4A-330CB4B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R$ 1.634.720,00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A0DA43-47B2-4E9E-A15D-336DB4D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R$ 8.365.280,00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4D88E4-B42A-48C8-89F4-1F1DBE78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R$ 163.313.959,93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7F23E1-4B5C-4AC6-B8DB-C3C3094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70A9C2-061F-44E9-B929-09D365E7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nov de 26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5FACF3-9ECB-470D-ADDF-2E721954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R$ 10.725.000,00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AEEF46-E8A4-43BA-A0E6-954D19FD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R$ 1.728.940,00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8BDA9C-8699-4BC4-B94C-A6C96A3F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R$ 8.996.060,00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DCFF6D-D0C9-4152-B8B5-6C15FC5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R$ 172.310.019,93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BE209F-E281-4B28-A90D-3DC8C53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190984C-DB2F-4157-9743-A8A647C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44BE0A-8AD4-4834-B332-1365DD7A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dez de 26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F0CC6A-4BC2-4477-B4ED-5165FDB3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R$ 10.502.461,80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E41F55-DEC9-41E5-9BCE-46F6474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R$ 1.596.380,00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71E083-455A-4370-A16E-3A2FECA9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R$ 8.906.081,80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714DA5-56B6-4FBF-8EA3-4674C163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R$ 181.216.101,73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4BD48C-94AC-4B7C-ABCE-9ED4C7DF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63A72D-9274-4FC1-8E26-8C4D821E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jan de 27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4B246D-1816-4FE2-8D0F-AEA8BC7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R$ 12.200.000,00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BB193C1-4AFE-4391-928A-3D2579B9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R$ 1.682.510,00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55B8342-30ED-4891-8189-57230A9D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R$ 10.517.490,00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18144A6-EDA0-4D3C-BAA5-68AD496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R$ 191.733.591,73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F4E8CB-F40F-4ADB-A522-AA88039C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BBB3B44-5F82-427E-A0BA-D673314D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937B8FB-E045-45BE-A8AE-0741072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fev de 27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D7D5E6-2DC8-42F1-B64A-D081FFC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R$ 11.800.000,00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95D4952-7E8C-45CC-BE1A-26488E4F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R$ 1.574.260,00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BE730C-D942-40F2-96AB-AC8D7E00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R$ 10.225.740,00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CC09CC-4180-486E-95DC-0814E32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R$ 201.959.331,73</a:t>
            </a:r>
          </a:p>
        </p:txBody>
      </p:sp>
    </p:spTree>
    <p:extLst>
      <p:ext uri="{BB962C8B-B14F-4D97-AF65-F5344CB8AC3E}">
        <p14:creationId xmlns:p14="http://schemas.microsoft.com/office/powerpoint/2010/main" val="1352578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922829-16B7-47F0-8230-E5BCFB4D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69BF-FEAC-4A69-ABB7-BBE4B4D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4D4DF-B3FA-4A17-8D77-403EF1DB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1588E-F571-4F9A-B591-01D55D3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12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5B1BD-42EA-40EB-9721-C608FDFA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8ad26ad6845bd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7BB13-1973-4A31-B77E-BA46150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8FD46-9B88-4F79-B29E-F0499749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74497-1EAE-4585-9B2E-AA6F50B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C07DA-8512-4412-9BC3-655F11D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Continuação da base: folha 4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0529B-42DD-4162-B749-3BA2DD89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5F3BD-901A-4669-AB30-7700C38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31FF7-8E59-45D7-B365-2B8DE802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DD301-BDEA-4145-9F73-E3DAD95F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D8E4B-07E8-4B4B-97C3-2399633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ED3CE-F404-4E93-AC74-F33E4E6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0C33C-0F91-46A1-8632-43645F9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62787-3A14-482B-B143-BBB1B8B6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B72C5-6E7C-4485-B0E9-E0DD4439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mar de 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84E05-5A6E-48D2-B7FE-5BC627A9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R$ 11.200.000,00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D9C9F-507B-40A7-94D7-63ED5680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R$ 1.493.870,00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A1FD9-65D6-4093-B3FA-24277A1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R$ 9.706.130,00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27FF5-9C5A-4425-9EBF-A119362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R$ 211.665.461,73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42A14-70B5-42F2-BF7B-D38885F2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95CD8-3DA8-4CE8-8E88-0D41BD5E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9C5EA8-C901-4291-B145-14A398CB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abr de 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05712-96CD-4C32-8B0E-0DAD7959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R$ 10.500.000,00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5403E-FB22-446A-8680-09EE223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R$ 1.421.650,00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FA7907-F008-440A-8F6F-42A6D514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R$ 9.078.350,00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FBD7C4-2080-40DD-B0E5-17D15E1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R$ 220.743.811,73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CFD48E-B784-4188-B40C-7CDC6D3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5C8BFE-7CDE-4D12-91A0-FD9C2AA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mai de 27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C61FFC-F08B-4957-84B6-D20D8F2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R$ 10.100.000,00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3621C8-1857-4FEA-BC3E-6A35697E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R$ 1.356.420,00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1ADC83-CF0F-4E7E-A474-8E81BE3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R$ 8.743.580,00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8E22BD-B9EC-4A63-ACA8-B8DFE3B4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R$ 229.487.391,73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F6979-DE16-4C0A-8FF7-11C9145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E7D81-41D3-42A6-8485-71600BC5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B36F1-2975-4EBF-9858-7BB1F730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jun de 27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2E9205-D312-47B5-942D-E3E5C16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R$ 9.500.000,00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C789CE-C4E6-45D6-9FD1-33AB310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R$ 1.318.760,00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4211F3-F003-4422-9D73-A03FE974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R$ 8.181.240,00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2555F0-394E-406D-96D9-AE8D05DA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R$ 237.668.631,73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4F9D66-C2E9-4B77-8599-2809C70A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4C9DDF-80D0-407E-BA17-099CEF25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jul de 27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9561A7-A42C-452E-94E8-CCD38DD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R$ 9.200.000,00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037960-765E-4C1C-B1F2-B5A245C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R$ 1.342.590,00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80ED69-C86F-4400-9D12-FDD34E25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R$ 7.857.410,00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E02033-AB67-4A80-875D-C9951870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R$ 245.526.041,73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80DA35-7534-41DA-AF1C-2E7C7CFD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723C7D-3396-4E7B-843C-C7C0EF85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619429-C905-44FD-BCB1-09EFBFC8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ago de 27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9EB84E-7F2D-45D7-8316-5BDFE1B3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R$ 9.600.000,00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F7A9CC-CF45-4992-8E3A-DBB28D13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R$ 1.397.840,00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6F62A2-AFC1-4DC3-9FC2-24598317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R$ 8.202.160,00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56F6B9-98B5-4326-A733-8C130D97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R$ 253.728.201,73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626F04-C6DE-42E5-9E4D-69E0BE18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489433-28E4-4EDE-8A5A-5981C8E0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set de 27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CE20E0-6CE9-445F-808C-B8792763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R$ 10.500.000,00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58446B-1C06-4EA0-B389-3BE7703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R$ 1.468.230,00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F2FDE2-E7BA-4576-8FD9-7EFD98A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R$ 9.031.770,00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68C931-09AC-4793-811A-4C789005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R$ 262.759.971,73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3DEC78-B250-41CC-8D3E-1FAB8DE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868A7C-1C4B-43E8-968F-50B10058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AB63A6-2D50-4114-BF75-5B397FA1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out de 27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D1A5AE-1E34-489D-BC52-E871FC7E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R$ 11.500.000,00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F3735D-031F-4A5E-B9DE-F951CF0D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R$ 1.559.670,00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4ADA4B-3429-48FF-AC74-D7D9641D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R$ 9.940.330,00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30DFDE-F1B9-44EB-B1A9-209301F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R$ 272.700.301,73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F76A9F-EF15-4321-9393-6AA313E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602AB5-B827-4F3E-842D-62679A17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nov de 27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705E2F-99C4-4A19-9D4D-E0F6FD1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R$ 12.800.000,00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B6AD86-0FDC-4444-99EF-A3E4B973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R$ 1.671.480,00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03FAE74-EA32-4E4E-8656-D73F5DE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R$ 11.128.520,00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A77613-36F6-4ABE-8704-E89F9C7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R$ 283.828.821,73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7E8C822-DEF1-47CC-9EEB-9505DDF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BE3656-8FA5-4E64-B877-B65F9843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EF55B0-3DAB-40C2-BF66-A2310CB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dez de 27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5C24E11-5034-48D1-9145-AEC4FAB4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R$ 14.050.000,00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8F010C-AD92-467A-89CE-88618A8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R$ 1.739.250,00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35E58F8-7658-425C-B85A-62D100F8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R$ 12.310.750,00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F8690B-D0B8-4742-BE21-F74E918D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R$ 296.139.571,73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CA7F6F-726C-43C9-B945-1596A35D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55D8BAF-96A0-4E55-9FA7-6AD2AF43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jan de 28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551175B-68F3-4BEB-9088-FD4EAE95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R$ 13.750.000,00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2F5C96-61F2-4082-AC9D-750F22E2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R$ 1.696.840,00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2E36763-92B8-405D-B086-453C9B0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R$ 12.053.160,00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1CFF0B-1AFF-4B00-9D62-C95C474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R$ 308.192.731,73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453E56-5D56-4BEA-B217-BE129D36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3CAEEC-AFD3-453C-95C8-1433FFE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870ED4-AA46-4592-A2C7-B8B218A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fev de 28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E40795-94C3-4952-9DC6-5F12296A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R$ 13.000.000,00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7BE4ED1-FF72-4C63-AB1B-D286542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R$ 1.612.370,00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2596B1-8224-4E2C-8746-32D19CF5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R$ 11.387.630,00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6D9DA2-642D-4090-9523-C7F67E7F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R$ 319.580.361,73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864EF54-77CC-4344-915E-7489C89E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5EC03F0-AEE0-4199-A979-C4BEB79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150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mar de 28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0C9EF4F-2FAF-410A-AB06-AB106F8C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R$ 12.300.000,00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E37D56E-1627-4D63-8E87-E070E423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150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R$ 1.529.680,00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926CDDB-8649-4968-9316-882D331A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R$ 10.770.320,00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81AE2E-9039-4DA3-8CA5-4B9CB294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50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R$ 330.350.681,73</a:t>
            </a:r>
          </a:p>
        </p:txBody>
      </p:sp>
    </p:spTree>
    <p:extLst>
      <p:ext uri="{BB962C8B-B14F-4D97-AF65-F5344CB8AC3E}">
        <p14:creationId xmlns:p14="http://schemas.microsoft.com/office/powerpoint/2010/main" val="10720718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D73EFA0-520F-40D9-BC6E-5AE3B609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04782-E9F2-4599-8E0D-FA6FC98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55CFE-E25C-4D77-98D7-37331657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BASE MENSAL INFORMADA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048EB-F5A2-46AF-A950-5DA8D80D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13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FEC2D-DDB1-49EE-A670-16361C8B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6e9c67a3249d7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D68BF-B1D7-4D40-B0A5-DC16364D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6A14F-EDCA-4FD0-A5DE-1B5C63A3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3C955-C74D-4178-B559-1F6BBE4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Base mensal informada — continuação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3D6A5-39DB-468F-984D-0B84DFB1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Continuação da base: folha 5 de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97875-9177-4F4A-9381-E443DE9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5BAA7-4B11-4695-99FC-5128AEA3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1837A-DD25-4869-AE4D-17C3D2A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8313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COMPETÊNCIA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66580-7D46-43BB-B2E9-A9B55E71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1B3B3-DCA4-4714-9A3E-65088F4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8313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FOLHA + ENCARGOS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B7B8A-1727-454C-B476-4D2C692B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SALDO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CB791-A05C-4E57-B84E-D9A77DD0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38313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ACUMULADO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AC2E8-A0CF-46B9-84B6-EE1D982B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5F396-AEB2-4B3B-81BC-1F7EC43C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D3B9B-7276-43A1-AB36-B730B876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31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abr de 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E01BB-65F5-465B-8E52-47517A3E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R$ 11.500.000,00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43479-D4AA-44A9-A752-9898B3A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31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R$ 1.447.340,00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45393-4CDF-4027-A08A-1124CBE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R$ 10.052.660,00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E41E3-F998-49A2-802F-501CE3A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431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R$ 340.403.341,73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5A809-19A1-4313-9DEC-B31E3B2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9B7E1-3F6A-429A-8113-CD3CCE9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74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mai de 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84071-BA85-48E7-AB10-26CE50A9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R$ 10.800.000,00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54B96-0787-430E-B521-862C9838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574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R$ 1.378.920,00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9580E-6522-48A7-AEAD-FC04099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R$ 9.421.080,00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49FB3-A34C-4B45-AD3D-33AB1BD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74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R$ 349.824.421,73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74E533-602F-41AA-992F-32CA2CE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F96D3-59D8-40E0-880A-2BACE0B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A7F99-4D63-4F9A-B684-70E815AF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17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jun de 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BF118B-8958-4951-8626-9E72C9BC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R$ 9.800.000,00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1373C0-D798-4F4E-AF7E-2258850C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717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R$ 1.326.410,00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3C4FE-02EA-4916-A118-FAB1390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R$ 8.473.590,00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64C3CE-571C-476C-A4AF-494AEEDA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717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R$ 358.298.011,73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54D2D8-007D-4F24-B823-93976860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6B1856-9F4E-4644-B215-36601A80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60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jul de 28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5D87DA-B479-483F-ADD4-A07CE4E0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R$ 9.500.000,00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A0D8AD-41C4-4EE8-ABB2-BC19997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860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R$ 1.349.870,00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CBA8A7-742E-4F53-9730-0984E62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R$ 8.150.130,00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A37597-34BC-4378-A286-A1FA6A7A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860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R$ 366.448.141,73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8281F-6666-4E60-A462-EBB15965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0FC0D3-21C4-4962-972B-5AD2628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14DF8E-F6AE-4167-92C0-67E9166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04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ago de 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EB44B1-59D3-4BAB-AB20-946F713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R$ 10.000.000,00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63FAFD-E16F-49DD-8BDA-BC558AA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04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R$ 1.408.630,00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ED864B-A03E-4031-9E56-627756A9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R$ 8.591.370,00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955E63-A7AE-4B78-83B2-57975E70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004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R$ 375.039.511,73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A7A213-6443-486B-8569-5B9796A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403158-B2CB-402D-8D53-908A7992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47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set de 28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D27ED9-294F-4B02-95BA-C8975ADF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R$ 11.300.000,00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33D738-82B4-46AA-88FE-654ADD03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47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R$ 1.482.760,00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9227D5-6AE8-451F-8BCE-236141B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R$ 9.817.240,00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5E622A-CF1B-468F-999B-3CA1019A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147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R$ 384.856.751,73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4B10D1-2542-4AED-BC2E-16AA176B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673336-25AA-4BE1-8BD1-F7ABD6DD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5CACC9-5FCF-4AB6-BDA1-7379B294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90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out de 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3C7E78-9770-4CF4-A473-274FA489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R$ 12.600.000,00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BC5B4C-A45E-45FE-8B73-2F45D93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290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R$ 1.578.140,00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E84DCE-EA24-4921-B6DF-92B8764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R$ 11.021.860,00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819590-17E6-47FD-BE1B-1EDA8C4F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290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R$ 395.878.611,73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6627B2-0F21-412A-9ACB-43AA7F6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F2AD7F-E5CA-47C7-ABBC-BE09596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433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nov de 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2D0C6A-AF48-450B-A440-5F34FE1B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R$ 14.200.000,00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313DA8-331E-498A-8532-0BA18EC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33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R$ 1.689.630,00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B515E8-4076-4DFB-BA84-2D7028BC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R$ 12.510.370,00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E13D49-B65C-4B41-AA54-1B233B0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33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R$ 408.388.981,73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884151-76A1-4DF1-B1B7-3FBF414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491036-B433-4776-BD5B-DB168CB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1A3828-A39F-4A83-9C14-EE57F1CB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771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dez de 28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A27BD3-1416-4788-95D9-98DA869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R$ 15.000.000,00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E3414C-40CA-4BB1-B951-DB05B3C1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771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C9DFF"/>
                </a:solidFill>
              </a:defRPr>
            </a:pPr>
            <a:r>
              <a:rPr sz="1050" b="0">
                <a:solidFill>
                  <a:srgbClr val="4C9DFF"/>
                </a:solidFill>
              </a:rPr>
              <a:t>R$ 1.742.180,00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500F3C-5B1C-433F-9871-59D6D55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35E6BB"/>
                </a:solidFill>
              </a:defRPr>
            </a:pPr>
            <a:r>
              <a:rPr sz="1050" b="0">
                <a:solidFill>
                  <a:srgbClr val="35E6BB"/>
                </a:solidFill>
              </a:rPr>
              <a:t>R$ 13.257.820,00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9C8DAF-732C-4200-9E2B-F577352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5771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BDD"/>
                </a:solidFill>
              </a:defRPr>
            </a:pPr>
            <a:r>
              <a:rPr sz="1050" b="0">
                <a:solidFill>
                  <a:srgbClr val="CBDBDD"/>
                </a:solidFill>
              </a:rPr>
              <a:t>R$ 421.646.801,73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F7FD4C-6B09-4665-AD10-8006395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2237CC-7F22-47DE-ADD3-66D38DED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203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Subtotal realizado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0CAE38-9DD3-4F21-A56C-1ECB05F8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R$ 191.634.498,44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4E8FE12-AB90-40AE-AF55-C7EE694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203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R$ 50.862.678,84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B7EB09-9EED-42D5-BF87-C52D574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R$ 140.771.819,60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E0226CF-EA66-402E-AB4B-06ABABD5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87203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—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9AEFE3-5F57-42D0-B563-92C5B97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85E515-EF91-482C-B7CD-767BA34D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6363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Subtotal projetado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BFEEC8F-4EF1-4FA0-A7CD-0CB43EF1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C9DFF"/>
                </a:solidFill>
              </a:defRPr>
            </a:pPr>
            <a:r>
              <a:rPr sz="1050" b="1">
                <a:solidFill>
                  <a:srgbClr val="4C9DFF"/>
                </a:solidFill>
              </a:rPr>
              <a:t>R$ 325.004.602,13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39704F-6CD0-405F-B75B-BE1EA88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6363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C9DFF"/>
                </a:solidFill>
              </a:defRPr>
            </a:pPr>
            <a:r>
              <a:rPr sz="1050" b="1">
                <a:solidFill>
                  <a:srgbClr val="4C9DFF"/>
                </a:solidFill>
              </a:rPr>
              <a:t>R$ 44.129.620,00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CE184D-9E61-4503-9E17-36858B1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R$ 280.874.982,13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1F0C57-4253-462E-B340-50507067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86363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CA5AB"/>
                </a:solidFill>
              </a:defRPr>
            </a:pPr>
            <a:r>
              <a:rPr sz="1050" b="1">
                <a:solidFill>
                  <a:srgbClr val="8CA5AB"/>
                </a:solidFill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EF2801C-901D-4622-A0A6-36A28BC6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7E296D-D59E-418C-B609-852F4557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2D8604-AA0A-4B36-8206-D62D0C03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00688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AF9"/>
                </a:solidFill>
              </a:defRPr>
            </a:pPr>
            <a:r>
              <a:rPr sz="1050" b="1">
                <a:solidFill>
                  <a:srgbClr val="F2FAF9"/>
                </a:solidFill>
              </a:rPr>
              <a:t>Total do recorte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FAFD77D-71C0-4EB7-82A7-70D42033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AF9"/>
                </a:solidFill>
              </a:defRPr>
            </a:pPr>
            <a:r>
              <a:rPr sz="1050" b="1">
                <a:solidFill>
                  <a:srgbClr val="F2FAF9"/>
                </a:solidFill>
              </a:rPr>
              <a:t>R$ 516.639.100,57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CAB1B8-DB34-4C0C-899A-FA80092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00688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AF9"/>
                </a:solidFill>
              </a:defRPr>
            </a:pPr>
            <a:r>
              <a:rPr sz="1050" b="1">
                <a:solidFill>
                  <a:srgbClr val="F2FAF9"/>
                </a:solidFill>
              </a:rPr>
              <a:t>R$ 94.992.298,84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6A57791-08AF-4D21-ACFA-0CAA62A6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AF9"/>
                </a:solidFill>
              </a:defRPr>
            </a:pPr>
            <a:r>
              <a:rPr sz="1050" b="1">
                <a:solidFill>
                  <a:srgbClr val="F2FAF9"/>
                </a:solidFill>
              </a:rPr>
              <a:t>R$ 421.646.801,73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099FE7-8047-4E87-BAA7-7EDD2359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0688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2FAF9"/>
                </a:solidFill>
              </a:defRPr>
            </a:pPr>
            <a:r>
              <a:rPr sz="1050" b="1">
                <a:solidFill>
                  <a:srgbClr val="F2FAF9"/>
                </a:solidFill>
              </a:rPr>
              <a:t>R$ 421.646.801,73</a:t>
            </a:r>
          </a:p>
        </p:txBody>
      </p:sp>
    </p:spTree>
    <p:extLst>
      <p:ext uri="{BB962C8B-B14F-4D97-AF65-F5344CB8AC3E}">
        <p14:creationId xmlns:p14="http://schemas.microsoft.com/office/powerpoint/2010/main" val="1471596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AD5BB1-4A6A-4EF2-9458-E29867E8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54A74-F6A0-4C8F-B6D2-BDB5B10B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DFC9F-87DC-423A-9969-6077133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E6BB"/>
                </a:solidFill>
              </a:defRPr>
            </a:pPr>
            <a:r>
              <a:rPr sz="975" b="1">
                <a:solidFill>
                  <a:srgbClr val="35E6BB"/>
                </a:solidFill>
              </a:rPr>
              <a:t>CARTEIRA E RECEBÍVEIS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FC788-9CFA-40F5-85EA-67B92C0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14 /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8D0D2-5F48-4E41-8DB6-0B48D55B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94c3a7d674ff6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D5860-1026-49E9-B623-616527D1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5348A-D4C8-41AD-82FC-32726882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B35E2-568A-418F-BA87-984B3359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AF9"/>
                </a:solidFill>
              </a:defRPr>
            </a:pPr>
            <a:r>
              <a:rPr sz="2550" b="1">
                <a:solidFill>
                  <a:srgbClr val="F2FAF9"/>
                </a:solidFill>
              </a:rPr>
              <a:t>Backlog que sustenta a projeção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9597F-4020-4F77-8BA1-76D7C38E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CA5AB"/>
                </a:solidFill>
              </a:defRPr>
            </a:pPr>
            <a:r>
              <a:rPr sz="1125">
                <a:solidFill>
                  <a:srgbClr val="8CA5AB"/>
                </a:solidFill>
              </a:rPr>
              <a:t>Carteira, faturamento, backlog e parcelas projetadas por cliente.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7B665-F71B-47CD-A92E-E914A992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ACAB2-C093-4F6D-BE26-29071429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47D07-E519-44D1-AF1E-73CC9635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7A909-6FA2-4DF7-83F7-9131AF54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526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2E958-24A4-4DD1-B624-564DE8C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CARTEIRA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8C09C-0DAB-4F38-986A-8E2182D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FATURADO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14C9F-72BE-4C7A-8995-535BC663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BACKLOG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F0917-5CCF-4F39-BAC4-ADB916D4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ATÉ 2028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DB788-3D0B-4E5F-B856-49C0AB7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AB"/>
                </a:solidFill>
              </a:defRPr>
            </a:pPr>
            <a:r>
              <a:rPr sz="825" b="1">
                <a:solidFill>
                  <a:srgbClr val="8CA5AB"/>
                </a:solidFill>
              </a:rPr>
              <a:t>PÓS-2028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C4F95-1B39-4F7F-90EC-2B702F5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2DC43-7EDE-410C-ACEE-97C8947F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AXIA Energia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B86F3-4747-42D0-8568-CFF3B42D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EFC5C-8A77-423E-87FB-E7DFEDA5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R$ 42.544.856,72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A975C-FB03-4096-9E1F-A86F2B4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R$ 13.587.630,96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E4EB0-BFC0-4BC2-B2FC-F7A5A7B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R$ 28.957.225,76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B3ACD-77D2-4D68-A256-89431044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R$ 28.957.225,76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3F2E4-0501-4C9C-9595-7F7F5423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085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D0495-9249-41DF-9CBD-2490BB1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58489-0647-4A15-A07A-6B830C21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9E2E1-4FF2-4F80-9C37-EA1CD89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Petrobras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E27C1-C330-4364-89E4-C02C52A9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288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46091E-7E97-4BDD-BC3D-EE37FAE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R$ 126.739.271,47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40B41-59C6-4147-98D7-C2457F8A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R$ 1.506.178,20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FAD276-4EB3-4235-8116-01E94F2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R$ 125.233.093,27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E0442B-F354-4836-94FF-78341014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R$ 123.670.948,92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655049-88E2-4DE0-8844-1A9CBF0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28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R$ 1.562.144,35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E23D1A-8A95-4570-B95E-BB5001CA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7B0657-3CCA-45D3-8F26-521E891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717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Enel Green Power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B7302-768D-42BB-9EF7-0D43F2EC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717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D344C0-5EEF-413E-8380-38CC1B22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R$ 74.695.374,05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FCCA52-50F4-4CD7-8270-13B684A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R$ 46.633.200,10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C9A5E-308D-474F-9D26-1B17DED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R$ 28.062.173,95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DA20A1-1D3B-4E10-83EE-CCE4588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R$ 28.062.173,95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8AF4C6-5FA5-4E3F-A744-8148C53E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771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4B38C9-367E-484E-B769-0280750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A5244F-09FD-4060-B730-270AFAAB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FFF806-38A0-42D6-A509-74C7B04B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146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CEMIG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8F80A6-ED2E-4556-A547-0BCF5B1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14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70A9DA-ED62-44F0-9CA2-322FCA9D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R$ 157.646.971,08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630440-57BC-4243-8AEF-A5FB9353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R$ 15.287.450,14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DC2A9A-5B46-458D-B8A3-D29B706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R$ 142.359.520,94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49836B-EB3F-4EB5-A590-8FD9D4A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R$ 142.359.520,94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603AA2-9A2E-4A65-B950-E1FF727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1146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908833-3AE6-47C1-9CFA-628051C8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4B5282-FBE6-461D-8FC5-D6DF3BBF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Âmbar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8E2AA0-12F3-4081-BB18-94B2C12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575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96EFE9-CC43-4D86-971E-48EB8D89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R$ 883.317,21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0B434F-0BA0-4DCB-BB27-302B5A7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R$ 794.985,49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53989B-80EC-4C21-AE9C-95021BF9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R$ 88.331,72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2F14A3-882E-42BC-905F-40350631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R$ 485.824,46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C10431-B0DB-43AA-9F2F-47470C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1BFB30-5E95-4589-B9FE-B52ECCB1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78B189-25AB-4FDD-9C20-C22F0028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ED3D7A-E063-4421-B677-C7FD7027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Hydro Alunorte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169890-11F0-451A-A6A7-0833AC75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645968-7FCB-487C-97B9-03133C7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R$ 4.965.143,38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A533D3-E9B5-4624-855B-897EA9B3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R$ 828.439,34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8887E0-B177-4C5A-8DB0-549BD1ED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R$ 4.136.704,04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13CA74-90A1-4F2A-91E7-1A05848A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R$ 4.136.704,04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36F7A2-B241-4FE0-A1A9-1177D036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8004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B5BF87-80B9-4E58-8F04-32C6AFF2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9BD73B-FA65-4246-AECF-2E05928E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Belém Bioenergia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DAF8B4-F153-41C2-AD57-DA3A7888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43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69D390-C9A7-4949-9267-9498003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R$ 1.445.844,71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5F8DF1-AA60-4210-A82C-15E93C3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R$ 279.135,36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B37842-681F-4E88-A445-EAD06C5A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R$ 1.166.709,35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D05178-2A9B-4CF3-8FA4-3B76F0E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R$ 1.166.709,35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81F164-EB15-455F-9406-CD6E749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1433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B7989A-CBAA-4FC3-B8AD-4E1CD2B9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8D1377B-8238-4B82-8770-1E86EB71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4C771CE-C5D6-43D7-AF4F-1C5CD62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862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Flessak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0A548B8-2C8A-4169-AB1A-23810991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862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EB7CD1-677E-4C43-8334-C41A8C38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R$ 803.178,97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DE30069-839C-4CE4-924F-BEF89B66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R$ 80.317,90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42CA3B-3CF1-4ADF-ADF3-7BDF0A20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R$ 722.861,07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AD33ED-4C56-416C-AA84-3E97777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R$ 722.861,06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55CE78B-F816-4F22-8247-28E7122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4862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1D2BAC-4A3B-4442-A5AE-35C7D1C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205796C-22EC-44E8-AAF8-112F9A3C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291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Harbin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98A778-40F8-4245-A0E5-7A675010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8291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E55623-947F-4ECD-9814-3573673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R$ 80.000,00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5B32EE4-44DE-4E5B-A21A-9FA45458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6EAB57-43CF-420F-9123-2ED5427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R$ 80.000,00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D8A890-AF0C-420B-8FA1-0A8E7A76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R$ 80.000,00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E0A1F2-AE0A-4349-AC25-CBDFB464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829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5736D6-E1A1-493B-A0EA-A3CFD453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127051-3C03-4DDC-B97C-1917FB6E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B5FFD6-CCC3-40A1-95C2-AE267C00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720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ArcelorMittal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A8C68E1-C86B-44E3-921A-A8E5C4C0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720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B9A2A46-8300-4438-B456-0AB7832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R$ 261.601,20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7641C3-D0DC-44D4-895C-78BD982A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9EB60D5-A4C5-49B8-9D67-E4292D4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R$ 261.601,20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834A33-5BD5-462D-92A3-BE9AE99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R$ 261.601,20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B8DF49-C81F-4944-9DBF-5189FE5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172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6FBA091-CFF8-46C9-8FF1-8038176B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44B8A9-AF3F-4735-BC6D-04B4A19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4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Andritz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5FC0AA8-ACF6-45DA-8F66-17EF1AD9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5149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Ativo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E74435E-CFA3-4BFA-99F8-A50D04EB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R$ 80.000,00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1AC3302-E06B-4E44-B9AC-682D2869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9F8A6B-EE45-4A0B-AA25-04ED83DD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4C9DFF"/>
                </a:solidFill>
              </a:defRPr>
            </a:pPr>
            <a:r>
              <a:rPr sz="938" b="0">
                <a:solidFill>
                  <a:srgbClr val="4C9DFF"/>
                </a:solidFill>
              </a:rPr>
              <a:t>R$ 80.000,00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C36569-6F87-424A-BCC7-A8803D39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R$ 80.000,00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9721C32-3EC7-4586-A185-D5C190F0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5149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CBDBDD"/>
                </a:solidFill>
              </a:defRPr>
            </a:pPr>
            <a:r>
              <a:rPr sz="938" b="0">
                <a:solidFill>
                  <a:srgbClr val="CBDBDD"/>
                </a:solidFill>
              </a:rPr>
              <a:t>R$ 0,00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B54965F-22C8-4A79-9E74-CCC15E3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61A95B-F6B5-44E3-9C3C-92B21ABA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9915A1E-E7CF-4C5E-9DA1-D283B16B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57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2FAF9"/>
                </a:solidFill>
              </a:defRPr>
            </a:pPr>
            <a:r>
              <a:rPr sz="938" b="1">
                <a:solidFill>
                  <a:srgbClr val="F2FAF9"/>
                </a:solidFill>
              </a:rPr>
              <a:t>Total da carteira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8D80D5-0143-4F07-AAD1-D9E8418D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8578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2FAF9"/>
                </a:solidFill>
              </a:defRPr>
            </a:pPr>
            <a:r>
              <a:rPr sz="938" b="1">
                <a:solidFill>
                  <a:srgbClr val="F2FAF9"/>
                </a:solidFill>
              </a:rPr>
              <a:t>11 cliente(s)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207E9A1-B398-4CF9-A214-0820784F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2FAF9"/>
                </a:solidFill>
              </a:defRPr>
            </a:pPr>
            <a:r>
              <a:rPr sz="938" b="1">
                <a:solidFill>
                  <a:srgbClr val="F2FAF9"/>
                </a:solidFill>
              </a:rPr>
              <a:t>R$ 410.145.558,79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8477134-69C3-473A-80DA-E694C06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2FAF9"/>
                </a:solidFill>
              </a:defRPr>
            </a:pPr>
            <a:r>
              <a:rPr sz="938" b="1">
                <a:solidFill>
                  <a:srgbClr val="F2FAF9"/>
                </a:solidFill>
              </a:rPr>
              <a:t>R$ 78.997.337,49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CE1B54-9E78-4857-9407-9D4409AC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4C9DFF"/>
                </a:solidFill>
              </a:defRPr>
            </a:pPr>
            <a:r>
              <a:rPr sz="938" b="1">
                <a:solidFill>
                  <a:srgbClr val="4C9DFF"/>
                </a:solidFill>
              </a:rPr>
              <a:t>R$ 331.148.221,30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8DCD9A7-B8EA-4763-8D24-7834D5C4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2FAF9"/>
                </a:solidFill>
              </a:defRPr>
            </a:pPr>
            <a:r>
              <a:rPr sz="938" b="1">
                <a:solidFill>
                  <a:srgbClr val="F2FAF9"/>
                </a:solidFill>
              </a:rPr>
              <a:t>R$ 329.983.569,68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9CD5FAE-E972-4902-BFF1-461B6595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8578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F2FAF9"/>
                </a:solidFill>
              </a:defRPr>
            </a:pPr>
            <a:r>
              <a:rPr sz="938" b="1">
                <a:solidFill>
                  <a:srgbClr val="F2FAF9"/>
                </a:solidFill>
              </a:rPr>
              <a:t>R$ 1.562.144,36</a:t>
            </a:r>
          </a:p>
        </p:txBody>
      </p:sp>
    </p:spTree>
    <p:extLst>
      <p:ext uri="{BB962C8B-B14F-4D97-AF65-F5344CB8AC3E}">
        <p14:creationId xmlns:p14="http://schemas.microsoft.com/office/powerpoint/2010/main" val="775263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40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009F2-8525-4D1D-96D5-3AE37CFC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9550"/>
            <a:ext cx="11772900" cy="6438900"/>
          </a:xfrm>
          <a:prstGeom xmlns:a="http://schemas.openxmlformats.org/drawingml/2006/main" prst="roundRect">
            <a:avLst>
              <a:gd name="adj" fmla="val 17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32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02C8E-C0C7-4218-A151-6F4BF693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6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C1382-407C-4396-89E5-7E862217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E7880"/>
                </a:solidFill>
              </a:defRPr>
            </a:pPr>
            <a:r>
              <a:rPr sz="900">
                <a:solidFill>
                  <a:srgbClr val="5E7880"/>
                </a:solidFill>
              </a:rPr>
              <a:t>15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839CB-7583-4F89-AD92-7C13CEE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60d429aab4de8"/>
          <a:stretch xmlns:a="http://schemas.openxmlformats.org/drawingml/2006/main"/>
        </p:blipFill>
        <p:spPr>
          <a:xfrm xmlns:a="http://schemas.openxmlformats.org/drawingml/2006/main">
            <a:off x="612031" y="6334125"/>
            <a:ext cx="928688" cy="123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D939-CD88-4FCC-8467-4601F654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32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Dados informados do sistema na Projeção Financeira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E9498-9256-40D0-8980-85852538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E7880"/>
                </a:solidFill>
              </a:defRPr>
            </a:pPr>
            <a:r>
              <a:rPr sz="788">
                <a:solidFill>
                  <a:srgbClr val="5E7880"/>
                </a:solidFill>
              </a:rPr>
              <a:t>Faturamento vs Folha de Pagamento · v1 · CONFIDENCIAL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8f6176fd44c6d"/>
          <a:stretch xmlns:a="http://schemas.openxmlformats.org/drawingml/2006/main"/>
        </p:blipFill>
        <p:spPr>
          <a:xfrm xmlns:a="http://schemas.openxmlformats.org/drawingml/2006/main">
            <a:off x="3143250" y="3037351"/>
            <a:ext cx="5905500" cy="7832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27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2026-09-20T01:58:35.4440000Z</dcterms:created>
  <dcterms:modified xsi:type="dcterms:W3CDTF">2026-09-20T01:58:35.4440000Z</dcterms:modified>
</coreProperties>
</file>