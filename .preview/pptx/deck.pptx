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0fae09fcea94b92" /><Relationship Type="http://schemas.openxmlformats.org/officeDocument/2006/relationships/extended-properties" Target="/docProps/app.xml" Id="R399a4f5df5ad4869" /><Relationship Type="http://schemas.openxmlformats.org/officeDocument/2006/relationships/officeDocument" Target="/ppt/presentation.xml" Id="R2be3e17649dd4e0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290f988661746c9"/>
  </p:sldMasterIdLst>
  <p:notesMasterIdLst>
    <p:notesMasterId xmlns:r="http://schemas.openxmlformats.org/officeDocument/2006/relationships" r:id="R5f73b0d0cf3f468e"/>
  </p:notesMasterIdLst>
  <p:sldIdLst>
    <p:sldId xmlns:r="http://schemas.openxmlformats.org/officeDocument/2006/relationships" id="256" r:id="R9ac81b2fa0d34180"/>
    <p:sldId xmlns:r="http://schemas.openxmlformats.org/officeDocument/2006/relationships" id="257" r:id="R414024770a724039"/>
    <p:sldId xmlns:r="http://schemas.openxmlformats.org/officeDocument/2006/relationships" id="258" r:id="R91ea0b858b5c49a8"/>
    <p:sldId xmlns:r="http://schemas.openxmlformats.org/officeDocument/2006/relationships" id="259" r:id="R89d613c828c34204"/>
    <p:sldId xmlns:r="http://schemas.openxmlformats.org/officeDocument/2006/relationships" id="260" r:id="R218c511039ee4f8d"/>
    <p:sldId xmlns:r="http://schemas.openxmlformats.org/officeDocument/2006/relationships" id="261" r:id="R2276bbf4e31241fc"/>
    <p:sldId xmlns:r="http://schemas.openxmlformats.org/officeDocument/2006/relationships" id="262" r:id="R1960b4cf860e428e"/>
    <p:sldId xmlns:r="http://schemas.openxmlformats.org/officeDocument/2006/relationships" id="263" r:id="R64a6e7eba8554cea"/>
    <p:sldId xmlns:r="http://schemas.openxmlformats.org/officeDocument/2006/relationships" id="264" r:id="R125fe3ff58644743"/>
    <p:sldId xmlns:r="http://schemas.openxmlformats.org/officeDocument/2006/relationships" id="265" r:id="R025f40e600984b89"/>
    <p:sldId xmlns:r="http://schemas.openxmlformats.org/officeDocument/2006/relationships" id="266" r:id="R6c6c001e103a45f0"/>
    <p:sldId xmlns:r="http://schemas.openxmlformats.org/officeDocument/2006/relationships" id="267" r:id="R634f83f8c8e64b18"/>
    <p:sldId xmlns:r="http://schemas.openxmlformats.org/officeDocument/2006/relationships" id="268" r:id="R5c808c496ac14bd1"/>
    <p:sldId xmlns:r="http://schemas.openxmlformats.org/officeDocument/2006/relationships" id="269" r:id="Rae5d64d2ce994d2a"/>
    <p:sldId xmlns:r="http://schemas.openxmlformats.org/officeDocument/2006/relationships" id="270" r:id="R7c483e4f264f41e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4a18a6efbae46f7" /><Relationship Type="http://schemas.openxmlformats.org/officeDocument/2006/relationships/slideMaster" Target="/ppt/slideMasters/slideMaster1.xml" Id="Rb290f988661746c9" /><Relationship Type="http://schemas.openxmlformats.org/officeDocument/2006/relationships/notesMaster" Target="/ppt/notesMasters/notesMaster1.xml" Id="R5f73b0d0cf3f468e" /><Relationship Type="http://schemas.openxmlformats.org/officeDocument/2006/relationships/presProps" Target="/ppt/presProps.xml" Id="R2177fc5a0b1a47db" /><Relationship Type="http://schemas.openxmlformats.org/officeDocument/2006/relationships/tableStyles" Target="/ppt/tableStyles.xml" Id="R329ae9f7f1734001" /><Relationship Type="http://schemas.openxmlformats.org/officeDocument/2006/relationships/slide" Target="/ppt/slides/slide1.xml" Id="R9ac81b2fa0d34180" /><Relationship Type="http://schemas.openxmlformats.org/officeDocument/2006/relationships/slide" Target="/ppt/slides/slide2.xml" Id="R414024770a724039" /><Relationship Type="http://schemas.openxmlformats.org/officeDocument/2006/relationships/slide" Target="/ppt/slides/slide3.xml" Id="R91ea0b858b5c49a8" /><Relationship Type="http://schemas.openxmlformats.org/officeDocument/2006/relationships/slide" Target="/ppt/slides/slide4.xml" Id="R89d613c828c34204" /><Relationship Type="http://schemas.openxmlformats.org/officeDocument/2006/relationships/slide" Target="/ppt/slides/slide5.xml" Id="R218c511039ee4f8d" /><Relationship Type="http://schemas.openxmlformats.org/officeDocument/2006/relationships/slide" Target="/ppt/slides/slide6.xml" Id="R2276bbf4e31241fc" /><Relationship Type="http://schemas.openxmlformats.org/officeDocument/2006/relationships/slide" Target="/ppt/slides/slide7.xml" Id="R1960b4cf860e428e" /><Relationship Type="http://schemas.openxmlformats.org/officeDocument/2006/relationships/slide" Target="/ppt/slides/slide8.xml" Id="R64a6e7eba8554cea" /><Relationship Type="http://schemas.openxmlformats.org/officeDocument/2006/relationships/slide" Target="/ppt/slides/slide9.xml" Id="R125fe3ff58644743" /><Relationship Type="http://schemas.openxmlformats.org/officeDocument/2006/relationships/slide" Target="/ppt/slides/slide10.xml" Id="R025f40e600984b89" /><Relationship Type="http://schemas.openxmlformats.org/officeDocument/2006/relationships/slide" Target="/ppt/slides/slide11.xml" Id="R6c6c001e103a45f0" /><Relationship Type="http://schemas.openxmlformats.org/officeDocument/2006/relationships/slide" Target="/ppt/slides/slide12.xml" Id="R634f83f8c8e64b18" /><Relationship Type="http://schemas.openxmlformats.org/officeDocument/2006/relationships/slide" Target="/ppt/slides/slide13.xml" Id="R5c808c496ac14bd1" /><Relationship Type="http://schemas.openxmlformats.org/officeDocument/2006/relationships/slide" Target="/ppt/slides/slide14.xml" Id="Rae5d64d2ce994d2a" /><Relationship Type="http://schemas.openxmlformats.org/officeDocument/2006/relationships/slide" Target="/ppt/slides/slide15.xml" Id="R7c483e4f264f41e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1c97931b6894ab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793cd436d68430c" /><Relationship Type="http://schemas.openxmlformats.org/officeDocument/2006/relationships/notesMaster" Target="/ppt/notesMasters/notesMaster1.xml" Id="Rd8a552d4c28b438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050f6cfc51b4bcd" /><Relationship Type="http://schemas.openxmlformats.org/officeDocument/2006/relationships/notesMaster" Target="/ppt/notesMasters/notesMaster1.xml" Id="R4c86b4690cbf46b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16e1f3fcc284a9c" /><Relationship Type="http://schemas.openxmlformats.org/officeDocument/2006/relationships/notesMaster" Target="/ppt/notesMasters/notesMaster1.xml" Id="R1695774d9813424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ab3c22ff2d845ae" /><Relationship Type="http://schemas.openxmlformats.org/officeDocument/2006/relationships/notesMaster" Target="/ppt/notesMasters/notesMaster1.xml" Id="R239dd2e0fbe1496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5306287c9d2421d" /><Relationship Type="http://schemas.openxmlformats.org/officeDocument/2006/relationships/notesMaster" Target="/ppt/notesMasters/notesMaster1.xml" Id="R3ea127a70bae470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bb3f2cad7b54565" /><Relationship Type="http://schemas.openxmlformats.org/officeDocument/2006/relationships/notesMaster" Target="/ppt/notesMasters/notesMaster1.xml" Id="R600faf9d46f0452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a40748f853f48aa" /><Relationship Type="http://schemas.openxmlformats.org/officeDocument/2006/relationships/notesMaster" Target="/ppt/notesMasters/notesMaster1.xml" Id="R8f90cf8b07674f1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94e39514cb24286" /><Relationship Type="http://schemas.openxmlformats.org/officeDocument/2006/relationships/notesMaster" Target="/ppt/notesMasters/notesMaster1.xml" Id="R97d64379a82b4c1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7db7bd9ab0b4cb5" /><Relationship Type="http://schemas.openxmlformats.org/officeDocument/2006/relationships/notesMaster" Target="/ppt/notesMasters/notesMaster1.xml" Id="R43f24815a205447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ff07cd7f3f44c12" /><Relationship Type="http://schemas.openxmlformats.org/officeDocument/2006/relationships/notesMaster" Target="/ppt/notesMasters/notesMaster1.xml" Id="Rbdb7dffb0b7243b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f5e09f4d1c8402b" /><Relationship Type="http://schemas.openxmlformats.org/officeDocument/2006/relationships/notesMaster" Target="/ppt/notesMasters/notesMaster1.xml" Id="R58a912f6be3246c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080a57eac794638" /><Relationship Type="http://schemas.openxmlformats.org/officeDocument/2006/relationships/notesMaster" Target="/ppt/notesMasters/notesMaster1.xml" Id="Rdc74b7d40fc54ce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6ff3d9d24754476" /><Relationship Type="http://schemas.openxmlformats.org/officeDocument/2006/relationships/notesMaster" Target="/ppt/notesMasters/notesMaster1.xml" Id="R3e302aff62604ad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1528129230349a8" /><Relationship Type="http://schemas.openxmlformats.org/officeDocument/2006/relationships/notesMaster" Target="/ppt/notesMasters/notesMaster1.xml" Id="Ra69bf7266134401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b89c545121d4538" /><Relationship Type="http://schemas.openxmlformats.org/officeDocument/2006/relationships/notesMaster" Target="/ppt/notesMasters/notesMaster1.xml" Id="Rc75521d8de3b457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Use o roteiro para combinar o tempo de cada bloco antes de entrar nos números.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- 31 competência(s) com valor realizado e 29 com previsão. Realizado e previsto permanecem identificados separadamente em todas as séries.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Traço contínuo: valores fechados. Traço tracejado: projeção ancorada na última competência realizada.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trajetória acumulada mantém-se positiva em todo o recorte e fecha em R$ 421,6 mi.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Nenhuma competência do recorte fecha com saldo mensal negativo.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Cada série identifica o cliente que compõe o faturamento previsto.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Base contratual usada para limitar e distribuir a projeção.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Seguimos comprometidos com uma execução disciplinada, crescimento sustentável e geração consistente de valor para nossos investidores.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3913941550495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2f06955879a42d4" /><Relationship Type="http://schemas.openxmlformats.org/officeDocument/2006/relationships/slideLayout" Target="/ppt/slideLayouts/slideLayout1.xml" Id="Rb38ce7966d3b457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38ce7966d3b457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e652a021454e1c" /><Relationship Type="http://schemas.openxmlformats.org/officeDocument/2006/relationships/image" Target="/ppt/media/image.png" Id="R51a45700ce814348" /><Relationship Type="http://schemas.openxmlformats.org/officeDocument/2006/relationships/image" Target="/ppt/media/image2.png" Id="Rfdd27bedbf8c4932" /><Relationship Type="http://schemas.openxmlformats.org/officeDocument/2006/relationships/notesSlide" Target="/ppt/notesSlides/notesSlide1.xml" Id="Rda94071a013846b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5881752ab54e89" /><Relationship Type="http://schemas.openxmlformats.org/officeDocument/2006/relationships/image" Target="/ppt/media/image3.png" Id="R514efd641dab4e0e" /><Relationship Type="http://schemas.openxmlformats.org/officeDocument/2006/relationships/notesSlide" Target="/ppt/notesSlides/notesSlide2.xml" Id="R2381906476ec461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ca073c50784de3" /><Relationship Type="http://schemas.openxmlformats.org/officeDocument/2006/relationships/image" Target="/ppt/media/image4.png" Id="Rab974ed3d41c4b04" /><Relationship Type="http://schemas.openxmlformats.org/officeDocument/2006/relationships/image" Target="/ppt/media/image5.png" Id="R7b9521ba677b4e5a" /><Relationship Type="http://schemas.openxmlformats.org/officeDocument/2006/relationships/image" Target="/ppt/media/image.svg" Id="R53985bb5fc0c4e13" /><Relationship Type="http://schemas.openxmlformats.org/officeDocument/2006/relationships/notesSlide" Target="/ppt/notesSlides/notesSlide3.xml" Id="Rd4e255212f58459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ded729e6c347bd" /><Relationship Type="http://schemas.openxmlformats.org/officeDocument/2006/relationships/image" Target="/ppt/media/image6.png" Id="Rd8669d6b22ca4a30" /><Relationship Type="http://schemas.openxmlformats.org/officeDocument/2006/relationships/image" Target="/ppt/media/image7.png" Id="Rcdc85d54178e40bb" /><Relationship Type="http://schemas.openxmlformats.org/officeDocument/2006/relationships/image" Target="/ppt/media/image2.svg" Id="Reb25d362759542ab" /><Relationship Type="http://schemas.openxmlformats.org/officeDocument/2006/relationships/notesSlide" Target="/ppt/notesSlides/notesSlide4.xml" Id="R39ccf53a016d488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8820f69e6f4f4d" /><Relationship Type="http://schemas.openxmlformats.org/officeDocument/2006/relationships/image" Target="/ppt/media/image8.png" Id="R3568eac95c204267" /><Relationship Type="http://schemas.openxmlformats.org/officeDocument/2006/relationships/image" Target="/ppt/media/image9.png" Id="R729e4df7888b4be4" /><Relationship Type="http://schemas.openxmlformats.org/officeDocument/2006/relationships/image" Target="/ppt/media/image3.svg" Id="Rbe49f6a407ed4e7f" /><Relationship Type="http://schemas.openxmlformats.org/officeDocument/2006/relationships/notesSlide" Target="/ppt/notesSlides/notesSlide5.xml" Id="R98f857a5fed6458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f9491de7424608" /><Relationship Type="http://schemas.openxmlformats.org/officeDocument/2006/relationships/image" Target="/ppt/media/image10.png" Id="R8e9638f4047d4689" /><Relationship Type="http://schemas.openxmlformats.org/officeDocument/2006/relationships/image" Target="/ppt/media/image11.png" Id="R29136e1f345141d2" /><Relationship Type="http://schemas.openxmlformats.org/officeDocument/2006/relationships/image" Target="/ppt/media/image4.svg" Id="R71a67f4b99a34b8b" /><Relationship Type="http://schemas.openxmlformats.org/officeDocument/2006/relationships/notesSlide" Target="/ppt/notesSlides/notesSlide6.xml" Id="R65325300f15349a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e8919d29ea411c" /><Relationship Type="http://schemas.openxmlformats.org/officeDocument/2006/relationships/image" Target="/ppt/media/image12.png" Id="R0944c0780012467e" /><Relationship Type="http://schemas.openxmlformats.org/officeDocument/2006/relationships/image" Target="/ppt/media/image13.png" Id="R3c1332814202485f" /><Relationship Type="http://schemas.openxmlformats.org/officeDocument/2006/relationships/image" Target="/ppt/media/image5.svg" Id="R747479f8e549430d" /><Relationship Type="http://schemas.openxmlformats.org/officeDocument/2006/relationships/notesSlide" Target="/ppt/notesSlides/notesSlide7.xml" Id="R4d8f2162ff8648d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239ad9b92a49c0" /><Relationship Type="http://schemas.openxmlformats.org/officeDocument/2006/relationships/image" Target="/ppt/media/image14.png" Id="Rbc7ddc562a3d432a" /><Relationship Type="http://schemas.openxmlformats.org/officeDocument/2006/relationships/image" Target="/ppt/media/image15.png" Id="Ra564edebcaee4627" /><Relationship Type="http://schemas.openxmlformats.org/officeDocument/2006/relationships/image" Target="/ppt/media/image6.svg" Id="R3055124be86f4c42" /><Relationship Type="http://schemas.openxmlformats.org/officeDocument/2006/relationships/notesSlide" Target="/ppt/notesSlides/notesSlide8.xml" Id="R1fa81ce43dd442e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82e946430d48f2" /><Relationship Type="http://schemas.openxmlformats.org/officeDocument/2006/relationships/image" Target="/ppt/media/image16.png" Id="Rb49f4bcd32594220" /><Relationship Type="http://schemas.openxmlformats.org/officeDocument/2006/relationships/notesSlide" Target="/ppt/notesSlides/notesSlide9.xml" Id="Rbfbd58ddaf71494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1aeb846e03414c" /><Relationship Type="http://schemas.openxmlformats.org/officeDocument/2006/relationships/image" Target="/ppt/media/image17.png" Id="R6e351ebb142d41e3" /><Relationship Type="http://schemas.openxmlformats.org/officeDocument/2006/relationships/notesSlide" Target="/ppt/notesSlides/notesSlide10.xml" Id="Rdaecbe90b48c423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6e2bea4b8344a4" /><Relationship Type="http://schemas.openxmlformats.org/officeDocument/2006/relationships/image" Target="/ppt/media/image18.png" Id="Ra8dbd57d0853473e" /><Relationship Type="http://schemas.openxmlformats.org/officeDocument/2006/relationships/notesSlide" Target="/ppt/notesSlides/notesSlide11.xml" Id="Ra30bb7fa6aa447f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ff80d82711401c" /><Relationship Type="http://schemas.openxmlformats.org/officeDocument/2006/relationships/image" Target="/ppt/media/image19.png" Id="R04860d2b9636411c" /><Relationship Type="http://schemas.openxmlformats.org/officeDocument/2006/relationships/notesSlide" Target="/ppt/notesSlides/notesSlide12.xml" Id="Rbd1e9be3ebc7470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5d261567a4497e" /><Relationship Type="http://schemas.openxmlformats.org/officeDocument/2006/relationships/image" Target="/ppt/media/image20.png" Id="R1429701283064f33" /><Relationship Type="http://schemas.openxmlformats.org/officeDocument/2006/relationships/notesSlide" Target="/ppt/notesSlides/notesSlide13.xml" Id="Rf5282bf76f9c438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3ff5edbd0248cc" /><Relationship Type="http://schemas.openxmlformats.org/officeDocument/2006/relationships/image" Target="/ppt/media/image21.png" Id="R058852d848154b2e" /><Relationship Type="http://schemas.openxmlformats.org/officeDocument/2006/relationships/notesSlide" Target="/ppt/notesSlides/notesSlide14.xml" Id="R83554534c78a412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d2970bceef4bfd" /><Relationship Type="http://schemas.openxmlformats.org/officeDocument/2006/relationships/image" Target="/ppt/media/image22.png" Id="Ra553619750cc4940" /><Relationship Type="http://schemas.openxmlformats.org/officeDocument/2006/relationships/image" Target="/ppt/media/image23.png" Id="R481ffbb69d424d61" /><Relationship Type="http://schemas.openxmlformats.org/officeDocument/2006/relationships/notesSlide" Target="/ppt/notesSlides/notesSlide15.xml" Id="R8c0f0d1de55a443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582F6F-03A8-4F5F-A29C-5E1E17B5B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891D0E-137C-43B2-95CD-1600F573A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15AE01-948D-4968-A4E3-6E0157672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a45700ce814348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BA335B-1395-4732-88C1-429D1DB45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3A60C6-801C-4B05-A60B-922BAB20D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d27bedbf8c4932"/>
          <a:stretch xmlns:a="http://schemas.openxmlformats.org/drawingml/2006/main"/>
        </p:blipFill>
        <p:spPr>
          <a:xfrm xmlns:a="http://schemas.openxmlformats.org/drawingml/2006/main">
            <a:off x="609600" y="685800"/>
            <a:ext cx="3303330" cy="4381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1B1042-B157-4863-B0DF-8F00F3E41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762000"/>
            <a:ext cx="1866900" cy="285750"/>
          </a:xfrm>
          <a:prstGeom xmlns:a="http://schemas.openxmlformats.org/drawingml/2006/main" prst="roundRect">
            <a:avLst>
              <a:gd name="adj" fmla="val 4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BB4625-1057-4FA1-A294-9AF73D1AB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828675"/>
            <a:ext cx="1866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35E6BB"/>
                </a:solidFill>
              </a:defRPr>
            </a:pPr>
            <a:r>
              <a:rPr sz="900" b="1">
                <a:solidFill>
                  <a:srgbClr val="35E6BB"/>
                </a:solidFill>
              </a:rPr>
              <a:t>CONFIDENCIAL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D50C38-6B20-47B1-8FA2-74FF44169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9525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F2FAF9"/>
                </a:solidFill>
              </a:defRPr>
            </a:pPr>
            <a:r>
              <a:rPr sz="3900" b="1">
                <a:solidFill>
                  <a:srgbClr val="F2FAF9"/>
                </a:solidFill>
              </a:rPr>
              <a:t>Relatório de Faturamento vs Folha de Pagamento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9AA0F0-49DE-4BEE-A8FA-D8A04194F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PERÍODO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D9C0CC-8BF5-4C7A-B295-816FB412D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jan de 24 — dez de 28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584F59-DB59-4214-8E60-A8AAED47F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9E8BC0-7259-499B-95A7-C8E49995B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30-07-2026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FAEDC0-B264-40EC-BE53-5E1135536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PREPARADO POR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0DB629-200C-47A7-BA58-64A48619A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Sergio Fagundes</a:t>
            </a:r>
          </a:p>
        </p:txBody>
      </p:sp>
    </p:spTree>
    <p:extLst>
      <p:ext uri="{BB962C8B-B14F-4D97-AF65-F5344CB8AC3E}">
        <p14:creationId xmlns:p14="http://schemas.microsoft.com/office/powerpoint/2010/main" val="67992447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A5C2246-9351-486C-AAE6-B1044344C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ADA7F3-94EE-45A2-AB43-F6404688A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5CD953-F9B4-4767-A19D-17F0D16FA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ROTEIRO DA APRESENTAÇÃO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73FD50-D19A-47DD-B767-8518DB12F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256825-9E09-4108-8F94-72B96F65B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4efd641dab4e0e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2EEACD-4D25-46BE-BE29-EC6AF478F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EDE2F7-AEB2-46D8-8834-FD0934C85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CAA7D1-AC5C-4858-A0A0-71DA7A17E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O que esta leitura cobre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C49713-9B29-4A96-B2DB-F9B31CB08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DF25A5-C238-425D-BF97-A4D89E155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13B16D-A804-4EFF-8A64-26428B3FD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Síntese executiva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490590-7DB9-46E9-86F3-6891717E2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Cobertura, saldo e os sinais que resumem 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6FF766-6151-4250-8E63-6EA9ECBD8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AEB54E-4F89-45E9-8950-1C5698D34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026532-00B6-43B6-BB5A-144209AF5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Evolução mensal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43DF80-8178-4AA7-AF23-356089B0C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Receita e folha competência a competência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B1613A-8EAF-4679-ACED-A0566D65E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95EEF1-7A71-4A8C-9A78-C195835BD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D6EBDC-D54E-4011-8CA7-C227B6879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Curva mensal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31E271-23B4-4FC7-9929-4B00FAF3C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Valores de cada competência, sem acumulação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C386B5-9D2D-45C9-85A9-688DAA1EC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876DE2-1314-48AC-BDB8-9AE081CF8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114E16B-7D66-45DE-9CDE-4F716F915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Curva S acumulada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29D4F9-4AD8-461D-9CB5-1F2E9DB59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Trajetória acumulada e zona de previsão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F16B336-4B99-491C-9F8E-9CDB28A50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D06A9AE-AB2B-46D7-86CC-B97941A1D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48E0DB0-9A7E-4A84-A6CB-429C7F965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Saldo e acumulado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A44652A-C3D3-4DE1-8CA9-57EC20189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Onde o período gera e onde consome resultado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CB35D7D-A924-43CA-B93D-D9CD0BF92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48604D3-2325-4DC8-ABE1-64F78A516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12C25DF-6B89-46F7-AD7F-B3ED23A22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Projeção por cliente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87389C0-1E77-4974-B3C1-00C340C87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Composição do faturamento projetado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5B530AC-5D71-45B7-A484-54484CE07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2A04649-AFF2-486A-AB9A-234095F61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642760F-A01A-489C-8572-C944DFB54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Base mensal informada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3FD34A8-BB5E-4463-8700-A2E203262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Todos os valores por trás dos gráficos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930DBD8-36EC-401F-985E-3182FEB2D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8103B5D-ECB2-46DA-BC52-86AD25186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DAEBE2A-949D-44A8-929E-0335239EF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Carteira e recebíveis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2F1E8C9-40C2-483B-8A07-590936B7B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Backlog que sustenta a projeção</a:t>
            </a:r>
          </a:p>
        </p:txBody>
      </p:sp>
    </p:spTree>
    <p:extLst>
      <p:ext uri="{BB962C8B-B14F-4D97-AF65-F5344CB8AC3E}">
        <p14:creationId xmlns:p14="http://schemas.microsoft.com/office/powerpoint/2010/main" val="61654192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9225C431-4946-49A0-884C-18FA2ED4A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5A89BF-A59D-4611-B851-7F6CE1415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85594D-DCE2-42DC-B776-66B1148A8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SÍNTESE EXECUTIVA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D91E9A-2932-40F5-ACE9-F5E535129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20B51A-D2D1-42AD-9239-5FC383980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974ed3d41c4b04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51CD68-5D6F-42F8-8CEC-5165AA597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25A69F-8475-4392-8B31-2600498B9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3D1F04-F67D-4955-B43D-0891476AB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7543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75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2FAF9"/>
                </a:solidFill>
              </a:defRPr>
            </a:pPr>
            <a:r>
              <a:rPr sz="2400" b="1">
                <a:solidFill>
                  <a:srgbClr val="F2FAF9"/>
                </a:solidFill>
              </a:rPr>
              <a:t>A receita do período cobre 5,44x o custo de folha informado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DC5994-592A-4FF1-A96C-27748E7D6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723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CBDBDD"/>
                </a:solidFill>
              </a:defRPr>
            </a:pPr>
            <a:r>
              <a:rPr sz="1200">
                <a:solidFill>
                  <a:srgbClr val="CBDBDD"/>
                </a:solidFill>
              </a:rPr>
              <a:t>A receita consolidada sustenta a estrutura atual e a carteira prevista amplia a cobertura da folha ao longo do horizonte projetado.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265FF6-CB06-4A7F-9AA4-4075565F1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7543800" cy="1390650"/>
          </a:xfrm>
          <a:prstGeom xmlns:a="http://schemas.openxmlformats.org/drawingml/2006/main" prst="roundRect">
            <a:avLst>
              <a:gd name="adj" fmla="val 821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3EA682-B5DE-4297-A4F6-E38143030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693967-3232-4295-A44A-263B69D0A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ED3049-F14C-41C5-BC9E-AD18CFC1B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91F305-C1FD-46BE-B958-F6FFB5AFC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094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62AD0B-6852-4A36-BE6B-4B9EB2D3B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E083A1-2911-414D-9AF1-02ACC3D0E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CB5079-CC47-4C84-A535-6360F10AF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5E6BB"/>
                </a:solidFill>
              </a:defRPr>
            </a:pPr>
            <a:r>
              <a:rPr sz="1950" b="1">
                <a:solidFill>
                  <a:srgbClr val="35E6BB"/>
                </a:solidFill>
              </a:rPr>
              <a:t>R$ 191,6 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A4F67B-55FA-4DE1-808E-AE2A67B98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31 competência(s)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D546EF-1C14-4EEC-8D7B-C7A9EDA22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1269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BC98AF-ABCE-4DE2-A911-9CDCFDAED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6138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EE87C7-5806-4344-AF7D-D1FC73428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D48043-144C-4AEE-976B-018294095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9394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C2CF454-61E2-4684-9509-2E26130B0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4C9DFF"/>
                </a:solidFill>
              </a:defRPr>
            </a:pPr>
            <a:r>
              <a:rPr sz="1950" b="1">
                <a:solidFill>
                  <a:srgbClr val="4C9DFF"/>
                </a:solidFill>
              </a:rPr>
              <a:t>R$ 325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12693B-B3EB-4753-9477-CF8D8DB6E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63% da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3C45B2A-6613-4D98-BCD9-5B65AF85C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5313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4099BE4-8D1D-499C-9F31-CC726CC02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0181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E55010C-1107-4C5E-891E-24436515F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D96429A-A7B0-4619-A40E-7D5DE597E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438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TOTAL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29E13BF-1EAA-4D69-BF84-FE936158E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B74D"/>
                </a:solidFill>
              </a:defRPr>
            </a:pPr>
            <a:r>
              <a:rPr sz="1950" b="1">
                <a:solidFill>
                  <a:srgbClr val="FFB74D"/>
                </a:solidFill>
              </a:rPr>
              <a:t>R$ 95 mi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4E9FE37-D7AD-4153-87B9-0D8E6E78A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fechada + projetada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ABD10BA-D091-476F-B692-81429E851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356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8356714-2FAA-43CA-B5C4-88F6B5B0A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4225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381E36A-3C86-4C45-A8D3-41522355D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B7639FA-CC9A-4F3E-A3FB-039226701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7481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 ACUMULADO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E8218FD-F9E5-47A7-817A-D9BA70D9C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5E6BB"/>
                </a:solidFill>
              </a:defRPr>
            </a:pPr>
            <a:r>
              <a:rPr sz="1950" b="1">
                <a:solidFill>
                  <a:srgbClr val="35E6BB"/>
                </a:solidFill>
              </a:rPr>
              <a:t>R$ 421,6 mi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25D0618-DE97-4096-9694-F61D2A189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no fecho do recorte</a:t>
            </a:r>
          </a:p>
        </p:txBody>
      </p:sp>
      <p:pic>
        <p:nvPicPr>
          <p:cNvPr id="1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9521ba677b4e5a">
            <a:extLst>
              <a:ext uri="{96DAC541-7B7A-43D3-8B79-37D633B846F1}">
                <asvg:svgBlip xmlns:asvg="http://schemas.microsoft.com/office/drawing/2016/SVG/main" r:embed="R53985bb5fc0c4e1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724900" y="1428750"/>
            <a:ext cx="2286000" cy="2286000"/>
          </a:xfrm>
          <a:prstGeom xmlns:a="http://schemas.openxmlformats.org/drawingml/2006/main" prst="rect">
            <a:avLst/>
          </a:prstGeom>
        </p:spPr>
      </p:pic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AA91625-6B1A-4B66-8677-15BC65C6A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338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COBERTURA RECEITA / FOLHA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8D9D916-318B-45CE-8679-9EE9EC8F5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43350"/>
            <a:ext cx="297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Marca central do arco = ponto de equilíbrio (1,00x). +444 p.p. em relação ao equilíbrio.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9788FFB-5563-45E4-A156-4AEEC4A82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1676400"/>
          </a:xfrm>
          <a:prstGeom xmlns:a="http://schemas.openxmlformats.org/drawingml/2006/main" prst="roundRect">
            <a:avLst>
              <a:gd name="adj" fmla="val 6818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67C31DA-2970-4EE3-A1CA-72661F23A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301FF97-BA84-4563-A414-911CAAE97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7150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21C3A44-EF6A-4043-9603-BAAD8DED9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2BDEA21-0D7F-4039-88C1-F7916BBC5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4979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D4965F7-1634-4FB1-B4D6-A78F68A87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15E585B-E7E1-469E-B20D-DED18537D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COBERTURA RECEITA / FOLHA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75C2EAE-3027-472B-BD2E-40B395361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A98BD89-266B-471A-83A1-870747DD0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7FCFE5D-ED6D-4056-94BD-95D4AA37B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5,44x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97D8C48-45CF-4CA8-8D2A-673507E0B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Razão entre a receita total e a folha total do recorte informado.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D20F8E0-6705-4438-A696-619BE2ADE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8519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0A5E2FD-1444-41B0-B1AB-2147327A0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73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CCF063B-1859-450F-B97E-EBF6A48B7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CC42150-86E4-49AB-BE79-AE85EB0DE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6644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 ACUMULADO NO FECHO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DF3E937-CF52-483E-AB41-329A39F09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BB8D381-823A-44A3-A369-A27E621C8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FAE8B5F-437D-4790-A700-50ED745C0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R$ 421,6 mi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C3A239F-2B78-4053-B26D-FE1833533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Diferença acumulada entre receita e folha ao fim de 60 competências.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3F4E621-D86C-484C-B729-2B1666A4E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9813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292384D-0DFA-40C8-A4F1-360D49806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7566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5DA649B-CF08-45C9-9400-768886366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9020E93-3846-488E-A846-BFB7A71DF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938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MÊS MAIS APERTADO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38EBFF8-1476-42B4-AB5F-5C6C62C2E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FFB74D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8E7DC05-5E73-45E6-A308-54EB9795B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FFB74D"/>
                </a:solidFill>
              </a:defRPr>
            </a:pPr>
            <a:r>
              <a:rPr sz="675" b="1">
                <a:solidFill>
                  <a:srgbClr val="FFB74D"/>
                </a:solidFill>
              </a:rPr>
              <a:t>MONITORAR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1784E57-E103-4806-983D-DEEBF30FF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B74D"/>
                </a:solidFill>
              </a:defRPr>
            </a:pPr>
            <a:r>
              <a:rPr sz="1425" b="1">
                <a:solidFill>
                  <a:srgbClr val="FFB74D"/>
                </a:solidFill>
              </a:rPr>
              <a:t>fev de 26 · 1,39x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75827533-904A-42F0-BBA9-CBE2F5C2B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Menor cobertura mensal do recorte.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0D861D6-2475-4588-85EA-A336BFD63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106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0057C784-0F0F-40F4-9564-44D940BFF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8860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F38005E1-6701-46CD-A896-6574FE580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CA9CE5E2-5728-4388-A206-8F28C0EA0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231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PICO DE RECEITA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10AE8C91-73B9-4130-9F3F-42BC429CA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C4ACA383-19A8-4737-BBF0-C910A9DFE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FD80B8C7-926E-40C2-8C8F-7031BD64C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dez de 28 · R$ 15 mi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F22A5746-3556-48A0-A29B-2A4FDF700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Maior receita mensal (realizada + prevista) do recorte.</a:t>
            </a:r>
          </a:p>
        </p:txBody>
      </p:sp>
    </p:spTree>
    <p:extLst>
      <p:ext uri="{BB962C8B-B14F-4D97-AF65-F5344CB8AC3E}">
        <p14:creationId xmlns:p14="http://schemas.microsoft.com/office/powerpoint/2010/main" val="57379055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501A615-E8CD-47C3-9B01-2E60D4619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33C7B6-BE63-46F0-998B-DB160AB83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1B35E7-9B52-4A0D-9295-E6ADCBA75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EVOLUÇÃO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D56205-A9AD-46AA-AE70-2EE053C2E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86A4A1-047B-4EA7-A8DA-A726D88CD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669d6b22ca4a30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2DB0C0-B946-4EBB-A095-39FD369F3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CE2EF2-8766-4F25-9D41-0458107EC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9A6A10-742C-4409-9025-B291E6D2C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Receita e folha, competência a competência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250D92-6BEE-4134-BCC8-E719528AB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31 competência(s) com valor realizado e 29 com previsão. Realizado e previsto permanecem identificados separadamente em todas as séries.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6B04E5-34CC-4934-8C64-9D14ACD7A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c85d54178e40bb">
            <a:extLst>
              <a:ext uri="{96DAC541-7B7A-43D3-8B79-37D633B846F1}">
                <asvg:svgBlip xmlns:asvg="http://schemas.microsoft.com/office/drawing/2016/SVG/main" r:embed="Reb25d362759542a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F76B38-7740-4237-A51E-7AE6D35BC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A341E0-D466-4021-A3A0-0352CC309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5C808F-64D2-4F7D-88CE-C62024850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4C9D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AA8366-EED4-42B9-BA87-D82B5F019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2C87BC-472B-458A-80EC-2DE23EA4E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72E303-7BC9-400B-BCC8-9F863E763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8958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fechada + encargos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69C5E5-0273-4865-9B20-2B4E00190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FFB74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C51122-9DD9-4CFB-A6C8-D708E55BF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projetada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B5255C-9C69-4B93-BEFD-8D27EA0D9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A41F68-F888-44F0-B242-755FA5D9B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RECEITA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4A2CFA-1350-4A25-AF10-FC8D1579A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dez de 28 · R$ 15 mi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15233A8-2F14-4031-B4CE-F00900EF1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FOLHA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30176A-732A-4AC6-BF4D-8F2159F3B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R$ 3,4 mi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5F8CB2C-157B-448B-B17B-6A76AAC57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MÊS MAIS APERTADO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7B93419-1D35-47EB-AD07-25864648A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1,39x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E72AA2C-8F2A-4888-BD60-EC2E02364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SALDO MENSAL MÉDIO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45A222-BD6B-4E5A-AF1E-495B23E6C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R$ 7 mi</a:t>
            </a:r>
          </a:p>
        </p:txBody>
      </p:sp>
    </p:spTree>
    <p:extLst>
      <p:ext uri="{BB962C8B-B14F-4D97-AF65-F5344CB8AC3E}">
        <p14:creationId xmlns:p14="http://schemas.microsoft.com/office/powerpoint/2010/main" val="98685144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AB3FDE2-94B4-48E5-A50B-B42BD5452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30EADC-212C-4A49-BCC3-ACE6C9204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C0570A-9327-4EE5-9678-801A09E92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CURVA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474D5B-A2F7-46C7-984D-A31407AD0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05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EEE4FB-CFA9-4518-9FB0-01735CB4B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68eac95c204267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258567-4CB7-4343-BC82-F02ED20BB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EE42A0-477E-4CB3-9BB9-1C6D4A838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BBCD6B-E9AC-43FD-9406-03652DFAC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Valores de cada competência, sem acumulação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21EA9F-FD38-459F-AB8E-BC9B4278E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leitura mês a mês da receita e da folha: onde cada uma sobe, onde recua e a partir de quando passam a ser projeção.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81AEF0-65FD-4172-9EC6-44F6496C0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9e4df7888b4be4">
            <a:extLst>
              <a:ext uri="{96DAC541-7B7A-43D3-8B79-37D633B846F1}">
                <asvg:svgBlip xmlns:asvg="http://schemas.microsoft.com/office/drawing/2016/SVG/main" r:embed="Rbe49f6a407ed4e7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18F34D-C847-4E4D-95C8-E102D0A82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EFD270-CE4F-4E28-BF84-EEE0EE44A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5453A0-E51D-4491-8C0B-2D4AFB3DD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8653BA-5C2F-45CA-A152-ABDCD90F1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799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3D19D7-928A-46F8-A0D3-39B499A3B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6672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233818-A632-43B8-981F-BBD77BB16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638915-CDBD-4F8D-B7EB-35FC190B1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6672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fechada + encargos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E6D138-9B7E-4D93-80BE-51FE09123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523D26-0C47-49BF-B181-4BEFF2086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0327F53-B44E-463D-8E50-57B32E948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6672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projetada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EB39600-9CC7-4BF0-A2BD-A9746E17E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Traço contínuo: valores fechados. Traço tracejado: projeção, ancorada na última competência realizada.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1306452-D08A-4C73-8C89-E17E5294C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09FAF87-4669-4353-A3B4-533B22418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025EB90-E961-4DB7-A541-1ABCACA84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dez de 28 · R$ 15 mi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81C7C0B-73F7-4FC2-9547-6F4E37281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FOLHA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C53FD23-FB36-4191-851C-657991125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R$ 3,4 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5500B7A-EABA-4A1C-A48C-BCBCB8D05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REALIZADAS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5AA7D8F-E21D-4B0B-8745-6B2C2A149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31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90A9EB7-F699-4F4A-A362-4BE71DE00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PROJETADAS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DFB788A-3AF6-4725-B70C-E35DBB663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9735786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4DF2D0D-DCA8-4E57-B35C-81DB61A3C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B28DE7-7760-4BA4-BA82-D617E9F2D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E94797-A255-4CB6-AF37-86184923A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CURVA S ACUMULADA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ACF3FC-5775-4641-AD25-F9C00B188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06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152461-678C-42B8-B5E2-1DE543D46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9638f4047d4689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43D13C-0FDF-4639-818C-4AE7F4ABE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E92242-9881-45F9-A3C2-26D6E7348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AE3637-7457-4BC3-90B6-B5B52C3D5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A trajetória acumulada do período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28D407-794C-4A66-8DB0-5AF2B2F1E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trajetória acumulada mantém-se positiva em todo o recorte e fecha em R$ 421,6 mi.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BFB552-4E8A-4D5E-98C4-3F2C5DA69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136e1f345141d2">
            <a:extLst>
              <a:ext uri="{96DAC541-7B7A-43D3-8B79-37D633B846F1}">
                <asvg:svgBlip xmlns:asvg="http://schemas.microsoft.com/office/drawing/2016/SVG/main" r:embed="R71a67f4b99a34b8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F32E78-480E-4109-8AEA-177C1FD49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793633-6602-4B26-9897-E3945BA6E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acumulado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F78133-D5D1-4367-B5E0-25EE92330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EA687A-F6CE-4461-9D24-724F0CA1E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acumulada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EC2609-C8F9-4B21-A0E5-C825C6A6B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090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D9DBEF-162F-4013-A97D-AC41BD639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865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E07A84-C9D9-4BD2-B585-A3C7EE186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8215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acumulado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46680C-0F98-41C3-9C86-8693AF6C5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B47B61-7E85-4966-8F26-33DF39784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RECEITA ACUMULADA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BF6C73-5381-42E0-B948-5DA63E885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R$ 516,6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938D44F-F343-42F7-A0CA-F6DCE572D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FOLHA ACUMULADA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AA93F48-2CE6-4C5D-9AD8-C6E202BC8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R$ 95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17E3FC5-4A04-4676-B038-7D1178DBA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SALDO NO FECHO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C21CB27-7739-415F-9F88-F4395C6B6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5E6BB"/>
                </a:solidFill>
              </a:defRPr>
            </a:pPr>
            <a:r>
              <a:rPr sz="1350" b="1">
                <a:solidFill>
                  <a:srgbClr val="35E6BB"/>
                </a:solidFill>
              </a:rPr>
              <a:t>R$ 421,6 mi</a:t>
            </a:r>
          </a:p>
        </p:txBody>
      </p:sp>
    </p:spTree>
    <p:extLst>
      <p:ext uri="{BB962C8B-B14F-4D97-AF65-F5344CB8AC3E}">
        <p14:creationId xmlns:p14="http://schemas.microsoft.com/office/powerpoint/2010/main" val="66527492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F879C79-8EC6-49FD-8FFB-DD86504FC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3BDE00-2E43-4CB6-A7AB-2ED7499E5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F405C3-E950-401C-A10D-A47A62A0B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SALDO MENSAL E ACUMULADO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317BF8-E0C9-48BA-A164-BD97A3598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07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F45273-478D-4A35-839D-5E2C9DC68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44c0780012467e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786AD7-B898-42AF-9781-EB56E6849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0B783B-5C5E-4916-9D2B-641C23502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5502E1-39E0-4D3D-83C3-F193869C3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Onde o período gera e onde consome resultado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1BB021-ED86-4704-99CF-8EE39646D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Nenhuma competência do recorte fecha com saldo mensal negativo.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1A8306-FAB5-46B3-AD9A-5CDFC47B6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1332814202485f">
            <a:extLst>
              <a:ext uri="{96DAC541-7B7A-43D3-8B79-37D633B846F1}">
                <asvg:svgBlip xmlns:asvg="http://schemas.microsoft.com/office/drawing/2016/SVG/main" r:embed="R747479f8e549430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7797F4-E5AB-4C0D-820B-FEBB975F6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F68DBA-7260-472F-B9F4-447F8EF1F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do mês (positivo)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DE179B-FECA-48E6-A1B3-1DB1DF1CA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995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0B34C1-B41A-415F-B2D3-28166DF82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do mês (negativo)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3501D3-9B75-4873-B842-D89321980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99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3A3095-84DE-4A08-B047-C6A037D99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2115" y="4667250"/>
            <a:ext cx="2514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acumulado — eixo direito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0852B9-82DC-4E23-9D2B-CE211C50F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Colunas: saldo do mês (eixo esquerdo). Linha: saldo acumulado (eixo direito).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D4FC45-9220-4E8F-A1E9-14A482BAD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4CA081-7F5B-467F-A9D1-4B6DA8866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MELHOR MÊS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253CFF5-714A-48B4-8FA9-249BA726C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5E6BB"/>
                </a:solidFill>
              </a:defRPr>
            </a:pPr>
            <a:r>
              <a:rPr sz="1350" b="1">
                <a:solidFill>
                  <a:srgbClr val="35E6BB"/>
                </a:solidFill>
              </a:rPr>
              <a:t>dez de 28 · R$ 13,3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FB7901E-8A66-414C-BCA5-52B6BD051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PIOR MÊS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659646-21E5-4294-B38A-4C3045F2B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CBDBDD"/>
                </a:solidFill>
              </a:defRPr>
            </a:pPr>
            <a:r>
              <a:rPr sz="1350" b="1">
                <a:solidFill>
                  <a:srgbClr val="CBDBDD"/>
                </a:solidFill>
              </a:rPr>
              <a:t>dez de 25 · R$ 940,3 mil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F0AE30-5AAA-4C1A-ABF2-00245DDB0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NO RECORTE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AA64EB9-9E1E-4448-84E5-34219492C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60</a:t>
            </a:r>
          </a:p>
        </p:txBody>
      </p:sp>
    </p:spTree>
    <p:extLst>
      <p:ext uri="{BB962C8B-B14F-4D97-AF65-F5344CB8AC3E}">
        <p14:creationId xmlns:p14="http://schemas.microsoft.com/office/powerpoint/2010/main" val="120870952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9BF066C-795B-4735-87DC-1ED3E41B0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06E41D-CEA4-4F47-9301-471998B37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E127DC-88FC-4632-ABA4-E6B574BD2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PROJEÇÃO POR CLIENTE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B9791A-27F3-40DF-B796-594C253FC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08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3F59AC-97D1-418C-9D5B-5913FB663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7ddc562a3d432a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61477E-5AA8-4D4C-A849-526053FEA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E2EB57-92EA-405A-A23D-F2DF35F6F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86EF9B-14FD-4002-BE82-152098451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Quem compõe o faturamento projetado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CC1D6B-62AC-4CF6-A4F4-A3154D980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composição mensal reflete o cronograma contratual e a evolução prevista da carteira de clientes.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16974C-B262-4AC5-AC97-BB134C747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4457700"/>
          </a:xfrm>
          <a:prstGeom xmlns:a="http://schemas.openxmlformats.org/drawingml/2006/main" prst="roundRect">
            <a:avLst>
              <a:gd name="adj" fmla="val 256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64edebcaee4627">
            <a:extLst>
              <a:ext uri="{96DAC541-7B7A-43D3-8B79-37D633B846F1}">
                <asvg:svgBlip xmlns:asvg="http://schemas.microsoft.com/office/drawing/2016/SVG/main" r:embed="R3055124be86f4c4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7909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64C5A1-07C1-4F5C-A03A-5B0088357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BCBDD3-04C9-4756-AAFF-6A1C23E99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600700"/>
            <a:ext cx="121158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AXIA Energia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9846B2-8511-4249-AA0A-94E712259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17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A4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4A2188-166F-4F8E-B1C6-89D2E4863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9830" y="5600700"/>
            <a:ext cx="9944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Petrobras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82530F-2D5D-4374-ADE1-1109487DA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424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4A9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06A512-C7EF-4F47-811F-00432F595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2365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Enel Green Power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4FD041-0138-4342-9362-1818BFF8E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3C9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DC52B5-4A36-41F2-A77F-A143BF875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1630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Belém Bioenergia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EFE62D-088C-43A6-93A5-2604B2580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77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4B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CD67FA-2EE1-4A86-BB85-B20CA7553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895" y="560070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Flessak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994931-D101-4A22-8F9C-BAB2C5494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CD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E96393-83B7-4D24-907F-E2C945D22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60070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CEMIG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D0B23E3-7106-49A9-B2C7-DFFD0E01C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B7F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91C9143-34E2-4678-906B-FD2AAD060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600700"/>
            <a:ext cx="7772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Harbin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BFFE70D-7A1A-4011-8F02-63A7D14D5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A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47D0C73-3FF4-437C-9159-D77620D8F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810250"/>
            <a:ext cx="1283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ArcelorMittal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C743753-DD17-4891-883D-A3439EF7D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409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8A9E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FEE66FC-EABA-4EFC-9FFF-DED2A9373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2220" y="581025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Andritz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1017CB0-C109-41C3-BA67-73EC475E5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8AA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17E2A8D-8D04-4C32-A050-D9500376E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81025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Âmbar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70839C2-7AF1-471A-986A-B98A08CAA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B8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D722FC6-298B-4DC9-89D3-565335513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810250"/>
            <a:ext cx="13563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Hydro Alunorte</a:t>
            </a:r>
          </a:p>
        </p:txBody>
      </p:sp>
    </p:spTree>
    <p:extLst>
      <p:ext uri="{BB962C8B-B14F-4D97-AF65-F5344CB8AC3E}">
        <p14:creationId xmlns:p14="http://schemas.microsoft.com/office/powerpoint/2010/main" val="114415954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FA7BC321-D795-4CEB-978B-BB5127562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0A9C74-5ADB-4E2E-81AC-5A747912E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500CB4-969D-4935-88F5-6A0189A88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A6A587-A332-4094-BEA4-C7780B7F4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09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E04EBF-458C-4379-BE8E-3A401DEEB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9f4bcd32594220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789F02-8837-45B0-9FFE-C31272CD6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8A4602-217C-4ACC-A3EA-4BDBFE640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D0937C-6DF3-4564-99CC-2F43DE9EE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Todos os valores por trás dos gráficos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8CF90F-380A-47D0-B1D2-1233DD482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Dados informados do sistema na Projeção Financeira. As competências projetadas seguem na sequência cronológica, destacadas em cor.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FEC405-7A18-414F-8436-C244B9ED7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8FB5BD-7179-47F8-812F-D5AB6A02D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759C30-72E0-4CD1-9D27-41958F272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957CB6-3161-4A9D-ACA2-13BB01AA6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97867D-421F-48C2-A5CB-52095C928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D481F5-795F-4C8B-AACC-48A9328C6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AD6965-0314-4A3F-9A2A-61F57C55F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5B1FDC-2457-461F-8241-041455DC4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BAF3DB-FA65-4229-91E5-8BED75DD4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65C074-88DF-47C7-8D35-473417A6C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R$ 6.789.213,81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438DB6-4BB1-4D35-BC3E-A4D58E192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R$ 890.704,19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A98BD48-C473-4B43-A930-E30E2D0CA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R$ 5.898.509,62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69034D-9847-45BF-8B84-616565A4A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R$ 5.898.509,62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11770FC-6BA3-4A57-B4EE-DB8308393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86886D-1912-4AE3-A65B-89AA1237E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C8C26C9-C4D6-4B76-9EEB-AE803B68C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03380E6-EBA0-4C48-9A73-467D1AE00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R$ 3.817.372,69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AAA0823-10E9-4FF4-B0E0-13F126EE9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R$ 1.020.426,58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D1BFC71-6B94-4AB4-B110-C4BFB4AA6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R$ 2.796.946,11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5CF0018-833A-4A2C-8691-FDFE96B2F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R$ 8.695.455,73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2751309-08DF-44D1-8402-CADB15185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42619BC-BBA9-427B-B644-01B4E3487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785EF7D-E9F8-4B01-A5CE-870EDD04E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R$ 4.732.792,38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EE43554-3FB5-428E-988B-EDE73C159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R$ 1.185.267,32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A471D25-0502-4823-82A1-0EE0985E4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R$ 3.547.525,06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C8B7514-CBFB-46A0-B2F1-9DBF4E236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R$ 12.242.980,79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C04CCC3-F685-43DB-BB61-7F3854BAD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F403F28-CA48-4477-BA19-57D503C92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25DA72E-DF64-4509-918E-208881534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9E93F20-5F2C-4310-9A0F-3CB7CA29A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R$ 7.231.990,50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0BCAEDF-B7F5-4235-B799-24E583E72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R$ 1.174.044,87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4C67CA0-1CD0-4EE5-9AEF-1DB310CC5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R$ 6.057.945,63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9AC04E7-C8F6-43B1-A34D-087FFE92A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R$ 18.300.926,42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4E7F700-1945-4C04-A56D-660C75EFE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8382FBA-42A1-451B-9364-4325FD770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24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F61CEC8-8337-4783-9FC4-B57ECD652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R$ 5.506.503,71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03BE917-E1AB-42A8-9003-ABF8DB296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R$ 1.091.167,43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D47EE59-03AE-4006-8411-0B878FC55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R$ 4.415.336,28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4615610-A60B-430C-8526-C44C50FCC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R$ 22.716.262,70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C2E4E52-6740-454D-8166-6DD29522D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FBF5855-94C1-483C-829D-09D39A2D3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F168003-B8F7-4CDE-84A7-FA4917EE9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B6C95EC-3901-4256-A4B1-1723EAF75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R$ 4.380.902,39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1F8C429-F74B-4870-8292-328BD1A87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R$ 1.133.609,80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1758564-CB39-400E-8CEE-30145C0AC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R$ 3.247.292,59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5B5D0A9-F742-4E03-BF19-26064D15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R$ 25.963.555,29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41DC509-2A8D-4869-A502-0A92DF782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DB24ADC-B590-4644-9019-CDE693AEC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24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4954831-0533-4337-B43C-1470F4530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R$ 6.510.910,49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124C350-E34E-4E75-B456-984095F77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R$ 1.113.424,01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133A474-CE06-4760-A8DB-B0FC2FFF0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R$ 5.397.486,48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A8F811A-EFDB-4913-A835-3FFE66B91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R$ 31.361.041,77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14D545F-9FB1-40C9-85E6-1198C2551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1A7D325-8FF7-489E-93C0-478E769FE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F6AAB05-BC4A-4138-97AD-E96F871BF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24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EEDC138-A629-4242-9758-A74C7E275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R$ 5.421.686,74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7B7801E-0254-452C-A0FF-35B2274C2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R$ 1.040.357,05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20957084-BEB9-4FA4-AC9D-59F5B5BF5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R$ 4.381.329,69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199B452-D082-40FC-BE8D-93F741ADB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R$ 35.742.371,46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ADF790E-52C4-4E4A-9329-1CC43527D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3552527-3844-4CE4-BD4C-1780B9520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24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F26DC8E8-6B67-4ACB-B8F0-9E5F3B878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R$ 5.682.241,80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25431257-740F-45AA-BA39-B1609EB4F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R$ 859.008,24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2FCAE834-2A06-4077-AA2F-CDF5161F0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R$ 4.823.233,56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E02A3CD8-81BB-469C-B9B0-F81E93703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R$ 40.565.605,02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0CA03D58-A8FD-4AEA-BFDB-26485E2FA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5C2E5942-D041-41C5-B515-A8FC2ADB6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5C05A0B7-E543-49FD-85EC-BA0CF7161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24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8524DA1F-831D-43C8-97B9-16A7BC568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R$ 8.541.056,13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3D93D47B-661C-4EA5-9491-D8383A18F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R$ 897.448,27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9B514929-8577-4AA7-9A68-7D7115BF5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R$ 7.643.607,86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0AC3B718-854D-49E6-94D8-651A57542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R$ 48.209.212,88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947192A7-8D8F-4EEE-8DB6-BF36CD74A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88B89535-7FE9-41BA-83C0-53399AB23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24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24721749-DFBD-4EBC-9F40-4CE6285D4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R$ 7.608.873,04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C90A9BCD-3B66-48BE-8200-DE87473FF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R$ 1.021.448,72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90695C0B-5DDA-42F3-BF6E-16AA81677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R$ 6.587.424,32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2166006C-7CA9-466A-80CE-A0971680B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R$ 54.796.637,20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02B4E0C5-61B8-42B3-A9BA-EBFD88FCA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BCE398CF-2C34-4A53-910C-9A9547864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EA5762F4-3FA8-408F-9D7A-8E5966A85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24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4C44EEE5-0437-45D7-9A82-216EE7EFC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R$ 12.158.119,93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F1B0E5C4-417B-4463-9F76-0157F5F6E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R$ 953.973,58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E21F422E-0AC7-4F9D-B3E8-0011189F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R$ 11.204.146,35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B9C000C5-A215-41AE-862E-B225487AD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R$ 66.000.783,55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8BE7F27F-E766-4FD2-98AD-81EE21D7A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E0C9EFC4-B449-421B-BB68-A88AC9FF1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25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62B9BD60-B80A-41BA-921F-B6FFB910B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R$ 6.481.505,36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542FF591-1B0E-403A-8DB6-1078B3598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R$ 1.331.022,91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00DF0A4F-0B02-4E63-9F9C-E307F15BB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R$ 5.150.482,45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E98EC904-4A0A-4D8D-9E18-C97737788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R$ 71.151.266,00</a:t>
            </a:r>
          </a:p>
        </p:txBody>
      </p:sp>
    </p:spTree>
    <p:extLst>
      <p:ext uri="{BB962C8B-B14F-4D97-AF65-F5344CB8AC3E}">
        <p14:creationId xmlns:p14="http://schemas.microsoft.com/office/powerpoint/2010/main" val="187920229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2933B87C-75F1-45D5-9E3E-174474433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C73420-1B90-4FCF-B005-6F14F6D70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C533BD-FFFB-4D46-B58B-4ED99E9D5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126397-F76F-4D1B-B289-9D407487F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10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CEA1ED-54C1-4D34-9D44-1A1BB3030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351ebb142d41e3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ABD086-901F-444D-9176-43E28F4F0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B535FD-84BE-4833-948E-3EDE8E951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5F0016-8ED9-44EE-9532-9DE124779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287A30-DFCE-4E9A-B5B7-680D57276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2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58C635-8AB2-4505-B3E3-B5ADA5085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1EFFE0-C0D1-46AA-88CF-330D96632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8A2294-7D01-4B6B-83C2-BF6A8D9B8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1CCD94-72AA-471E-9520-F45BBD1DA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413867-A112-49EF-8F19-1E1C07617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0867EE-8BD1-4883-8606-822E27CD3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4BB4B9-3CD6-49EA-945C-D4B5C6EDD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AA3601-5BC3-4ED3-9F26-79A0AAF26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78DB24-4434-4F7B-91BD-E4A44A4CB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693E86-7A02-4C0D-B9EC-9682C5D5A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405931-9276-45C2-B472-E23D893C7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R$ 7.218.837,49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66C904-3793-45B0-BD48-B645C09F2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R$ 1.310.101,05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7DA2144-131C-438C-A99C-C9B90E9C4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R$ 5.908.736,44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535D296-A8B9-4F91-BCBD-9626AE75A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R$ 77.060.002,44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10F091D-7AB8-4931-A168-EB5AD3585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809B05-E8F6-49AA-A499-42369E582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C0E945D-03DF-4654-86BE-8D0685CC0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R$ 7.554.012,04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A642A12-E48A-479F-A9B7-D16CC9758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R$ 1.354.501,90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3B7CA64-B314-46F1-A0C9-8E14E4B92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R$ 6.199.510,14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4DBDDAE-9B49-4F0D-85D4-211960A73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R$ 83.259.512,58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F5986D1-4AC3-47DA-960E-BBF61C255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1357EAF-42A8-47FE-A80D-0B500CF84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03057A4-BFEC-4F28-A5EA-ED1BBA1D9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000F25A-8F67-4B9C-90F9-2AFB27370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R$ 4.739.459,41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3E54DE7-0BA6-4B28-A0FA-E964F572F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R$ 1.531.002,29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49854D7-C9B1-45C7-9618-A1439895A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R$ 3.208.457,12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3A7ACCC-E8FD-47FA-9E16-2276564C8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R$ 86.467.969,70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C300B31-D877-4DB4-A13D-452C8258D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AEDA8C5-D68A-4DDB-A067-DEE0A951E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A7099A8-EFF2-49EE-902A-B3DF89DA6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R$ 6.235.104,42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E9B533B-217E-4E44-9946-C08A87D63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R$ 1.761.893,50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F12D1B2-4154-4760-B340-04E0DA217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R$ 4.473.210,92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020B7A7-EA1C-4547-B472-5DBFE6625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R$ 90.941.180,62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94C6E03-E66F-465C-86D0-45D0A093B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0B8ADAC-654A-46EB-9318-ABC0D4E8E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B194C13-5633-4E48-95CF-440643896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E032162-3C67-4A8C-B3D0-8574ABF5D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R$ 3.511.692,47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D2C54C8-4957-4628-983E-2397478FB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R$ 1.523.207,92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5A001C1-7AD5-431C-BAE0-AEE870407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R$ 1.988.484,55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8B87F02-EDE0-4BDF-A7C5-5E18C4302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R$ 92.929.665,17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788401C-8B25-428F-9517-43A1BEC5F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C628A91-6E8D-4A8A-9B46-C4270FF07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25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67D58F3-725E-480D-9456-DEB2037C0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R$ 3.267.455,46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0DED1BE-F79C-4A44-B748-16BD0A4C6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R$ 1.574.251,96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1BF3303-D455-42AC-A0D0-0CC53C92C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R$ 1.693.203,50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380D7B0-1C22-49B2-B882-C3D9F7CAB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R$ 94.622.868,67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6CB2735-C5FD-4E37-97EE-01D5CF1F9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288B47A1-086D-485F-9096-2AC8D4959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B86A613-0279-4C4C-A804-7DC115116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25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E34794D-BB41-4F26-A349-695CD35F7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R$ 4.042.135,73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80BB234-14A1-43DA-A18D-CAA1EC27D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R$ 1.597.750,18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D9CD702-036D-44BC-82C0-70C1921D1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R$ 2.444.385,55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B66228A-4EBB-4C12-AF8D-C62379536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R$ 97.067.254,22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16ABDC3-9E0E-49F7-8A61-D7EC364B7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E68D81C-1845-4458-BC28-607439AB5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25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C3816EC-6BDD-4D7A-844C-9BC53A947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R$ 5.879.203,03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3E219F8-C6BB-485B-B404-CA274DDC6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R$ 1.644.127,33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42D8CB06-B43C-40CA-833F-00391CD5B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R$ 4.235.075,70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7543AC9-CA1B-419E-B799-61B6D25DA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R$ 101.302.329,92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6DF8E53F-F859-4404-A16D-D3CD628A4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57255FC4-CF48-4C8E-8FCB-FEE1F90A3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DFB3D10B-B1C0-4032-B895-C924EC940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25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5341B7BF-C8C6-4760-9E9A-69AB889DA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R$ 4.431.996,15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032D7305-B0F2-4E82-8625-9F3CAD818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R$ 1.728.097,81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614F93B2-BC62-4507-BB28-ACC7FB939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R$ 2.703.898,34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2C9D5681-20E7-4A72-8EF9-1532CFE3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R$ 104.006.228,26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C8CA7E31-0074-4938-AB85-7B80207ED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9E705E2-C07B-4B34-B992-3E0D82C45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25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21C5E44D-3BD9-4763-8A36-3A6CD2161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R$ 10.858.257,81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C7808DD-33DA-4E43-BD53-BA7CC0893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R$ 1.877.160,31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C4705494-FA96-4866-B1D1-0790FC82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R$ 8.981.097,50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AF38A07E-CF84-445B-95EF-9BF339F7E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R$ 112.987.325,76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08551176-E25A-4CA7-8A64-E3B3B062B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43D8807E-FC39-44F3-854F-25BE83C32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B92C9B8A-C09D-415C-BB4D-D62572ECB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E9F2D3C7-77DA-4527-8194-FB1EF57B3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R$ 2.904.942,16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EEC9B152-F2B4-49DA-B7B1-9F3DC1DC2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R$ 1.964.681,62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863B9842-40FF-4A5A-830B-DCEFBF507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R$ 940.260,54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5F323ECE-659E-4DF6-9E93-82E26A142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R$ 113.927.586,30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677515B1-C475-4340-BB46-F3C1F5AAF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F7251014-9630-4C04-93A9-3CB4B6DDD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26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AFB0ADC9-56F3-429D-AB73-C4F1D6DB9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R$ 10.366.331,04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A8CB5595-F1AA-45DA-A625-EBE037FBE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R$ 3.208.000,00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1E191EF9-90D1-4D15-A25D-5C940A01E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R$ 7.158.331,04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79446BA0-24BF-4C81-8E5D-055F1B0DA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R$ 121.085.917,34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CFE5C971-FFB6-4A20-B14F-E652FDB70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749DBDBF-F900-42DC-885C-AC7752010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53F0A5FC-8B0C-4092-8FFC-D9C481A1A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DE08F9B3-5189-4F50-870C-B70EB91B2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R$ 4.700.897,81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EC065B6D-3A38-4BA1-9F87-9BF802964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R$ 3.389.000,00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FFA612FE-115F-4702-92B8-6C6E05FA4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R$ 1.311.897,81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1C54C97F-CC2C-42F0-A141-CC3D9E763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R$ 122.397.815,15</a:t>
            </a:r>
          </a:p>
        </p:txBody>
      </p:sp>
    </p:spTree>
    <p:extLst>
      <p:ext uri="{BB962C8B-B14F-4D97-AF65-F5344CB8AC3E}">
        <p14:creationId xmlns:p14="http://schemas.microsoft.com/office/powerpoint/2010/main" val="30035514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CDBB0D6D-0088-47C4-A4A2-B0ACF414F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3FB0F8-C21F-4BFF-A9F8-A3D78D4D2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F330DA-D22D-4123-8451-1E0FAF53E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87AA2B-0B0B-4576-A6CE-F73AC19E9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11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8C9418-20CD-47CB-88FE-3A1DB4CBD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dbd57d0853473e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87CE65-1E3A-4937-B060-28D950E43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3D0254-4E7C-4EBC-8A2F-33ACEB3FB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6CE0D9-C895-4EDC-9118-AA7E74EA8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568083-C55F-4272-976F-8AFDC3E66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3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B9C6DC-67A6-44CE-8D81-FDEA9858C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5BE8E7-B1DF-4899-AE73-3B4B1F06E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AA4E9F-7F4E-444A-BB51-1DAE54C4C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2F8D1E-287B-433F-9A15-63E3DFA52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34015D-A8FB-4543-B42B-D830B7B5A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2AF9AA-02EE-42E1-833D-3AE838526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9985A6-ACEA-4680-8193-94DD2D049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19382E-0AC3-482D-A7F8-E49A89CBE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613A93-219B-4B8C-A89A-EFD32659B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CA31AE-80C6-4F63-B8BC-5695CA282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R$ 5.650.881,81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645746-5D1F-4550-BCF7-179F55C52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R$ 3.266.000,00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DF4B50-9A7C-44AC-8844-FEF4975F7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R$ 2.384.881,81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F660EA-B275-4621-841A-05FD1C16D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R$ 124.782.696,96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8B9D09-8ADD-4D24-A483-8A125039B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21BE7F5-D632-4076-A4DD-CCA9C8A9A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E15FA7A-041E-4683-B470-0933AD583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D89497C-E728-4E17-9D7C-67E36CADF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R$ 5.897.524,13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08882D6-8294-4543-8707-32ABEEFC2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R$ 3.360.000,00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DD45E0E-1044-4136-BA06-CEB8D7D25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R$ 2.537.524,13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BDFF793-2124-444A-9E80-92DEBE57B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R$ 127.320.221,09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14618B7-2A8B-4D5F-9558-00DB10F16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4A57F91-848E-41F4-B5E6-5EED654A5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0E0CEB3-1F60-4A3E-B95F-3C4B4307E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R$ 7.355.196,27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0C0E525-DD39-40EE-9BAB-D70C4C735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R$ 2.953.000,00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CCB168A-3811-4C29-A4EC-E97C51BF1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R$ 4.402.196,27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D5541DA-6445-4F20-BD57-008D3A1DD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R$ 131.722.417,36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4DD1FD7-8CF2-4A9D-8786-9D03E9647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8316CE5-48D8-4ED3-A537-022F7159F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E0D61BD-4E32-4D1C-BE14-C93529233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1F4D408-924F-4F15-B3D5-06D57AF6B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R$ 7.178.434,69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E24386E-BDD9-4401-BB91-757BB7D6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R$ 3.108.000,00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964829D-A838-45AE-A8AB-AA6CFB7FC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R$ 4.070.434,69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A054714-C1C0-444D-8F42-EF9A1C062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R$ 135.792.852,05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993ED9F-793A-415B-8981-03964639C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A654724-11B0-4B2D-A4C7-B96B4AD3F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6428A9B-662B-490A-BB57-4464457C7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R$ 4.978.967,55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4006539-93F8-49A7-A3AA-D1BB9B00E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—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60B0B30-17A7-4DE9-89F1-6CCA5FA23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R$ 4.978.967,55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6D00945-4690-4EEE-A780-554C88855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R$ 140.771.819,60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C894995-F264-42DF-8E27-5F5409AF8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24263"/>
            <a:ext cx="10801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4C9DFF"/>
                </a:solidFill>
              </a:defRPr>
            </a:pPr>
            <a:r>
              <a:rPr sz="825" b="1">
                <a:solidFill>
                  <a:srgbClr val="4C9DFF"/>
                </a:solidFill>
              </a:rPr>
              <a:t>PROJEÇÃO — COMPETÊNCIAS AINDA NÃO FECHADAS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BC52123-A7BD-4B33-8AD0-DE3A8C958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A7585FE-469E-401B-88CE-DEA05F23D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43665DD-5558-409B-965E-75C172153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90D6053-F216-41D7-8BCF-BB862DF8F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F0AC5CE-F933-4ACB-AF47-0BCB840C4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R$ 11.459.330,09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65FC279-30AA-41F4-8D20-130EC0D3C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R$ 1.512.430,00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932E73A-D795-4768-ABF9-A0D1C46FE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R$ 9.946.900,09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3941753-605B-4113-A333-592128AC0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R$ 150.718.719,69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5D92741-A30A-4CDA-8400-59AB73230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36255B1-893F-454B-8C3F-CCB3CA688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26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E9E7DE1-E4B3-4464-AFBA-39F6CCFCA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R$ 5.617.810,24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5021F98-92D2-4C48-AFB6-39A77816A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R$ 1.387.850,00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2A4523D-9C50-4224-88E8-37C98DBA1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R$ 4.229.960,24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21F8CD3-6D1F-43AF-9243-A8782F7DB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R$ 154.948.679,93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5A695B5-384E-4C3F-B500-E311443A1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C8D51A57-1FD4-440F-B3FD-7F5AF3CED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05A39B04-9913-4F5E-9B8C-1F79F4E57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26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6F07C5B1-9FEC-4B2D-9A00-B3ACC0063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R$ 10.000.000,00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AF8D19C5-31F6-4A95-9CFA-0383E8A93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R$ 1.634.720,00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BAA7963-6F52-4702-BCB4-55544A190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R$ 8.365.280,00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8FE6EB9F-F1A3-40AE-9889-3A0ED20E5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R$ 163.313.959,93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C89C338-73AF-4B97-ADAA-DEF9DA86C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4FFCA4ED-77F3-4DB5-9C68-C2A7D6BEB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26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F3631A46-A699-43CF-B5C8-287EF269F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R$ 10.725.000,00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950882F8-5480-44E1-B912-FD5EF2CDE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R$ 1.728.940,00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C147C460-1927-4B12-B80B-7B9A9D406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R$ 8.996.060,00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D618129D-590C-4D2E-9E99-94B3EC52E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R$ 172.310.019,93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0C2BAC0B-8B0D-4310-BCE9-377E08A49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F9DAC71B-8469-41D1-A534-2C24E1E71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3DB55BA5-CA7A-4094-AA85-713860690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26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0F7A2368-9EAE-443E-B221-FF7127002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R$ 10.502.461,80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1924DC09-CC64-4274-A25B-66C0B390D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R$ 1.596.380,00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B9D89BF6-11CA-4432-82DD-B443D0D80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R$ 8.906.081,80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D862266C-C2C0-4ED1-B6F9-E790526D8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R$ 181.216.101,73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A4D77B65-FF2D-4102-AFC2-F4485D112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91338122-641A-4CC5-9BC6-9BEACE835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27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CC757F64-436B-4793-A3B2-3BBF7D044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R$ 12.200.000,00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C8DA680A-01BA-4DBB-985D-8492D2BD1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R$ 1.682.510,00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A52283A6-138A-4BB9-AD67-71C8A989B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R$ 10.517.490,00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7D68AEF6-CFAF-4A76-A928-DAAAB7C69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R$ 191.733.591,73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73581367-21D4-4F90-985A-3E3289DA1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69A0A458-20B3-43F2-AFE7-25A81B64C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CCCB2FEB-AC24-47B3-A429-F24629C78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6F506478-09CF-45CF-A159-2CB129EC6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R$ 11.800.000,00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12818043-BCA1-4D59-9E29-71191A1D2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R$ 1.574.260,00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39A989C7-9FA2-4105-A8E6-226D3643B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R$ 10.225.740,00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2BDC0416-C733-472E-9FDF-3B4814591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R$ 201.959.331,73</a:t>
            </a:r>
          </a:p>
        </p:txBody>
      </p:sp>
    </p:spTree>
    <p:extLst>
      <p:ext uri="{BB962C8B-B14F-4D97-AF65-F5344CB8AC3E}">
        <p14:creationId xmlns:p14="http://schemas.microsoft.com/office/powerpoint/2010/main" val="186487298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DC051B1D-4209-4BC8-B4BB-8201F6B60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80753E-8750-4D4C-B8E8-35EA0FE47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CFF2F0-DA1D-47E0-B37B-A970B221E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28EAB0-2D84-4A5A-AF49-409F2F051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899CF0-C53E-46E1-81D9-BC8ECA1E5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860d2b9636411c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E16B25-5319-49B9-911C-A862F6FB6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E9B657-CEA3-4DE0-8CEF-8F7B8625C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6113FD-96FE-416E-B7F3-30CE49967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63BF69-7020-4B44-905B-5ED0EF281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4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009BFF-E249-4A1D-A81B-0A3F85C09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14F1AA-B0BE-4E1E-B3C0-854E09461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2E511A-60E8-46A9-933B-8A3ADECEB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25890B-35DC-4975-8D8F-56291BE81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7E6AEB-B940-4A9E-88A3-EE51FCF0D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D622DD-159B-44AB-B7B2-04EC91A63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EEE5B7-FE53-4E67-B6B3-2AE5A4975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846D83-5E6E-4194-82A3-A9569C622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3C8712-F57A-4D68-B301-3DC54748E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38251B-3559-42B9-9C63-672DE8F7F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R$ 11.200.000,00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A9D256-C89D-413B-8D30-CDB5B5759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R$ 1.493.870,00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8F83C56-B512-4715-A9FF-93292A330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R$ 9.706.130,00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A645D0-472B-4CBB-8812-B0EA6EE21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R$ 211.665.461,73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D3142F0-CB5E-40D1-A684-90DC9A180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DE3950-0FD4-4FA3-9BF8-136A9CF88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A57C40C-97E6-4675-B9F0-3892E926B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BDE3BB0-3219-4044-A60C-5BCF2CC75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25B6EB9-9188-4815-9020-B3DE53431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R$ 1.421.650,00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B88721A-CD41-44AF-8F20-DD51A635E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R$ 9.078.350,00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5F27EB0-F057-45C2-99E3-B187EACEF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R$ 220.743.811,73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81BD5D5-1722-4BD6-9013-3DD6B9B6F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5ECDA8B-7441-417B-9E2A-F5BA145B8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6631D95-A583-4EBB-AF7E-A91D3E07D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R$ 10.100.000,00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3207F7B-D17E-4FE1-8388-3B872AEAA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R$ 1.356.420,00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AB84E0F-0015-44D1-8169-1D0FFE43A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R$ 8.743.580,00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14CC3F1-682E-4837-8DB2-3FB8E6B15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R$ 229.487.391,73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F00F800-39E8-4CD2-BBBB-45722BD99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0628865-CF4F-4345-BA71-65414A141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B818DA8-F09F-4838-9E9F-7684F3633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27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E6DADE8-F2DC-473E-8AF5-8B407F2EB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70869D9-2846-443E-B989-D657211C2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R$ 1.318.760,00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6707359-930A-4F2B-9690-D405ACE46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R$ 8.181.240,00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5551DA7-6D42-4FF9-84A3-F778D91CB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R$ 237.668.631,73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9D608A5-6194-4C8F-8B14-F8A3C48DC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56FA91B-DEFB-44BA-86D0-846D1267D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27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41DF7A8-A5CA-4EF4-83EC-BA8CCDC2C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R$ 9.200.000,00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BA81E91-6703-4A02-9539-8FF6B91CF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R$ 1.342.590,00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7BB6679-9EF9-453C-923C-1F29FFB3C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R$ 7.857.410,00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509459B-1381-4E8D-B2B9-86DD527C6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R$ 245.526.041,73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180B820-E163-4C16-BF2E-CA9F5AF27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D2F6643-1088-497F-8B5A-AAF23039B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A247BFD-14D7-40F4-A97C-3C174A1A8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27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04983BC-19B5-40BD-B4FA-21F42278C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R$ 9.600.000,00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B877749-3B89-4B84-B8D8-AC4D82FC1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R$ 1.397.840,00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578C716-B007-4E21-8DE0-9D1871B26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R$ 8.202.160,00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2D9BB96-0FD2-46F4-B4EE-DEF73BA2E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R$ 253.728.201,73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8B64F2F-5839-4450-8053-ECB154EB2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26F2851E-8043-49E6-8A13-6B8399CD7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27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AE536C7-32B5-480F-A62D-DAD04548E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R$ 10.500.000,00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8B1FBA3-D1F2-485C-8A64-758699F77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R$ 1.468.230,00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392F309-BEF1-445C-8640-3F94001AF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R$ 9.031.770,00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1AEA942-77D6-42FF-9A86-49AED1D64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R$ 262.759.971,73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31CD971-7E73-4C80-8CD1-E62E06A12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0913E3F-793A-4119-9459-D0C5DD538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272B448-F2CC-4291-8E59-B2CF4B0DC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27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091C3851-335A-4066-967C-F193C15C6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R$ 11.500.000,00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79DB943E-A351-45E2-8409-191206165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R$ 1.559.670,00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2A2069EA-5DA1-46F6-BA7E-47FDCE7C5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R$ 9.940.330,00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5969E7D1-ADDA-409D-9B7B-C30D2FE50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R$ 272.700.301,73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418ACB7C-8B32-4B41-863F-694F02D7B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1790BFA8-2D9B-42A4-9E05-D94A82978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27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FF409AEF-179B-4D04-BBDE-680A9B5D1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R$ 12.800.000,00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D7909DB4-61AB-47D4-AE00-EF73CB312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R$ 1.671.480,00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6F738823-4666-4A74-ABC2-AB2DCEDB4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R$ 11.128.520,00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B4042F93-816A-47C9-BF27-388519F79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R$ 283.828.821,73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85087CA7-802E-4CFF-8082-FDE503EDE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B7C9B465-512F-41CA-B3D1-AEF7450B2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1A777DB1-5470-4E00-97B6-492609746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27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E2120C02-D942-4FFB-AEDE-CB6CC808E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R$ 14.050.000,00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A38986C5-A53D-4BED-B2C3-D6D65120A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R$ 1.739.250,00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4EB1CEB7-96B3-4BFC-93AC-173FDEF66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R$ 12.310.750,00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9CD9A2D0-A42E-442C-9705-5BADB94F0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R$ 296.139.571,73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0DD26D31-6CE5-47F6-BF7F-E6E85A99D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46D4B094-991F-44AB-A4C8-98735359C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28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CA3DC82F-8EDC-4B09-95A9-714F3BAA8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R$ 13.750.000,00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F106F25E-4FE8-434E-B0F1-9061E0FD6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R$ 1.696.840,00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B713E80E-FF60-45D3-9835-4AB1E9E81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R$ 12.053.160,00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6AA496C5-0483-44F1-BE6F-B197B302E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R$ 308.192.731,73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CEB7A3F4-8138-4250-83EF-A7BD35DE7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A3DE689A-634B-4D06-A4D6-EB6B61070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FADED07E-CC7F-426D-A1DD-15D4838D1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28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FFA988E9-A213-4E35-B52D-41DE4497F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R$ 13.000.000,00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BBCE5775-17A3-410C-94D8-9AE2B7E15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R$ 1.612.370,00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837CF879-5998-48CB-964E-2A30C55BF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R$ 11.387.630,00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084C03C6-7078-4217-A91B-FC0274AE7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R$ 319.580.361,73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2AA07753-1FCE-4821-84C6-18B0C36D4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A3D2333F-384F-4448-AE60-A9F28CB43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28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9D7FEADF-AED3-4986-98F7-D987DB820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R$ 12.300.000,00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1EF561AE-49F7-49C5-9DA3-74B5BBE99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R$ 1.529.680,00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A77AA8D9-6E8A-4AB9-83C3-0600B3BE2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R$ 10.770.320,00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F267C73A-7C46-4B9F-BF22-1E2F701A3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R$ 330.350.681,73</a:t>
            </a:r>
          </a:p>
        </p:txBody>
      </p:sp>
    </p:spTree>
    <p:extLst>
      <p:ext uri="{BB962C8B-B14F-4D97-AF65-F5344CB8AC3E}">
        <p14:creationId xmlns:p14="http://schemas.microsoft.com/office/powerpoint/2010/main" val="194818741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9820026D-B9AD-44AE-843F-2091B3D4A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D0A38C-3A6C-408D-A4B2-4B9F034A2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167E13-2209-4CD3-B20B-05213815C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8D7A57-422B-472B-9AA7-9DAB7EEBD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45CC35-7520-4D92-83A6-400CAE3F9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29701283064f33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CC122C-0130-45E0-A1C0-2ED9D626F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E40E6D-FF47-4D8F-B480-E6A298D00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016BDB-3368-4A83-AF40-C71B38864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802378-9E19-4EC4-A4E9-B5DA51682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5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F07F5D-73BC-4DAF-A6AC-2A08DC913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332BC1-029C-41DF-8964-426C977D4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005831-A276-4572-8E8C-BC1202E99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752BE5-291F-46E6-B559-F83D0E76A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DD5CE3-13CB-4667-B94F-0873D3636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85CD9A-3EBE-4AB2-B733-C9AFF1ECD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8D7FF8-0343-48F7-B38E-08D3857E3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38A40A-4668-4B06-80DE-5E55B6B73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643E58-84FF-4D7D-BDCF-7BF89098D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AC6FE3-C1F9-4B9B-97CE-7C0B1BA23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B110C8C-88E6-4AD6-B5CE-2FE36FC7E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R$ 11.500.000,00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1C5B4B-F9AF-401F-9B82-B8AD865D9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R$ 1.447.340,00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D94B7E-F228-43B4-891E-F7046523E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R$ 10.052.660,00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7A1A7DF-31A3-439D-A839-121795DC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R$ 340.403.341,73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4518FC7-C790-4A39-A60F-733298A5D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4DBBAE-EA79-4E5D-8BB2-92AB82FB5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DAD434E-F85B-4D96-A4CB-800E87DF8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R$ 10.800.000,00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FED11BF-DD88-41F0-A8F2-1296104EB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R$ 1.378.920,00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88710A8-7225-40DA-A255-76E875CCF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R$ 9.421.080,00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DFC386C-7667-4183-8F34-9AC07D3C7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R$ 349.824.421,73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4517E55-9AF5-4462-BFAF-5FCE69165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B31821D-9289-4333-B5E3-AA34B4C22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6EC768D-1DB9-43DD-A24D-8B9AB6BAB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8220494-D302-44C2-AE86-2B6294B28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R$ 9.800.000,00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E65DD77-84DD-4BB1-989B-8D5639AAC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R$ 1.326.410,00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4B72A16-3CDA-4D97-AD8B-B81E2F368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R$ 8.473.590,00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067E7D1-B9B5-47B5-AD9A-9D06DBCE1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R$ 358.298.011,73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F53940E-FE96-41E6-B873-20FBE9B84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7E5D97C-6A07-440E-9447-B3FF28418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08B9A47-A541-4C2A-88C6-845A3F5B5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2E3856E-7C2D-4FCF-A0C0-7F073854D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R$ 1.349.870,00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D3C2331-DEE1-4E04-BB89-53C3563F5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R$ 8.150.130,00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8F19077-0BA4-4070-B9F8-2A1C7EF0B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R$ 366.448.141,73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AE05435-0347-4499-8A4A-63996A431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F8202FB-A7E8-4DE3-8550-2D147FBA3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FB2C3E7-2D30-4FA0-86A3-53F2753C9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CDAB0A7-DA32-4F71-B52D-753C53E17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R$ 10.000.000,00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1221FB2-269C-4064-BCB9-A4F11956E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R$ 1.408.630,00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6C5BFA0-18D2-4B66-9FDE-490B01C20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R$ 8.591.370,00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B1701B8-C232-4931-A100-ED71F9263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R$ 375.039.511,73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B2824AE-7489-444F-9251-080139F2D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FF846C8-63D7-4B85-829E-5002CBF9B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28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9AF6EE6-4B5F-497D-A41D-3D86C55BD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R$ 11.300.000,00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E5296EF-5C24-482C-98F4-87B67EAA9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R$ 1.482.760,00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E915A7E-F4F3-4792-A021-64A5AFE06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R$ 9.817.240,00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2371400-B413-4D4C-BBD3-232D706C7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R$ 384.856.751,73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4BAB235-2991-4353-B66B-1BDAAA520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7E3C270-74B9-42D4-9BBE-50457DFBF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93A97EB-E948-4802-84D1-5F190B622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28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F9F3971-8FA9-4F8D-B89E-45720A7ED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R$ 12.600.000,00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6185B8E-16A5-4B7A-9F1E-1C4AF97A4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R$ 1.578.140,00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C292E74-A2CB-484C-94A9-10D09557F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R$ 11.021.860,00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F5874EF-EB9C-4713-865D-717572229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R$ 395.878.611,73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40F857A-E68D-4F8A-89E2-28EF4C856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BA401B6-7EDD-4C5E-9C57-0DF14B8F0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28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3A37B46-F259-49AF-962C-B725372EF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R$ 14.200.000,00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61751CD-48D6-46CE-AEAA-4A0ACB622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R$ 1.689.630,00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11572CE-E908-49C9-ABB0-992E780A0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R$ 12.510.370,00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824C5CA0-90B5-4C87-B7EE-1A5865100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R$ 408.388.981,73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490D0EB-E3AE-4E29-B997-AF5936BAF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181CAD90-BD80-4339-8D31-2AC69B2A0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6F62B51C-A12E-4B2E-B475-57272E3D7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ED19A98B-ED8D-443A-8371-9FB561ECE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R$ 15.000.000,00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F4C223DD-0C6E-429B-9555-580B005CD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R$ 1.742.180,00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E3DE36F7-1DEE-41CC-9663-84914B9B7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R$ 13.257.820,00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05D6C49-D97F-4FC0-923D-9C0DC0507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R$ 421.646.801,73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1951793B-F049-4209-B0C5-35D2F9113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468144E0-4D50-4600-9EF1-2845D1A1C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Subtotal realizado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EC881779-0DB6-4869-994C-2ECC6B018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R$ 191.634.498,44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8BCBDD06-C83A-45E0-9A6F-7913CF62A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R$ 50.862.678,84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FDF4EE2E-296B-4736-96A7-6F8D4CB1C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R$ 140.771.819,60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2259FDAB-F30C-48EB-8AE7-8A8BBCE47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—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1F8DA37D-574C-4D89-AEB7-3BFEB8674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58302828-8B9A-4DF0-A3AA-0F25D78B5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Subtotal projetado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540F7C11-EFC0-45F0-8708-5B4BB25FC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4C9DFF"/>
                </a:solidFill>
              </a:defRPr>
            </a:pPr>
            <a:r>
              <a:rPr sz="1050" b="1">
                <a:solidFill>
                  <a:srgbClr val="4C9DFF"/>
                </a:solidFill>
              </a:rPr>
              <a:t>R$ 325.004.602,13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59543002-340F-479B-9805-8139B2497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4C9DFF"/>
                </a:solidFill>
              </a:defRPr>
            </a:pPr>
            <a:r>
              <a:rPr sz="1050" b="1">
                <a:solidFill>
                  <a:srgbClr val="4C9DFF"/>
                </a:solidFill>
              </a:rPr>
              <a:t>R$ 44.129.620,00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52683069-7FA0-466F-81F6-3E53CC44A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R$ 280.874.982,13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35C9442C-1662-458C-B94D-E10C5ECF2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—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E4FF9387-62E4-4759-96BF-60BE0AF3A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37F40EBD-6D4F-459D-A98E-BC58DBAF0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3DDF0347-435E-46D5-AABB-DD5A5BCFD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Total do recorte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AA569301-A213-40BF-91FE-D6A06C82C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R$ 516.639.100,57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432C2E53-F60D-42BC-A927-8A265936B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R$ 94.992.298,84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F8F18E86-8469-496B-B1DC-104324E80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R$ 421.646.801,73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D5E84D14-BE42-414C-9A09-DBD237E80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R$ 421.646.801,73</a:t>
            </a:r>
          </a:p>
        </p:txBody>
      </p:sp>
    </p:spTree>
    <p:extLst>
      <p:ext uri="{BB962C8B-B14F-4D97-AF65-F5344CB8AC3E}">
        <p14:creationId xmlns:p14="http://schemas.microsoft.com/office/powerpoint/2010/main" val="183061373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895BF4BD-BF1E-4BE8-9158-6F62148FD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283CE6-8316-41C4-8318-3FA12D992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C0FE84-7BE6-47AD-8459-E76E04DB8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CARTEIRA E RECEBÍVEIS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AE37F2-48B5-4B3B-8FFC-699A62FB9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BB54B8-43E1-428E-9514-8B33F6BA6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8852d848154b2e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32F307-964C-4A37-A54E-09774683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0487FA-A047-43F7-ABDF-8922B9F32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442A10-6D9E-4AC9-AB43-788B7ED26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Backlog que sustenta a projeção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4AB74E-376B-439D-99C6-40A4BED94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Saldo a receber conforme informado na carteira; não equivale necessariamente a caixa recebido.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A6FF60-427B-4150-8305-4ACAE6A4F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2D86EA-5BA7-4A95-BBBC-EBF24BEBA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EE8F09-7C87-4200-95EF-63F560B68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52600"/>
            <a:ext cx="1276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CLIENTE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A9AD2B-DB65-420C-A7EE-F565F8FD4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752600"/>
            <a:ext cx="895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STATUS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B0BD9B-770C-4E2A-97C8-8109D3E75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CARTEIRA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043898-0C15-406E-A5E4-96654DE80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CEDC59-EECC-49D6-9A21-7F29052E0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BACKLOG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B18C72-FA72-42DC-8C82-252ABBB08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 RECEBER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4C1553-5E21-4C63-91B1-BE84288BA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ATÉ 2028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5062AB9-23EE-43EA-99E4-97A7CBC4E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PÓS-2028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B4EED4-E8DF-423D-9420-2D6C65A90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F3B424-6730-410A-AF36-979A54474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859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AXIA Energia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937A8F8-D971-4ADC-9BEB-C818769B4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0859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3E5DA7C-55AF-4A36-9214-B79A86AE0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R$ 42.544.856,72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99E152F-F2C0-49C2-8725-7F97D3378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R$ 13.587.630,96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0884E6E-2689-4F31-B283-613858AE3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R$ 28.957.225,76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4F77033-0ADB-4E32-B662-7780EA51C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R$ 16.901.328,68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AA4BEE6-1256-4702-AC93-775A86426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R$ 28.957.225,76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FAA0849-6A89-4E07-97CA-BE3221EF2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D03A1F4-CD87-4F8A-9F48-7833E17E3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AD77F00-1198-4DE7-9590-AA8172A9A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5EA0243-A3F6-41D6-B8FB-89CD1D278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4288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Petrobras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FFAFEC2-C447-409D-933E-0EEA15267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4288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834C880-5D1D-4CB5-8748-F1DAA67B2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R$ 126.739.271,47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EAC7026-F8BE-45C5-B35B-0957D9EE3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R$ 1.506.178,20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D288283-D081-4255-A1F5-129FEA7E6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R$ 125.233.093,27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2E0E932-5C3F-4A63-9248-8FF8636B7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R$ 2.752.843,23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CD58640-27B4-4ABD-B8C0-3B99D4E78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R$ 123.670.948,92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4F82CD1-ACE5-44B4-BBD0-8EFB7FBBB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R$ 1.562.144,35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15252C3-54DD-4A8D-9BCD-B369CA823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34D11F3-93AA-4464-9DB2-2211F8584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7717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Enel Green Power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85A165C-133F-4C03-87A4-176FF7329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7717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BE1F121-61CD-489F-8A93-C9F0321DA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R$ 74.695.374,05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453F498-ED88-4CCF-9359-8726FDBBF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R$ 46.633.200,10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481E0A9-29EB-4903-B638-820C165CE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R$ 28.062.173,95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52F7DBF-BE50-4BEF-89F6-EBFDAFB0A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R$ 25.512.835,02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8CDFE22-7F42-4733-8263-36CCB19B6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R$ 28.062.173,95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7FB6EF3-DCAD-407D-B4E4-897010A7C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470BB31-1180-4612-8079-D4C4C83E1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6504CEF-5B93-49CF-A753-E63F906A0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577A3ED-B17F-49EC-AF4B-545E5830A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1146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CEMIG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486C5A5-F2F1-4765-BCA8-A49A8BEE0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1146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627FAB3-9970-404C-B04F-682A8080D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R$ 157.646.971,08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AB77CED-854B-4DC7-AC63-B3E541633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R$ 15.287.450,14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7480FD1-68D1-4E31-947C-9114A5BFD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R$ 142.359.520,94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215D522-AF05-46E1-BC01-DC8824CD7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R$ 15.391.505,90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600A935-5356-4BC6-B57A-8E49CCE84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R$ 142.359.520,94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3598498-A7CB-48C5-8A26-FF563F74C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46B86BC-038B-4470-9CCD-22A118C0B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BEA295E-C8F8-4109-94FC-555F9E4F4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4575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Âmbar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58EE777-3318-4037-BCB3-F60E3062C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4575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039E56A-5E0E-40B4-A01D-5DFEBEB41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R$ 883.317,21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520D29E-3091-4B86-B76F-0A6F0F593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R$ 794.985,49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9DDC500-7DDC-451E-8C50-644510325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R$ 88.331,72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5F646DE-30B4-4E8C-AAFB-B7A5A8391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R$ 883.317,20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A0C000E-FF83-4D44-A20B-C92AF93C9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R$ 485.824,46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BB12877-F31B-4E90-8E99-24B50FFD4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1BB1F04-F3D7-49DF-BB94-6FE717E60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62BBB25-F39E-48A5-80F4-A765D6AB9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AC27E6AF-1C9E-4C6A-A71A-2FE1225CD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8004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Hydro Alunorte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1DADA99-FC0B-4732-90E4-DC3E945EE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8004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9EDAD8B-69AA-41D0-9479-00BF99D5E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R$ 4.965.143,38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EE026DD7-68F5-448A-B0CC-9F07FAD0F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R$ 828.439,34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B4501717-1B7D-49C4-966C-443DF7A9D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R$ 4.136.704,04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A12C755D-F057-4334-A94F-24E3F11A5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R$ 872.409,82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166E51DC-9FC8-4AE4-B3E0-ADF8B6198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R$ 4.136.704,04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E7963138-B9F9-455E-B6FB-71B35FCCF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BB30FE92-32EE-4FEB-A210-16F09F0AF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0B46630E-DB5E-4521-B9F9-6B783F44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433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Belém Bioenergia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63BAE761-FEE0-4D81-B572-0C6750A2F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1433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2AA1E39F-622A-4E6B-9C87-0DD80A99D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R$ 1.445.844,71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4628F88B-8AFF-49E7-8B7A-7CDC64033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R$ 279.135,36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83923504-0CD4-4719-9155-90E67160A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R$ 1.166.709,35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1E2764D6-3190-468E-A9DE-EE83C8D30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R$ 1.445.844,71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8F5F7ECE-0D3C-47B2-9DEB-41FC05D2B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R$ 1.166.709,35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22B9855A-C970-4EBA-B51A-DB2F8B9F5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366293FF-5264-4D53-A633-DE43474A7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AF62D4FA-F14A-4A60-8A2B-880AACEBE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30D6E7AB-8E57-42D0-9CD8-A74CC7735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4862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Flessak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776859D1-9745-4B37-AABF-1EFA7A69C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4862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9C5F1687-8128-490D-8B20-213D16615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R$ 803.178,97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5BEAED38-0AA3-449D-82BA-412B2F673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R$ 80.317,90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30D9061E-9950-4A69-BA83-8DE0BA618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R$ 722.861,07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7BFFB260-370E-4F05-AAB9-6847E5D49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R$ 803.178,96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545AAA55-E9F6-41F9-A69F-7D70B5E7A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R$ 722.861,06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0FD4A2EE-206B-447B-9566-AF3C309A8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R$ 0,01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AB05B839-BE9B-4D2F-AC94-8C215C1E9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9903DCDA-0591-4A54-985B-19225829E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291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Harbin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CB9D7B75-75AA-40A1-A15C-D7D267C91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8291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FFF7C411-D70C-485E-9F67-F00EB149F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8D5320D8-9F1B-49A7-97D8-21FCD8E97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0D1C5F8E-FF6D-4FD2-8979-3347C505A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R$ 80.000,00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41D48446-7023-4B58-9D01-3483E08C6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4BDAC827-1462-437B-9BFA-AFBC1F8E7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AA6F6462-4BBA-4674-84F1-9DC681C1E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FA049475-5422-4A5A-B360-D7ED72B00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29333FEF-A621-406B-9076-2DB729075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18797C59-5E43-48D4-B396-C1991EE39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720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ArcelorMittal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4FCF3234-ED37-47A0-AEFA-01F652590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1720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57A90E22-AA65-43C9-BF14-A1C1F0D06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R$ 261.601,20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0D84D66F-11E5-4BC5-A883-D626805E8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C0D7D88B-0799-4D13-B59F-5D1D153EF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R$ 261.601,20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3B046B62-BFBB-4032-900F-8A28148A1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R$ 261.601,20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74FDA71E-7A46-451A-A99D-E142F9318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R$ 261.601,20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EB358A88-73D8-4A15-8A1B-C30E39F17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3045C2C9-0261-4150-9D3D-8AD784A0B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1DA4439B-3A0D-494C-99AF-182F5D410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149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Andritz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1948C8A3-41F1-4C34-93AC-9F7087354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5149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18CFC8CF-A7DA-4A7E-A064-1E1A1A7A0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33B658F6-34C9-4995-ACF5-F42B307CE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4AFD732C-E54E-4C71-88E4-F159A8852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R$ 80.000,00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854985F5-F0F8-4ED6-9AB6-2D9095CC7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A17B54F8-419A-4656-9E65-24525D0C3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0AE38270-0A36-4D70-A6B0-7060B16F5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390A4000-E45E-4DA4-95D6-BF7BD5BA5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FFF0F6E7-D76B-42EE-B795-10EC53AF8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0FD30322-DB90-4A56-AE36-C27B4F1A4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578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Total da carteira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4A94A0AC-E9EA-4981-9F43-7396B9AF3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8578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11 cliente(s)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812F01EB-A361-48BD-A2ED-08EF38AEC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R$ 410.145.558,79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0E75050C-7215-4887-96DA-15E0FBC23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R$ 78.997.337,49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ECC468EE-F4EE-4D6A-9501-ADCB847DD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4C9DFF"/>
                </a:solidFill>
              </a:defRPr>
            </a:pPr>
            <a:r>
              <a:rPr sz="938" b="1">
                <a:solidFill>
                  <a:srgbClr val="4C9DFF"/>
                </a:solidFill>
              </a:rPr>
              <a:t>R$ 331.148.221,30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7151482F-41E9-4808-9CAF-D9A1107B2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R$ 64.984.864,72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AEE824D3-398F-472F-B6B9-898890139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R$ 329.983.569,68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BDE354FF-ADBB-4880-BA2C-A1CDAE367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R$ 1.562.144,36</a:t>
            </a:r>
          </a:p>
        </p:txBody>
      </p:sp>
    </p:spTree>
    <p:extLst>
      <p:ext uri="{BB962C8B-B14F-4D97-AF65-F5344CB8AC3E}">
        <p14:creationId xmlns:p14="http://schemas.microsoft.com/office/powerpoint/2010/main" val="158923508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BFAC54-4F48-4E41-9541-5E008F31F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84FC05-278B-433D-B532-77954A9A4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502C3A-E436-4825-9BF5-482D643D9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15 / 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F2C619-AAE6-4F34-8289-4D2FADD97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53619750cc4940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FDDAF5-447B-4DC8-92E5-D9E91FF75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4F6853-3AD4-4835-AEB8-AF7BE6F26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1ffbb69d424d61"/>
          <a:stretch xmlns:a="http://schemas.openxmlformats.org/drawingml/2006/main"/>
        </p:blipFill>
        <p:spPr>
          <a:xfrm xmlns:a="http://schemas.openxmlformats.org/drawingml/2006/main">
            <a:off x="3143250" y="3037351"/>
            <a:ext cx="5905500" cy="7832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132483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2026-09-09T23:25:01.8980000Z</dcterms:created>
  <dcterms:modified xsi:type="dcterms:W3CDTF">2026-09-09T23:25:01.8980000Z</dcterms:modified>
</coreProperties>
</file>