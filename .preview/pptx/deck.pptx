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svg" ContentType="image/svg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c9df457e02a6419c" /><Relationship Type="http://schemas.openxmlformats.org/officeDocument/2006/relationships/extended-properties" Target="/docProps/app.xml" Id="R3f0cc0f221d64fc6" /><Relationship Type="http://schemas.openxmlformats.org/officeDocument/2006/relationships/officeDocument" Target="/ppt/presentation.xml" Id="Rff6fe762659046d3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14ab1976f3844a5b"/>
  </p:sldMasterIdLst>
  <p:notesMasterIdLst>
    <p:notesMasterId xmlns:r="http://schemas.openxmlformats.org/officeDocument/2006/relationships" r:id="R8c3bdbc595764e2b"/>
  </p:notesMasterIdLst>
  <p:sldIdLst>
    <p:sldId xmlns:r="http://schemas.openxmlformats.org/officeDocument/2006/relationships" id="256" r:id="R04d0efd9dcb94d8d"/>
    <p:sldId xmlns:r="http://schemas.openxmlformats.org/officeDocument/2006/relationships" id="257" r:id="R32f0fa60f7f443f0"/>
    <p:sldId xmlns:r="http://schemas.openxmlformats.org/officeDocument/2006/relationships" id="258" r:id="R4ccba82c402e4dde"/>
    <p:sldId xmlns:r="http://schemas.openxmlformats.org/officeDocument/2006/relationships" id="259" r:id="R58067c8fe99b43bd"/>
    <p:sldId xmlns:r="http://schemas.openxmlformats.org/officeDocument/2006/relationships" id="260" r:id="Rc5eb9d5a799c462d"/>
    <p:sldId xmlns:r="http://schemas.openxmlformats.org/officeDocument/2006/relationships" id="261" r:id="R132b68ec3294428e"/>
    <p:sldId xmlns:r="http://schemas.openxmlformats.org/officeDocument/2006/relationships" id="262" r:id="Rd8fa8c90ef5c46d9"/>
    <p:sldId xmlns:r="http://schemas.openxmlformats.org/officeDocument/2006/relationships" id="263" r:id="R3f5d4247991c4c0b"/>
    <p:sldId xmlns:r="http://schemas.openxmlformats.org/officeDocument/2006/relationships" id="264" r:id="Rc4ee61b092544aed"/>
    <p:sldId xmlns:r="http://schemas.openxmlformats.org/officeDocument/2006/relationships" id="265" r:id="Rb10c16bb3f404e74"/>
    <p:sldId xmlns:r="http://schemas.openxmlformats.org/officeDocument/2006/relationships" id="266" r:id="Rb76cce67329641dc"/>
    <p:sldId xmlns:r="http://schemas.openxmlformats.org/officeDocument/2006/relationships" id="267" r:id="R2dbc3bed14244181"/>
    <p:sldId xmlns:r="http://schemas.openxmlformats.org/officeDocument/2006/relationships" id="268" r:id="Rd4ceb509eee041af"/>
    <p:sldId xmlns:r="http://schemas.openxmlformats.org/officeDocument/2006/relationships" id="269" r:id="R42103ceac2474460"/>
    <p:sldId xmlns:r="http://schemas.openxmlformats.org/officeDocument/2006/relationships" id="270" r:id="Rd6ce3eb573c34233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d7b6c974d3644347" /><Relationship Type="http://schemas.openxmlformats.org/officeDocument/2006/relationships/slideMaster" Target="/ppt/slideMasters/slideMaster1.xml" Id="R14ab1976f3844a5b" /><Relationship Type="http://schemas.openxmlformats.org/officeDocument/2006/relationships/notesMaster" Target="/ppt/notesMasters/notesMaster1.xml" Id="R8c3bdbc595764e2b" /><Relationship Type="http://schemas.openxmlformats.org/officeDocument/2006/relationships/presProps" Target="/ppt/presProps.xml" Id="R0e4b133b493c423f" /><Relationship Type="http://schemas.openxmlformats.org/officeDocument/2006/relationships/tableStyles" Target="/ppt/tableStyles.xml" Id="R03a9f4853fee49e4" /><Relationship Type="http://schemas.openxmlformats.org/officeDocument/2006/relationships/slide" Target="/ppt/slides/slide1.xml" Id="R04d0efd9dcb94d8d" /><Relationship Type="http://schemas.openxmlformats.org/officeDocument/2006/relationships/slide" Target="/ppt/slides/slide2.xml" Id="R32f0fa60f7f443f0" /><Relationship Type="http://schemas.openxmlformats.org/officeDocument/2006/relationships/slide" Target="/ppt/slides/slide3.xml" Id="R4ccba82c402e4dde" /><Relationship Type="http://schemas.openxmlformats.org/officeDocument/2006/relationships/slide" Target="/ppt/slides/slide4.xml" Id="R58067c8fe99b43bd" /><Relationship Type="http://schemas.openxmlformats.org/officeDocument/2006/relationships/slide" Target="/ppt/slides/slide5.xml" Id="Rc5eb9d5a799c462d" /><Relationship Type="http://schemas.openxmlformats.org/officeDocument/2006/relationships/slide" Target="/ppt/slides/slide6.xml" Id="R132b68ec3294428e" /><Relationship Type="http://schemas.openxmlformats.org/officeDocument/2006/relationships/slide" Target="/ppt/slides/slide7.xml" Id="Rd8fa8c90ef5c46d9" /><Relationship Type="http://schemas.openxmlformats.org/officeDocument/2006/relationships/slide" Target="/ppt/slides/slide8.xml" Id="R3f5d4247991c4c0b" /><Relationship Type="http://schemas.openxmlformats.org/officeDocument/2006/relationships/slide" Target="/ppt/slides/slide9.xml" Id="Rc4ee61b092544aed" /><Relationship Type="http://schemas.openxmlformats.org/officeDocument/2006/relationships/slide" Target="/ppt/slides/slide10.xml" Id="Rb10c16bb3f404e74" /><Relationship Type="http://schemas.openxmlformats.org/officeDocument/2006/relationships/slide" Target="/ppt/slides/slide11.xml" Id="Rb76cce67329641dc" /><Relationship Type="http://schemas.openxmlformats.org/officeDocument/2006/relationships/slide" Target="/ppt/slides/slide12.xml" Id="R2dbc3bed14244181" /><Relationship Type="http://schemas.openxmlformats.org/officeDocument/2006/relationships/slide" Target="/ppt/slides/slide13.xml" Id="Rd4ceb509eee041af" /><Relationship Type="http://schemas.openxmlformats.org/officeDocument/2006/relationships/slide" Target="/ppt/slides/slide14.xml" Id="R42103ceac2474460" /><Relationship Type="http://schemas.openxmlformats.org/officeDocument/2006/relationships/slide" Target="/ppt/slides/slide15.xml" Id="Rd6ce3eb573c34233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60b02a8fd4f345b6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e9b7c99408e649d4" /><Relationship Type="http://schemas.openxmlformats.org/officeDocument/2006/relationships/notesMaster" Target="/ppt/notesMasters/notesMaster1.xml" Id="R9f7fd4a1f97e40c3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907d8ddc605341a0" /><Relationship Type="http://schemas.openxmlformats.org/officeDocument/2006/relationships/notesMaster" Target="/ppt/notesMasters/notesMaster1.xml" Id="Ra975ff0243e9416c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cf372ccd9937446e" /><Relationship Type="http://schemas.openxmlformats.org/officeDocument/2006/relationships/notesMaster" Target="/ppt/notesMasters/notesMaster1.xml" Id="R05202b0b82c64ab8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50f85df4ea784bc7" /><Relationship Type="http://schemas.openxmlformats.org/officeDocument/2006/relationships/notesMaster" Target="/ppt/notesMasters/notesMaster1.xml" Id="R0aeaa195543a4873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cf39f0f0eeab43d6" /><Relationship Type="http://schemas.openxmlformats.org/officeDocument/2006/relationships/notesMaster" Target="/ppt/notesMasters/notesMaster1.xml" Id="Rd401eafaef0b41bc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38f36c0fca9c4229" /><Relationship Type="http://schemas.openxmlformats.org/officeDocument/2006/relationships/notesMaster" Target="/ppt/notesMasters/notesMaster1.xml" Id="Rc0e711d2a7e848c6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1d8cb927c82a4b33" /><Relationship Type="http://schemas.openxmlformats.org/officeDocument/2006/relationships/notesMaster" Target="/ppt/notesMasters/notesMaster1.xml" Id="Ree02d5395ad24779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e43c114eb78c42ff" /><Relationship Type="http://schemas.openxmlformats.org/officeDocument/2006/relationships/notesMaster" Target="/ppt/notesMasters/notesMaster1.xml" Id="R443980c0159e4264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fab6784fec594d13" /><Relationship Type="http://schemas.openxmlformats.org/officeDocument/2006/relationships/notesMaster" Target="/ppt/notesMasters/notesMaster1.xml" Id="R0f25fcbcde35452d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46cede388cd046af" /><Relationship Type="http://schemas.openxmlformats.org/officeDocument/2006/relationships/notesMaster" Target="/ppt/notesMasters/notesMaster1.xml" Id="R53d92d97f4bd43ff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bd430b92ade343db" /><Relationship Type="http://schemas.openxmlformats.org/officeDocument/2006/relationships/notesMaster" Target="/ppt/notesMasters/notesMaster1.xml" Id="Rbeff8836debb4a82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f948178ef24c441c" /><Relationship Type="http://schemas.openxmlformats.org/officeDocument/2006/relationships/notesMaster" Target="/ppt/notesMasters/notesMaster1.xml" Id="Rd9a4698d6af9497a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4d4954f6e8774365" /><Relationship Type="http://schemas.openxmlformats.org/officeDocument/2006/relationships/notesMaster" Target="/ppt/notesMasters/notesMaster1.xml" Id="R93f2303ffee746fc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3bc87b493bf841a9" /><Relationship Type="http://schemas.openxmlformats.org/officeDocument/2006/relationships/notesMaster" Target="/ppt/notesMasters/notesMaster1.xml" Id="R9b4535dabc314705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86f28ef6d91d47f7" /><Relationship Type="http://schemas.openxmlformats.org/officeDocument/2006/relationships/notesMaster" Target="/ppt/notesMasters/notesMaster1.xml" Id="R3e96c1bb460c4010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A receita do período cobre 5,44x o custo de folha informado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Use o roteiro para combinar o tempo de cada bloco antes de entrar nos números.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A receita do período cobre 5,44x o custo de folha informado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- 31 competência(s) com valor realizado e 29 com previsão. Realizado e previsto permanecem identificados separadamente em todas as séries.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Traço contínuo: valores fechados. Traço tracejado: projeção ancorada na última competência realizada.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A trajetória acumulada mantém-se positiva em todo o recorte e fecha em R$ 421,6 mi.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Nenhuma competência do recorte fecha com saldo mensal negativo.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Cada série identifica o cliente que compõe o faturamento previsto.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Todos os valores que sustentam os gráficos anteriores.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Todos os valores que sustentam os gráficos anteriores.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Todos os valores que sustentam os gráficos anteriores.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Todos os valores que sustentam os gráficos anteriores.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Todos os valores que sustentam os gráficos anteriores.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Base contratual usada para limitar e distribuir a projeção.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Seguimos comprometidos com uma execução disciplinada, crescimento sustentável e geração consistente de valor para nossos investidores.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12f03871fdc47d2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e220634720244f5b" /><Relationship Type="http://schemas.openxmlformats.org/officeDocument/2006/relationships/slideLayout" Target="/ppt/slideLayouts/slideLayout1.xml" Id="R51370e2a9a09493c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51370e2a9a09493c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2ea2e237eea460f" /><Relationship Type="http://schemas.openxmlformats.org/officeDocument/2006/relationships/image" Target="/ppt/media/image.png" Id="R3af1824f58374d53" /><Relationship Type="http://schemas.openxmlformats.org/officeDocument/2006/relationships/image" Target="/ppt/media/image2.png" Id="R57fdf327c1b04930" /><Relationship Type="http://schemas.openxmlformats.org/officeDocument/2006/relationships/notesSlide" Target="/ppt/notesSlides/notesSlide1.xml" Id="R1b445237d7e54b18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2d4901dc8594e30" /><Relationship Type="http://schemas.openxmlformats.org/officeDocument/2006/relationships/image" Target="/ppt/media/image3.png" Id="Rba4d16c32df84dcb" /><Relationship Type="http://schemas.openxmlformats.org/officeDocument/2006/relationships/notesSlide" Target="/ppt/notesSlides/notesSlide2.xml" Id="Re82963af979c4bc5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6316602a1d140f2" /><Relationship Type="http://schemas.openxmlformats.org/officeDocument/2006/relationships/image" Target="/ppt/media/image4.png" Id="R450614ea84264790" /><Relationship Type="http://schemas.openxmlformats.org/officeDocument/2006/relationships/image" Target="/ppt/media/image5.png" Id="R6b00cd3fc08c4b6e" /><Relationship Type="http://schemas.openxmlformats.org/officeDocument/2006/relationships/image" Target="/ppt/media/image.svg" Id="Rc4e6830bda2f47db" /><Relationship Type="http://schemas.openxmlformats.org/officeDocument/2006/relationships/notesSlide" Target="/ppt/notesSlides/notesSlide3.xml" Id="Rbb0aee72c480478f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72abf7ebbf74e1a" /><Relationship Type="http://schemas.openxmlformats.org/officeDocument/2006/relationships/image" Target="/ppt/media/image6.png" Id="Rda511d886a1b465d" /><Relationship Type="http://schemas.openxmlformats.org/officeDocument/2006/relationships/image" Target="/ppt/media/image7.png" Id="Ra386ed559128453f" /><Relationship Type="http://schemas.openxmlformats.org/officeDocument/2006/relationships/image" Target="/ppt/media/image2.svg" Id="R1470b50602b54a26" /><Relationship Type="http://schemas.openxmlformats.org/officeDocument/2006/relationships/notesSlide" Target="/ppt/notesSlides/notesSlide4.xml" Id="R9fb6df4238434e08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dc7c498c1b449be" /><Relationship Type="http://schemas.openxmlformats.org/officeDocument/2006/relationships/image" Target="/ppt/media/image8.png" Id="Race923ee43914ac1" /><Relationship Type="http://schemas.openxmlformats.org/officeDocument/2006/relationships/image" Target="/ppt/media/image9.png" Id="R608a09ca9a7a45b1" /><Relationship Type="http://schemas.openxmlformats.org/officeDocument/2006/relationships/image" Target="/ppt/media/image3.svg" Id="Rc009e7b576354293" /><Relationship Type="http://schemas.openxmlformats.org/officeDocument/2006/relationships/notesSlide" Target="/ppt/notesSlides/notesSlide5.xml" Id="R172988f15fa54bda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954ce11d497407b" /><Relationship Type="http://schemas.openxmlformats.org/officeDocument/2006/relationships/image" Target="/ppt/media/image10.png" Id="Rc54b449939b74ae1" /><Relationship Type="http://schemas.openxmlformats.org/officeDocument/2006/relationships/image" Target="/ppt/media/image11.png" Id="R143a127ac5424d69" /><Relationship Type="http://schemas.openxmlformats.org/officeDocument/2006/relationships/image" Target="/ppt/media/image4.svg" Id="Rd92db65bbd51445c" /><Relationship Type="http://schemas.openxmlformats.org/officeDocument/2006/relationships/notesSlide" Target="/ppt/notesSlides/notesSlide6.xml" Id="R5edc99683493479f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319efa558e5478c" /><Relationship Type="http://schemas.openxmlformats.org/officeDocument/2006/relationships/image" Target="/ppt/media/image12.png" Id="Rb3540ff06166426c" /><Relationship Type="http://schemas.openxmlformats.org/officeDocument/2006/relationships/image" Target="/ppt/media/image13.png" Id="Rf800c5682bae492d" /><Relationship Type="http://schemas.openxmlformats.org/officeDocument/2006/relationships/image" Target="/ppt/media/image5.svg" Id="R15b0817fa6f14fb9" /><Relationship Type="http://schemas.openxmlformats.org/officeDocument/2006/relationships/notesSlide" Target="/ppt/notesSlides/notesSlide7.xml" Id="R38964e9db9f148ad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9986c7b87114a5b" /><Relationship Type="http://schemas.openxmlformats.org/officeDocument/2006/relationships/image" Target="/ppt/media/image14.png" Id="Ra808e44ec3964e86" /><Relationship Type="http://schemas.openxmlformats.org/officeDocument/2006/relationships/image" Target="/ppt/media/image15.png" Id="R0d7cde7b04554676" /><Relationship Type="http://schemas.openxmlformats.org/officeDocument/2006/relationships/image" Target="/ppt/media/image6.svg" Id="R2f4e3d9335bf45cc" /><Relationship Type="http://schemas.openxmlformats.org/officeDocument/2006/relationships/notesSlide" Target="/ppt/notesSlides/notesSlide8.xml" Id="R508616c842d241f5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e8c15518e1d4dea" /><Relationship Type="http://schemas.openxmlformats.org/officeDocument/2006/relationships/image" Target="/ppt/media/image16.png" Id="R4f3afcbafcc447da" /><Relationship Type="http://schemas.openxmlformats.org/officeDocument/2006/relationships/notesSlide" Target="/ppt/notesSlides/notesSlide9.xml" Id="R34d4c7c5e98b4eed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37f92b4c9fa454d" /><Relationship Type="http://schemas.openxmlformats.org/officeDocument/2006/relationships/image" Target="/ppt/media/image17.png" Id="R6d4414e714864c4c" /><Relationship Type="http://schemas.openxmlformats.org/officeDocument/2006/relationships/notesSlide" Target="/ppt/notesSlides/notesSlide10.xml" Id="R4b7f5fd787b34df7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fc8ea38cbd34e07" /><Relationship Type="http://schemas.openxmlformats.org/officeDocument/2006/relationships/image" Target="/ppt/media/image18.png" Id="Rc082e6f2dff843f0" /><Relationship Type="http://schemas.openxmlformats.org/officeDocument/2006/relationships/notesSlide" Target="/ppt/notesSlides/notesSlide11.xml" Id="R107cedf6cbfb40fc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55088eadbd34399" /><Relationship Type="http://schemas.openxmlformats.org/officeDocument/2006/relationships/image" Target="/ppt/media/image19.png" Id="R4c54b4ec776548f9" /><Relationship Type="http://schemas.openxmlformats.org/officeDocument/2006/relationships/notesSlide" Target="/ppt/notesSlides/notesSlide12.xml" Id="Rbc5b65560b12404f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278c7fbeb5d4df4" /><Relationship Type="http://schemas.openxmlformats.org/officeDocument/2006/relationships/image" Target="/ppt/media/image20.png" Id="R227c5bb227bb4b38" /><Relationship Type="http://schemas.openxmlformats.org/officeDocument/2006/relationships/notesSlide" Target="/ppt/notesSlides/notesSlide13.xml" Id="Ra202236c0063465a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ae3480c76f24df0" /><Relationship Type="http://schemas.openxmlformats.org/officeDocument/2006/relationships/image" Target="/ppt/media/image21.png" Id="R23741cd066cf4afa" /><Relationship Type="http://schemas.openxmlformats.org/officeDocument/2006/relationships/notesSlide" Target="/ppt/notesSlides/notesSlide14.xml" Id="Ra6ddf1cd54974042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98741891dd04fce" /><Relationship Type="http://schemas.openxmlformats.org/officeDocument/2006/relationships/image" Target="/ppt/media/image22.png" Id="Rcbd1aa19f8024e57" /><Relationship Type="http://schemas.openxmlformats.org/officeDocument/2006/relationships/image" Target="/ppt/media/image23.png" Id="R863d387d2f5340f1" /><Relationship Type="http://schemas.openxmlformats.org/officeDocument/2006/relationships/notesSlide" Target="/ppt/notesSlides/notesSlide15.xml" Id="R81c605ce6fa94ba1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40A1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66C40F6-56DA-4B39-91E4-6E0F016CF1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B4A6DB8-ADA4-478D-9935-09BC858C38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B8CC9F4-5263-48CD-8F69-559EBC14A6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2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af1824f58374d53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55F0507-E189-4A13-9BF4-4577219FCB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Dados informados do sistema na Projeção Financeira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6E1B0FD-E002-4540-BA56-4BBC367163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Faturamento vs Folha de Pagamento · v1 · CONFIDENCIAL</a:t>
            </a:r>
          </a:p>
        </p:txBody>
      </p:sp>
      <p:pic>
        <p:nvPicPr>
          <p:cNvPr id="2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7fdf327c1b04930"/>
          <a:stretch xmlns:a="http://schemas.openxmlformats.org/drawingml/2006/main"/>
        </p:blipFill>
        <p:spPr>
          <a:xfrm xmlns:a="http://schemas.openxmlformats.org/drawingml/2006/main">
            <a:off x="609600" y="685800"/>
            <a:ext cx="3303330" cy="438150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76401CC-7A45-4231-83EB-2A05A1A18C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762000"/>
            <a:ext cx="1866900" cy="285750"/>
          </a:xfrm>
          <a:prstGeom xmlns:a="http://schemas.openxmlformats.org/drawingml/2006/main" prst="roundRect">
            <a:avLst>
              <a:gd name="adj" fmla="val 40000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1E3A42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C9D6B99-6599-464D-8585-B1C2EB4585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828675"/>
            <a:ext cx="1866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2222"/>
          </a:bodyPr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35E6BB"/>
                </a:solidFill>
              </a:defRPr>
            </a:pPr>
            <a:r>
              <a:rPr sz="900" b="1">
                <a:solidFill>
                  <a:srgbClr val="35E6BB"/>
                </a:solidFill>
              </a:rPr>
              <a:t>CONFIDENCIAL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517040D-8777-44D3-96E2-393BFF424F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71900"/>
            <a:ext cx="95250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3900" b="1">
                <a:solidFill>
                  <a:srgbClr val="F2FAF9"/>
                </a:solidFill>
              </a:defRPr>
            </a:pPr>
            <a:r>
              <a:rPr sz="3900" b="1">
                <a:solidFill>
                  <a:srgbClr val="F2FAF9"/>
                </a:solidFill>
              </a:rPr>
              <a:t>Relatório de Faturamento vs Folha de Pagamento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642D7BA-85D3-4B75-92CA-180AD4A839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91150"/>
            <a:ext cx="342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5E7880"/>
                </a:solidFill>
              </a:defRPr>
            </a:pPr>
            <a:r>
              <a:rPr sz="825" b="1">
                <a:solidFill>
                  <a:srgbClr val="5E7880"/>
                </a:solidFill>
              </a:rPr>
              <a:t>PERÍODO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08C7081-6526-4125-9213-EDF8DF6543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19750"/>
            <a:ext cx="342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392"/>
          </a:bodyPr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CBDBDD"/>
                </a:solidFill>
              </a:defRPr>
            </a:pPr>
            <a:r>
              <a:rPr sz="1275" b="1">
                <a:solidFill>
                  <a:srgbClr val="CBDBDD"/>
                </a:solidFill>
              </a:rPr>
              <a:t>jan de 24 — dez de 28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BF0D199-3948-4A2A-92D0-2B2D035BAC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5391150"/>
            <a:ext cx="342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5E7880"/>
                </a:solidFill>
              </a:defRPr>
            </a:pPr>
            <a:r>
              <a:rPr sz="825" b="1">
                <a:solidFill>
                  <a:srgbClr val="5E7880"/>
                </a:solidFill>
              </a:rPr>
              <a:t>DATA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BE9DF25-4B39-4DF0-B6DC-F8500DA036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5619750"/>
            <a:ext cx="342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392"/>
          </a:bodyPr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CBDBDD"/>
                </a:solidFill>
              </a:defRPr>
            </a:pPr>
            <a:r>
              <a:rPr sz="1275" b="1">
                <a:solidFill>
                  <a:srgbClr val="CBDBDD"/>
                </a:solidFill>
              </a:rPr>
              <a:t>30-07-2026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2429367-7237-4668-98F2-B66ACB5579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5391150"/>
            <a:ext cx="342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5E7880"/>
                </a:solidFill>
              </a:defRPr>
            </a:pPr>
            <a:r>
              <a:rPr sz="825" b="1">
                <a:solidFill>
                  <a:srgbClr val="5E7880"/>
                </a:solidFill>
              </a:rPr>
              <a:t>PREPARADO POR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21423F0-E735-425D-A596-DC0E6B303E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5619750"/>
            <a:ext cx="342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392"/>
          </a:bodyPr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CBDBDD"/>
                </a:solidFill>
              </a:defRPr>
            </a:pPr>
            <a:r>
              <a:rPr sz="1275" b="1">
                <a:solidFill>
                  <a:srgbClr val="CBDBDD"/>
                </a:solidFill>
              </a:rPr>
              <a:t>Sergio Fagundes</a:t>
            </a:r>
          </a:p>
        </p:txBody>
      </p:sp>
    </p:spTree>
    <p:extLst>
      <p:ext uri="{BB962C8B-B14F-4D97-AF65-F5344CB8AC3E}">
        <p14:creationId xmlns:p14="http://schemas.microsoft.com/office/powerpoint/2010/main" val="2129502063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040A1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87F5BD7B-9146-4726-8B22-557439841A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F94C087-FDC2-4682-9794-3C1A7570A6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B15D26C-D66A-4928-B135-3D7F868E00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35E6BB"/>
                </a:solidFill>
              </a:defRPr>
            </a:pPr>
            <a:r>
              <a:rPr sz="975" b="1">
                <a:solidFill>
                  <a:srgbClr val="35E6BB"/>
                </a:solidFill>
              </a:rPr>
              <a:t>ROTEIRO DA APRESENTAÇÃO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7E8DBE6-0063-4536-965C-EF61BC90BC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5E7880"/>
                </a:solidFill>
              </a:defRPr>
            </a:pPr>
            <a:r>
              <a:rPr sz="900">
                <a:solidFill>
                  <a:srgbClr val="5E7880"/>
                </a:solidFill>
              </a:rPr>
              <a:t>02 / 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3C4898C-AC74-4517-9F6C-1C396BF91A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4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a4d16c32df84dcb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400E4FD-826A-4ACE-BC5E-982D92791C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Dados informados do sistema na Projeção Financeira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8890D52-6FDF-4825-ADBE-F7AFBD7C02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Faturamento vs Folha de Pagamento · v1 · CONFIDENCIAL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A759346-DAE5-4FDD-89E5-B5B0570D32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F2FAF9"/>
                </a:solidFill>
              </a:defRPr>
            </a:pPr>
            <a:r>
              <a:rPr sz="2550" b="1">
                <a:solidFill>
                  <a:srgbClr val="F2FAF9"/>
                </a:solidFill>
              </a:rPr>
              <a:t>O que esta leitura cobre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C60182F-1AC5-48F0-AE83-27E9A2F211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62150"/>
            <a:ext cx="533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116725C-7994-4A32-AD88-23A967BA1D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955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35E6BB"/>
                </a:solidFill>
              </a:defRPr>
            </a:pPr>
            <a:r>
              <a:rPr sz="975" b="1">
                <a:solidFill>
                  <a:srgbClr val="35E6BB"/>
                </a:solidFill>
              </a:rPr>
              <a:t>01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606D226-49B5-4C8E-AFB6-9015B68B9C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076450"/>
            <a:ext cx="4838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702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F2FAF9"/>
                </a:solidFill>
              </a:defRPr>
            </a:pPr>
            <a:r>
              <a:rPr sz="1425" b="1">
                <a:solidFill>
                  <a:srgbClr val="F2FAF9"/>
                </a:solidFill>
              </a:rPr>
              <a:t>Síntese executiva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1220A34-1549-437F-811E-ADBF9DC6AE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362200"/>
            <a:ext cx="4838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013">
                <a:solidFill>
                  <a:srgbClr val="5E7880"/>
                </a:solidFill>
              </a:defRPr>
            </a:pPr>
            <a:r>
              <a:rPr sz="1013">
                <a:solidFill>
                  <a:srgbClr val="5E7880"/>
                </a:solidFill>
              </a:rPr>
              <a:t>Cobertura, saldo e os sinais que resumem o período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C1E0847-4518-4D4A-873F-7785542C9A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1962150"/>
            <a:ext cx="533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02DFA25-A46A-47FF-8787-3D00957268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20955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35E6BB"/>
                </a:solidFill>
              </a:defRPr>
            </a:pPr>
            <a:r>
              <a:rPr sz="975" b="1">
                <a:solidFill>
                  <a:srgbClr val="35E6BB"/>
                </a:solidFill>
              </a:rPr>
              <a:t>02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FAD4E83-D947-4C33-8C9C-6C307A2E67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2076450"/>
            <a:ext cx="4838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702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F2FAF9"/>
                </a:solidFill>
              </a:defRPr>
            </a:pPr>
            <a:r>
              <a:rPr sz="1425" b="1">
                <a:solidFill>
                  <a:srgbClr val="F2FAF9"/>
                </a:solidFill>
              </a:rPr>
              <a:t>Evolução mensal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200F357-0899-4968-AAA0-56415DF426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2362200"/>
            <a:ext cx="4838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013">
                <a:solidFill>
                  <a:srgbClr val="5E7880"/>
                </a:solidFill>
              </a:defRPr>
            </a:pPr>
            <a:r>
              <a:rPr sz="1013">
                <a:solidFill>
                  <a:srgbClr val="5E7880"/>
                </a:solidFill>
              </a:rPr>
              <a:t>Receita e folha competência a competência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ED1BB56-4835-4E0A-8F18-8AEE6BFEBE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76550"/>
            <a:ext cx="533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2881034-5A9B-44B8-8D31-BFF6C12D07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099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35E6BB"/>
                </a:solidFill>
              </a:defRPr>
            </a:pPr>
            <a:r>
              <a:rPr sz="975" b="1">
                <a:solidFill>
                  <a:srgbClr val="35E6BB"/>
                </a:solidFill>
              </a:rPr>
              <a:t>03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F3EA91C-4D3B-437C-A263-345F3B0D04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990850"/>
            <a:ext cx="4838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702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F2FAF9"/>
                </a:solidFill>
              </a:defRPr>
            </a:pPr>
            <a:r>
              <a:rPr sz="1425" b="1">
                <a:solidFill>
                  <a:srgbClr val="F2FAF9"/>
                </a:solidFill>
              </a:rPr>
              <a:t>Curva mensal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6AEE0A6-0630-454B-877B-39FD5DA060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276600"/>
            <a:ext cx="4838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013">
                <a:solidFill>
                  <a:srgbClr val="5E7880"/>
                </a:solidFill>
              </a:defRPr>
            </a:pPr>
            <a:r>
              <a:rPr sz="1013">
                <a:solidFill>
                  <a:srgbClr val="5E7880"/>
                </a:solidFill>
              </a:rPr>
              <a:t>Valores de cada competência, sem acumulação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0D599CE-8B18-4D8D-89AE-1024DD104A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2876550"/>
            <a:ext cx="533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5F7FEC1-1ECD-4A50-B2B8-2BB3E8AAD1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30099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35E6BB"/>
                </a:solidFill>
              </a:defRPr>
            </a:pPr>
            <a:r>
              <a:rPr sz="975" b="1">
                <a:solidFill>
                  <a:srgbClr val="35E6BB"/>
                </a:solidFill>
              </a:rPr>
              <a:t>04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6B6DB8A-078C-465D-805B-BA91CA7CA9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2990850"/>
            <a:ext cx="4838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702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F2FAF9"/>
                </a:solidFill>
              </a:defRPr>
            </a:pPr>
            <a:r>
              <a:rPr sz="1425" b="1">
                <a:solidFill>
                  <a:srgbClr val="F2FAF9"/>
                </a:solidFill>
              </a:rPr>
              <a:t>Curva S acumulada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96AD0A2-CE38-4383-9F85-40490BF065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3276600"/>
            <a:ext cx="4838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013">
                <a:solidFill>
                  <a:srgbClr val="5E7880"/>
                </a:solidFill>
              </a:defRPr>
            </a:pPr>
            <a:r>
              <a:rPr sz="1013">
                <a:solidFill>
                  <a:srgbClr val="5E7880"/>
                </a:solidFill>
              </a:rPr>
              <a:t>Trajetória acumulada e zona de previsão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4E2318A-A556-40D0-B913-F83509209B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90950"/>
            <a:ext cx="533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978C35E-3B2C-4462-B579-32EF27DA54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243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35E6BB"/>
                </a:solidFill>
              </a:defRPr>
            </a:pPr>
            <a:r>
              <a:rPr sz="975" b="1">
                <a:solidFill>
                  <a:srgbClr val="35E6BB"/>
                </a:solidFill>
              </a:rPr>
              <a:t>05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0A65A6A-C569-4694-85CC-7FC0F2E1A3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905250"/>
            <a:ext cx="4838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702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F2FAF9"/>
                </a:solidFill>
              </a:defRPr>
            </a:pPr>
            <a:r>
              <a:rPr sz="1425" b="1">
                <a:solidFill>
                  <a:srgbClr val="F2FAF9"/>
                </a:solidFill>
              </a:rPr>
              <a:t>Saldo e acumulado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CE9C917-9C29-4298-A775-7ADEC0346D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4191000"/>
            <a:ext cx="4838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013">
                <a:solidFill>
                  <a:srgbClr val="5E7880"/>
                </a:solidFill>
              </a:defRPr>
            </a:pPr>
            <a:r>
              <a:rPr sz="1013">
                <a:solidFill>
                  <a:srgbClr val="5E7880"/>
                </a:solidFill>
              </a:rPr>
              <a:t>Onde o período gera e onde consome resultado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53A0253-0D9F-408D-8508-B5568DE498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3790950"/>
            <a:ext cx="533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7E3AAFDF-5E2C-4D36-8CAC-77B9F7F25D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39243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35E6BB"/>
                </a:solidFill>
              </a:defRPr>
            </a:pPr>
            <a:r>
              <a:rPr sz="975" b="1">
                <a:solidFill>
                  <a:srgbClr val="35E6BB"/>
                </a:solidFill>
              </a:rPr>
              <a:t>06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17826CA3-89C4-45EE-B9EB-1949D789B7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3905250"/>
            <a:ext cx="4838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702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F2FAF9"/>
                </a:solidFill>
              </a:defRPr>
            </a:pPr>
            <a:r>
              <a:rPr sz="1425" b="1">
                <a:solidFill>
                  <a:srgbClr val="F2FAF9"/>
                </a:solidFill>
              </a:rPr>
              <a:t>Projeção por cliente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444DFB1F-DCAC-4713-9A38-B07CED1819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4191000"/>
            <a:ext cx="4838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013">
                <a:solidFill>
                  <a:srgbClr val="5E7880"/>
                </a:solidFill>
              </a:defRPr>
            </a:pPr>
            <a:r>
              <a:rPr sz="1013">
                <a:solidFill>
                  <a:srgbClr val="5E7880"/>
                </a:solidFill>
              </a:rPr>
              <a:t>Composição do faturamento projetado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ECF949B3-796C-4E25-83A8-3AE1677BC6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05350"/>
            <a:ext cx="533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10C573D3-EE11-47B6-BCEC-B6E97C6AC1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387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35E6BB"/>
                </a:solidFill>
              </a:defRPr>
            </a:pPr>
            <a:r>
              <a:rPr sz="975" b="1">
                <a:solidFill>
                  <a:srgbClr val="35E6BB"/>
                </a:solidFill>
              </a:rPr>
              <a:t>07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F70EC1A3-431F-46A3-92EE-E2C770000A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4819650"/>
            <a:ext cx="4838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702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F2FAF9"/>
                </a:solidFill>
              </a:defRPr>
            </a:pPr>
            <a:r>
              <a:rPr sz="1425" b="1">
                <a:solidFill>
                  <a:srgbClr val="F2FAF9"/>
                </a:solidFill>
              </a:rPr>
              <a:t>Base mensal informada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CCA180ED-7B6D-477D-8513-35FE04B8A0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5105400"/>
            <a:ext cx="4838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013">
                <a:solidFill>
                  <a:srgbClr val="5E7880"/>
                </a:solidFill>
              </a:defRPr>
            </a:pPr>
            <a:r>
              <a:rPr sz="1013">
                <a:solidFill>
                  <a:srgbClr val="5E7880"/>
                </a:solidFill>
              </a:rPr>
              <a:t>Todos os valores por trás dos gráficos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6F637B7D-AEFC-4909-A9BD-39FBC126C3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4705350"/>
            <a:ext cx="533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759F0317-19D5-41C8-813E-18A50C504B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48387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35E6BB"/>
                </a:solidFill>
              </a:defRPr>
            </a:pPr>
            <a:r>
              <a:rPr sz="975" b="1">
                <a:solidFill>
                  <a:srgbClr val="35E6BB"/>
                </a:solidFill>
              </a:rPr>
              <a:t>08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DE8A296D-64BA-4DDA-8B46-9760EA2DB9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4819650"/>
            <a:ext cx="4838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702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F2FAF9"/>
                </a:solidFill>
              </a:defRPr>
            </a:pPr>
            <a:r>
              <a:rPr sz="1425" b="1">
                <a:solidFill>
                  <a:srgbClr val="F2FAF9"/>
                </a:solidFill>
              </a:rPr>
              <a:t>Carteira e recebíveis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ADA05D79-0CE5-44C8-8560-E99E7B7D17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5105400"/>
            <a:ext cx="4838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013">
                <a:solidFill>
                  <a:srgbClr val="5E7880"/>
                </a:solidFill>
              </a:defRPr>
            </a:pPr>
            <a:r>
              <a:rPr sz="1013">
                <a:solidFill>
                  <a:srgbClr val="5E7880"/>
                </a:solidFill>
              </a:rPr>
              <a:t>Backlog que sustenta a projeção</a:t>
            </a:r>
          </a:p>
        </p:txBody>
      </p:sp>
    </p:spTree>
    <p:extLst>
      <p:ext uri="{BB962C8B-B14F-4D97-AF65-F5344CB8AC3E}">
        <p14:creationId xmlns:p14="http://schemas.microsoft.com/office/powerpoint/2010/main" val="1358360946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040A1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B73854C4-D77B-4E75-B10E-EDDC88F219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74F4ABC-75AE-405A-B8F7-8FD2FC4175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8E7FBE5-CAE6-4FD0-9A94-48AD4D6976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35E6BB"/>
                </a:solidFill>
              </a:defRPr>
            </a:pPr>
            <a:r>
              <a:rPr sz="975" b="1">
                <a:solidFill>
                  <a:srgbClr val="35E6BB"/>
                </a:solidFill>
              </a:rPr>
              <a:t>SÍNTESE EXECUTIVA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C05BEBB-A8D9-4E9B-9119-656A2F00F2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5E7880"/>
                </a:solidFill>
              </a:defRPr>
            </a:pPr>
            <a:r>
              <a:rPr sz="900">
                <a:solidFill>
                  <a:srgbClr val="5E7880"/>
                </a:solidFill>
              </a:rPr>
              <a:t>03 / 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E418C34-1F71-4D8D-B26E-30C1595A36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8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50614ea84264790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1E60D6C-29CB-4E09-BD12-F827319F75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Dados informados do sistema na Projeção Financeira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8FBC5AD-EB9C-4B8B-B9E6-83BD4A4EAD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Faturamento vs Folha de Pagamento · v1 · CONFIDENCIAL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08E72E1-17AC-4074-8BEC-CEFC653DDD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75438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6875"/>
          </a:bodyPr>
          <a:lstStyle xmlns:a="http://schemas.openxmlformats.org/drawingml/2006/main"/>
          <a:p xmlns:a="http://schemas.openxmlformats.org/drawingml/2006/main">
            <a:pPr>
              <a:defRPr sz="2400" b="1">
                <a:solidFill>
                  <a:srgbClr val="F2FAF9"/>
                </a:solidFill>
              </a:defRPr>
            </a:pPr>
            <a:r>
              <a:rPr sz="2400" b="1">
                <a:solidFill>
                  <a:srgbClr val="F2FAF9"/>
                </a:solidFill>
              </a:rPr>
              <a:t>A receita do período cobre 5,44x o custo de folha informado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372C2B9-C4C9-450F-BA4E-042F71D076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33550"/>
            <a:ext cx="7239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CBDBDD"/>
                </a:solidFill>
              </a:defRPr>
            </a:pPr>
            <a:r>
              <a:rPr sz="1200">
                <a:solidFill>
                  <a:srgbClr val="CBDBDD"/>
                </a:solidFill>
              </a:rPr>
              <a:t>A receita consolidada sustenta a estrutura atual e a carteira prevista amplia a cobertura da folha ao longo do horizonte projetado.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D406C54-DD0E-4DA9-8C7C-8DB3B94AE9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95550"/>
            <a:ext cx="7543800" cy="1390650"/>
          </a:xfrm>
          <a:prstGeom xmlns:a="http://schemas.openxmlformats.org/drawingml/2006/main" prst="roundRect">
            <a:avLst>
              <a:gd name="adj" fmla="val 8219"/>
            </a:avLst>
          </a:prstGeom>
          <a:gradFill xmlns:a="http://schemas.openxmlformats.org/drawingml/2006/main">
            <a:gsLst>
              <a:gs pos="0">
                <a:srgbClr val="0C1C24"/>
              </a:gs>
              <a:gs pos="100000">
                <a:srgbClr val="06121A"/>
              </a:gs>
            </a:gsLst>
            <a:lin/>
          </a:gradFill>
          <a:ln xmlns:a="http://schemas.openxmlformats.org/drawingml/2006/main" w="9525">
            <a:solidFill>
              <a:srgbClr val="1E3A42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E34E897-8C50-4A3D-9A77-04A9DF9F5D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581275"/>
            <a:ext cx="9525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4EBC0E4-77A0-4874-A39E-0DD66F1C2C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2581275"/>
            <a:ext cx="9525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3A4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63A2846-9528-42D2-93BA-7A3737B4BE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" y="2543175"/>
            <a:ext cx="1826419" cy="1295400"/>
          </a:xfrm>
          <a:prstGeom xmlns:a="http://schemas.openxmlformats.org/drawingml/2006/main" prst="roundRect">
            <a:avLst>
              <a:gd name="adj" fmla="val 8824"/>
            </a:avLst>
          </a:prstGeom>
          <a:gradFill xmlns:a="http://schemas.openxmlformats.org/drawingml/2006/main">
            <a:gsLst>
              <a:gs pos="0">
                <a:srgbClr val="0C1C24"/>
              </a:gs>
              <a:gs pos="100000">
                <a:srgbClr val="040A10"/>
              </a:gs>
            </a:gsLst>
            <a:lin/>
          </a:gradFill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77AEA71-24F8-4F3C-A537-E761D36DF8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2094" y="2543175"/>
            <a:ext cx="876681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ACA8945-AD2E-406E-8764-F61B88114F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27051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2CC0CD5-DB20-41B4-A727-6748EBBDF0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647950"/>
            <a:ext cx="1454944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FATURAMENTO REALIZADO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F0FACCF-7366-438C-9ECD-DDB6D4C481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2962275"/>
            <a:ext cx="1559719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1026"/>
          </a:bodyPr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35E6BB"/>
                </a:solidFill>
              </a:defRPr>
            </a:pPr>
            <a:r>
              <a:rPr sz="1950" b="1">
                <a:solidFill>
                  <a:srgbClr val="35E6BB"/>
                </a:solidFill>
              </a:rPr>
              <a:t>R$ 191,6 mi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E1DDD5D-EEBE-4746-A1B3-A00FA1E11A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3343275"/>
            <a:ext cx="1559719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63">
                <a:solidFill>
                  <a:srgbClr val="5E7880"/>
                </a:solidFill>
              </a:defRPr>
            </a:pPr>
            <a:r>
              <a:rPr sz="863">
                <a:solidFill>
                  <a:srgbClr val="5E7880"/>
                </a:solidFill>
              </a:rPr>
              <a:t>31 competência(s)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5C0433B-204E-4500-ADB2-E587202B60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31269" y="2543175"/>
            <a:ext cx="1826419" cy="1295400"/>
          </a:xfrm>
          <a:prstGeom xmlns:a="http://schemas.openxmlformats.org/drawingml/2006/main" prst="roundRect">
            <a:avLst>
              <a:gd name="adj" fmla="val 8824"/>
            </a:avLst>
          </a:prstGeom>
          <a:gradFill xmlns:a="http://schemas.openxmlformats.org/drawingml/2006/main">
            <a:gsLst>
              <a:gs pos="0">
                <a:srgbClr val="0C1C24"/>
              </a:gs>
              <a:gs pos="100000">
                <a:srgbClr val="040A10"/>
              </a:gs>
            </a:gsLst>
            <a:lin/>
          </a:gradFill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01B4425-544E-4C83-B0D3-24B18BDE73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6138" y="2543175"/>
            <a:ext cx="876681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C9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E208F0E-D59E-4FF0-9363-1C9006542E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4619" y="27051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C9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3F4E30F-7F6B-4668-96DC-A9189B8824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9394" y="2647950"/>
            <a:ext cx="1454944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FATURAMENTO PREVISTO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B419E39-8FA2-4D64-8C4E-681BE39B55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4619" y="2962275"/>
            <a:ext cx="1559719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1026"/>
          </a:bodyPr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4C9DFF"/>
                </a:solidFill>
              </a:defRPr>
            </a:pPr>
            <a:r>
              <a:rPr sz="1950" b="1">
                <a:solidFill>
                  <a:srgbClr val="4C9DFF"/>
                </a:solidFill>
              </a:rPr>
              <a:t>R$ 325 mi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A9F0AB3-2145-4DB0-90ED-94FFE6238A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4619" y="3343275"/>
            <a:ext cx="1559719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63">
                <a:solidFill>
                  <a:srgbClr val="5E7880"/>
                </a:solidFill>
              </a:defRPr>
            </a:pPr>
            <a:r>
              <a:rPr sz="863">
                <a:solidFill>
                  <a:srgbClr val="5E7880"/>
                </a:solidFill>
              </a:rPr>
              <a:t>63% da receita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02F5495-3782-48D9-8466-FCCBA18861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5313" y="2543175"/>
            <a:ext cx="1826419" cy="1295400"/>
          </a:xfrm>
          <a:prstGeom xmlns:a="http://schemas.openxmlformats.org/drawingml/2006/main" prst="roundRect">
            <a:avLst>
              <a:gd name="adj" fmla="val 8824"/>
            </a:avLst>
          </a:prstGeom>
          <a:gradFill xmlns:a="http://schemas.openxmlformats.org/drawingml/2006/main">
            <a:gsLst>
              <a:gs pos="0">
                <a:srgbClr val="0C1C24"/>
              </a:gs>
              <a:gs pos="100000">
                <a:srgbClr val="040A10"/>
              </a:gs>
            </a:gsLst>
            <a:lin/>
          </a:gradFill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C6D866A-D2B8-402D-9BC9-8F6F980A67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80181" y="2543175"/>
            <a:ext cx="876681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B74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22C0D0E-A9C7-4B88-9569-D88DAEED4C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8663" y="27051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B74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1FBFF3AE-0204-41E1-A615-CD5B0F7556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3438" y="2647950"/>
            <a:ext cx="1454944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FOLHA TOTAL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443DE88-5B99-4D5E-BA8B-9351BED87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8663" y="2962275"/>
            <a:ext cx="1559719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1026"/>
          </a:bodyPr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FFB74D"/>
                </a:solidFill>
              </a:defRPr>
            </a:pPr>
            <a:r>
              <a:rPr sz="1950" b="1">
                <a:solidFill>
                  <a:srgbClr val="FFB74D"/>
                </a:solidFill>
              </a:rPr>
              <a:t>R$ 95 mi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FCFDB709-DB44-415F-A705-21D120D4B4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8663" y="3343275"/>
            <a:ext cx="1559719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63">
                <a:solidFill>
                  <a:srgbClr val="5E7880"/>
                </a:solidFill>
              </a:defRPr>
            </a:pPr>
            <a:r>
              <a:rPr sz="863">
                <a:solidFill>
                  <a:srgbClr val="5E7880"/>
                </a:solidFill>
              </a:rPr>
              <a:t>fechada + projetada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68FEE597-26DC-4B0E-BB85-E4546CCD30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9356" y="2543175"/>
            <a:ext cx="1826419" cy="1295400"/>
          </a:xfrm>
          <a:prstGeom xmlns:a="http://schemas.openxmlformats.org/drawingml/2006/main" prst="roundRect">
            <a:avLst>
              <a:gd name="adj" fmla="val 8824"/>
            </a:avLst>
          </a:prstGeom>
          <a:gradFill xmlns:a="http://schemas.openxmlformats.org/drawingml/2006/main">
            <a:gsLst>
              <a:gs pos="0">
                <a:srgbClr val="0C1C24"/>
              </a:gs>
              <a:gs pos="100000">
                <a:srgbClr val="040A10"/>
              </a:gs>
            </a:gsLst>
            <a:lin/>
          </a:gradFill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7963C8D4-1C3B-4143-BCED-6833B0A6AF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54225" y="2543175"/>
            <a:ext cx="876681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2AF78317-3DE0-4D6B-BBEF-5A6442341B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2706" y="27051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3A968D3A-17B4-4067-8BD0-9A5951BB1B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7481" y="2647950"/>
            <a:ext cx="1454944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SALDO ACUMULADO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A14C0092-A034-422D-91F9-B8B2B57FCD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2706" y="2962275"/>
            <a:ext cx="1559719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1026"/>
          </a:bodyPr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35E6BB"/>
                </a:solidFill>
              </a:defRPr>
            </a:pPr>
            <a:r>
              <a:rPr sz="1950" b="1">
                <a:solidFill>
                  <a:srgbClr val="35E6BB"/>
                </a:solidFill>
              </a:rPr>
              <a:t>R$ 421,6 mi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84509489-4961-49FC-ACA0-45EE7B596A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2706" y="3343275"/>
            <a:ext cx="1559719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63">
                <a:solidFill>
                  <a:srgbClr val="5E7880"/>
                </a:solidFill>
              </a:defRPr>
            </a:pPr>
            <a:r>
              <a:rPr sz="863">
                <a:solidFill>
                  <a:srgbClr val="5E7880"/>
                </a:solidFill>
              </a:rPr>
              <a:t>no fecho do recorte</a:t>
            </a:r>
          </a:p>
        </p:txBody>
      </p:sp>
      <p:pic>
        <p:nvPicPr>
          <p:cNvPr id="11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b00cd3fc08c4b6e">
            <a:extLst>
              <a:ext uri="{96DAC541-7B7A-43D3-8B79-37D633B846F1}">
                <asvg:svgBlip xmlns:asvg="http://schemas.microsoft.com/office/drawing/2016/SVG/main" r:embed="Rc4e6830bda2f47db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8724900" y="1428750"/>
            <a:ext cx="2286000" cy="2286000"/>
          </a:xfrm>
          <a:prstGeom xmlns:a="http://schemas.openxmlformats.org/drawingml/2006/main" prst="rect">
            <a:avLst/>
          </a:prstGeom>
        </p:spPr>
      </p:pic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6E6AFAF8-D716-419F-9D03-8955FB16FB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3733800"/>
            <a:ext cx="2971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COBERTURA RECEITA / FOLHA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0542EE0F-7CD2-4527-A028-A53A4C36A7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3943350"/>
            <a:ext cx="2971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00">
                <a:solidFill>
                  <a:srgbClr val="5E7880"/>
                </a:solidFill>
              </a:defRPr>
            </a:pPr>
            <a:r>
              <a:rPr sz="900">
                <a:solidFill>
                  <a:srgbClr val="5E7880"/>
                </a:solidFill>
              </a:rPr>
              <a:t>Marca central do arco = ponto de equilíbrio (1,00x). +444 p.p. em relação ao equilíbrio.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9F8F12B5-461B-42F2-A140-291D233812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19600"/>
            <a:ext cx="10972800" cy="1676400"/>
          </a:xfrm>
          <a:prstGeom xmlns:a="http://schemas.openxmlformats.org/drawingml/2006/main" prst="roundRect">
            <a:avLst>
              <a:gd name="adj" fmla="val 6818"/>
            </a:avLst>
          </a:prstGeom>
          <a:gradFill xmlns:a="http://schemas.openxmlformats.org/drawingml/2006/main">
            <a:gsLst>
              <a:gs pos="0">
                <a:srgbClr val="0C1C24"/>
              </a:gs>
              <a:gs pos="100000">
                <a:srgbClr val="06121A"/>
              </a:gs>
            </a:gsLst>
            <a:lin/>
          </a:gradFill>
          <a:ln xmlns:a="http://schemas.openxmlformats.org/drawingml/2006/main" w="9525">
            <a:solidFill>
              <a:srgbClr val="1E3A42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C1B73FD4-2273-4C20-91F1-93E0F99584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505325"/>
            <a:ext cx="9525" cy="1504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BC21E61D-71C0-4542-B8B8-3368AF19D2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87150" y="4505325"/>
            <a:ext cx="9525" cy="1504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3A4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06118E49-F4BA-47F8-A65B-6A8E99E7C4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" y="4467225"/>
            <a:ext cx="2683669" cy="1581150"/>
          </a:xfrm>
          <a:prstGeom xmlns:a="http://schemas.openxmlformats.org/drawingml/2006/main" prst="roundRect">
            <a:avLst>
              <a:gd name="adj" fmla="val 7229"/>
            </a:avLst>
          </a:prstGeom>
          <a:gradFill xmlns:a="http://schemas.openxmlformats.org/drawingml/2006/main">
            <a:gsLst>
              <a:gs pos="0">
                <a:srgbClr val="0C1C24"/>
              </a:gs>
              <a:gs pos="100000">
                <a:srgbClr val="040A10"/>
              </a:gs>
            </a:gsLst>
            <a:lin/>
          </a:gradFill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0C8F5D56-C83E-479F-B2FF-4BF8DE991D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4979" y="4467225"/>
            <a:ext cx="1288161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8BA9B342-FD13-4C6B-B618-961C9F5D44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46291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DB10BE7A-75DD-4F11-A6A8-C9011E46E2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572000"/>
            <a:ext cx="1531144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COBERTURA RECEITA / FOLHA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CB594B0F-1C25-458B-97E0-B3532FF788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64594" y="4572000"/>
            <a:ext cx="742950" cy="171450"/>
          </a:xfrm>
          <a:prstGeom xmlns:a="http://schemas.openxmlformats.org/drawingml/2006/main" prst="roundRect">
            <a:avLst>
              <a:gd name="adj" fmla="val 50000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35E6BB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2A544325-6E5E-4829-8EBD-5A66C6043D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64594" y="4581525"/>
            <a:ext cx="7429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675" b="1">
                <a:solidFill>
                  <a:srgbClr val="35E6BB"/>
                </a:solidFill>
              </a:defRPr>
            </a:pPr>
            <a:r>
              <a:rPr sz="675" b="1">
                <a:solidFill>
                  <a:srgbClr val="35E6BB"/>
                </a:solidFill>
              </a:rPr>
              <a:t>SINAL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5E05B6CF-97A2-4735-AFE8-21B5605882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4886325"/>
            <a:ext cx="2416969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35E6BB"/>
                </a:solidFill>
              </a:defRPr>
            </a:pPr>
            <a:r>
              <a:rPr sz="1425" b="1">
                <a:solidFill>
                  <a:srgbClr val="35E6BB"/>
                </a:solidFill>
              </a:rPr>
              <a:t>5,44x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FABE1812-B867-42BD-A8FE-ABFF21D16A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5286375"/>
            <a:ext cx="2416969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5E7880"/>
                </a:solidFill>
              </a:defRPr>
            </a:pPr>
            <a:r>
              <a:rPr sz="900">
                <a:solidFill>
                  <a:srgbClr val="5E7880"/>
                </a:solidFill>
              </a:rPr>
              <a:t>Razão entre a receita total e a folha total do recorte informado.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13EB2209-A11B-4952-A701-A5EB182561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8519" y="4467225"/>
            <a:ext cx="2683669" cy="1581150"/>
          </a:xfrm>
          <a:prstGeom xmlns:a="http://schemas.openxmlformats.org/drawingml/2006/main" prst="roundRect">
            <a:avLst>
              <a:gd name="adj" fmla="val 7229"/>
            </a:avLst>
          </a:prstGeom>
          <a:gradFill xmlns:a="http://schemas.openxmlformats.org/drawingml/2006/main">
            <a:gsLst>
              <a:gs pos="0">
                <a:srgbClr val="0C1C24"/>
              </a:gs>
              <a:gs pos="100000">
                <a:srgbClr val="040A10"/>
              </a:gs>
            </a:gsLst>
            <a:lin/>
          </a:gradFill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711617EB-9CCC-48C7-82E6-C9A7AEB682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86273" y="4467225"/>
            <a:ext cx="1288161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C0BA0FDB-C940-48D9-802B-5D62A6184B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1869" y="46291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28A20303-6D9C-4036-BAF4-4FA9812AE0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26644" y="4572000"/>
            <a:ext cx="1531144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SALDO ACUMULADO NO FECHO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C228A316-1BE0-4483-B4B0-CB12786267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5888" y="4572000"/>
            <a:ext cx="742950" cy="171450"/>
          </a:xfrm>
          <a:prstGeom xmlns:a="http://schemas.openxmlformats.org/drawingml/2006/main" prst="roundRect">
            <a:avLst>
              <a:gd name="adj" fmla="val 50000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35E6BB"/>
            </a:solidFill>
            <a:prstDash val="solid"/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151E1989-1FB0-47A9-ABC9-1ADC262DD3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5888" y="4581525"/>
            <a:ext cx="7429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675" b="1">
                <a:solidFill>
                  <a:srgbClr val="35E6BB"/>
                </a:solidFill>
              </a:defRPr>
            </a:pPr>
            <a:r>
              <a:rPr sz="675" b="1">
                <a:solidFill>
                  <a:srgbClr val="35E6BB"/>
                </a:solidFill>
              </a:rPr>
              <a:t>SINAL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F48B9630-49EE-4BED-95C4-A8D48FDE1B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1869" y="4886325"/>
            <a:ext cx="2416969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35E6BB"/>
                </a:solidFill>
              </a:defRPr>
            </a:pPr>
            <a:r>
              <a:rPr sz="1425" b="1">
                <a:solidFill>
                  <a:srgbClr val="35E6BB"/>
                </a:solidFill>
              </a:rPr>
              <a:t>R$ 421,6 mi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7C6AE181-3E1C-410C-905E-D561537CF8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1869" y="5286375"/>
            <a:ext cx="2416969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5E7880"/>
                </a:solidFill>
              </a:defRPr>
            </a:pPr>
            <a:r>
              <a:rPr sz="900">
                <a:solidFill>
                  <a:srgbClr val="5E7880"/>
                </a:solidFill>
              </a:rPr>
              <a:t>Diferença acumulada entre receita e folha ao fim de 60 competências.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83344B37-2F01-4128-A498-D86EB1D7E1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9813" y="4467225"/>
            <a:ext cx="2683669" cy="1581150"/>
          </a:xfrm>
          <a:prstGeom xmlns:a="http://schemas.openxmlformats.org/drawingml/2006/main" prst="roundRect">
            <a:avLst>
              <a:gd name="adj" fmla="val 7229"/>
            </a:avLst>
          </a:prstGeom>
          <a:gradFill xmlns:a="http://schemas.openxmlformats.org/drawingml/2006/main">
            <a:gsLst>
              <a:gs pos="0">
                <a:srgbClr val="0C1C24"/>
              </a:gs>
              <a:gs pos="100000">
                <a:srgbClr val="040A10"/>
              </a:gs>
            </a:gsLst>
            <a:lin/>
          </a:gradFill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569F0584-FAB6-46A8-BA87-A626CB2710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7566" y="4467225"/>
            <a:ext cx="1288161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B74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2A819B62-BEC4-45E7-873C-0F5E0990EA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3163" y="46291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B74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DB9C9F28-DF79-4A31-A0FA-F7CA6A2599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7938" y="4572000"/>
            <a:ext cx="1531144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MÊS MAIS APERTADO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BE35294E-2301-4FC2-A2D2-202A60BA43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7181" y="4572000"/>
            <a:ext cx="742950" cy="171450"/>
          </a:xfrm>
          <a:prstGeom xmlns:a="http://schemas.openxmlformats.org/drawingml/2006/main" prst="roundRect">
            <a:avLst>
              <a:gd name="adj" fmla="val 50000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FFB74D"/>
            </a:solidFill>
            <a:prstDash val="solid"/>
          </a:ln>
        </p:spPr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9B5E61BD-D108-4E74-9A8E-DE2D98E0B3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7181" y="4581525"/>
            <a:ext cx="7429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675" b="1">
                <a:solidFill>
                  <a:srgbClr val="FFB74D"/>
                </a:solidFill>
              </a:defRPr>
            </a:pPr>
            <a:r>
              <a:rPr sz="675" b="1">
                <a:solidFill>
                  <a:srgbClr val="FFB74D"/>
                </a:solidFill>
              </a:rPr>
              <a:t>MONITORAR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D8B05DC0-AE31-4721-911F-A87646ACB9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3163" y="4886325"/>
            <a:ext cx="2416969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FFB74D"/>
                </a:solidFill>
              </a:defRPr>
            </a:pPr>
            <a:r>
              <a:rPr sz="1425" b="1">
                <a:solidFill>
                  <a:srgbClr val="FFB74D"/>
                </a:solidFill>
              </a:rPr>
              <a:t>fev de 26 · 1,39x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E3164A76-E9B3-4A63-9778-857D971E9E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3163" y="5286375"/>
            <a:ext cx="2416969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5E7880"/>
                </a:solidFill>
              </a:defRPr>
            </a:pPr>
            <a:r>
              <a:rPr sz="900">
                <a:solidFill>
                  <a:srgbClr val="5E7880"/>
                </a:solidFill>
              </a:rPr>
              <a:t>Menor cobertura mensal do recorte.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EABE1D40-E912-468B-9F91-E0F391A6EE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1106" y="4467225"/>
            <a:ext cx="2683669" cy="1581150"/>
          </a:xfrm>
          <a:prstGeom xmlns:a="http://schemas.openxmlformats.org/drawingml/2006/main" prst="roundRect">
            <a:avLst>
              <a:gd name="adj" fmla="val 7229"/>
            </a:avLst>
          </a:prstGeom>
          <a:gradFill xmlns:a="http://schemas.openxmlformats.org/drawingml/2006/main">
            <a:gsLst>
              <a:gs pos="0">
                <a:srgbClr val="0C1C24"/>
              </a:gs>
              <a:gs pos="100000">
                <a:srgbClr val="040A10"/>
              </a:gs>
            </a:gsLst>
            <a:lin/>
          </a:gradFill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670226D4-E301-403A-914B-B6DDA2A091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48860" y="4467225"/>
            <a:ext cx="1288161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2AFB7A2C-3E66-48B1-981F-971A7A1E16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84456" y="46291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94971FD1-40CF-4DF4-8164-F0AF7D9DF5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9231" y="4572000"/>
            <a:ext cx="1531144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PICO DE RECEITA</a:t>
            </a:r>
          </a:p>
        </p:txBody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B01C077C-EC9E-4CA0-90C1-F62A88106F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58475" y="4572000"/>
            <a:ext cx="742950" cy="171450"/>
          </a:xfrm>
          <a:prstGeom xmlns:a="http://schemas.openxmlformats.org/drawingml/2006/main" prst="roundRect">
            <a:avLst>
              <a:gd name="adj" fmla="val 50000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35E6BB"/>
            </a:solidFill>
            <a:prstDash val="solid"/>
          </a:ln>
        </p:spPr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984A0698-F5A6-4F4D-9CD8-1BDD2D56B6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58475" y="4581525"/>
            <a:ext cx="7429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675" b="1">
                <a:solidFill>
                  <a:srgbClr val="35E6BB"/>
                </a:solidFill>
              </a:defRPr>
            </a:pPr>
            <a:r>
              <a:rPr sz="675" b="1">
                <a:solidFill>
                  <a:srgbClr val="35E6BB"/>
                </a:solidFill>
              </a:rPr>
              <a:t>SINAL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BB770F91-948E-420A-A369-04FB8A3777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84456" y="4886325"/>
            <a:ext cx="2416969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35E6BB"/>
                </a:solidFill>
              </a:defRPr>
            </a:pPr>
            <a:r>
              <a:rPr sz="1425" b="1">
                <a:solidFill>
                  <a:srgbClr val="35E6BB"/>
                </a:solidFill>
              </a:rPr>
              <a:t>dez de 28 · R$ 15 mi</a:t>
            </a:r>
          </a:p>
        </p:txBody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98CBFB75-A12A-40AB-BF13-5B479FB2AE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84456" y="5286375"/>
            <a:ext cx="2416969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5E7880"/>
                </a:solidFill>
              </a:defRPr>
            </a:pPr>
            <a:r>
              <a:rPr sz="900">
                <a:solidFill>
                  <a:srgbClr val="5E7880"/>
                </a:solidFill>
              </a:rPr>
              <a:t>Maior receita mensal (realizada + prevista) do recorte.</a:t>
            </a:r>
          </a:p>
        </p:txBody>
      </p:sp>
    </p:spTree>
    <p:extLst>
      <p:ext uri="{BB962C8B-B14F-4D97-AF65-F5344CB8AC3E}">
        <p14:creationId xmlns:p14="http://schemas.microsoft.com/office/powerpoint/2010/main" val="617968917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040A1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3DED039D-69B9-4A6A-8692-80932D228A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CB0D578-7A54-418E-BD1A-A434FAECD5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99FDFBF-2912-44BA-91C1-F143FFA261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35E6BB"/>
                </a:solidFill>
              </a:defRPr>
            </a:pPr>
            <a:r>
              <a:rPr sz="975" b="1">
                <a:solidFill>
                  <a:srgbClr val="35E6BB"/>
                </a:solidFill>
              </a:rPr>
              <a:t>EVOLUÇÃO MENSAL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0890A39-6105-490E-9FA8-CCA4921CB0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5E7880"/>
                </a:solidFill>
              </a:defRPr>
            </a:pPr>
            <a:r>
              <a:rPr sz="900">
                <a:solidFill>
                  <a:srgbClr val="5E7880"/>
                </a:solidFill>
              </a:rPr>
              <a:t>04 / 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8160C51-DF27-4BB1-9B9E-D6A8968BA0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3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a511d886a1b465d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2797F8C-D58D-41BF-871D-B3ECC2F17C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Dados informados do sistema na Projeção Financeira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0E908F7-A404-4F96-A131-30DDA6CB9A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Faturamento vs Folha de Pagamento · v1 · CONFIDENCIAL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287C4C8-23B4-4BA3-9B32-CB5847B73D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F2FAF9"/>
                </a:solidFill>
              </a:defRPr>
            </a:pPr>
            <a:r>
              <a:rPr sz="2550" b="1">
                <a:solidFill>
                  <a:srgbClr val="F2FAF9"/>
                </a:solidFill>
              </a:rPr>
              <a:t>Receita e folha, competência a competência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C0C365E-8142-417F-82B8-8C4E2357B7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76350"/>
            <a:ext cx="10591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8CA5AB"/>
                </a:solidFill>
              </a:defRPr>
            </a:pPr>
            <a:r>
              <a:rPr sz="1125">
                <a:solidFill>
                  <a:srgbClr val="8CA5AB"/>
                </a:solidFill>
              </a:rPr>
              <a:t>31 competência(s) com valor realizado e 29 com previsão. Realizado e previsto permanecem identificados separadamente em todas as séries.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19340DB-DDA4-4927-8DEC-2E2ADCF5E2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38300"/>
            <a:ext cx="10972800" cy="3543300"/>
          </a:xfrm>
          <a:prstGeom xmlns:a="http://schemas.openxmlformats.org/drawingml/2006/main" prst="roundRect">
            <a:avLst>
              <a:gd name="adj" fmla="val 3226"/>
            </a:avLst>
          </a:prstGeom>
          <a:gradFill xmlns:a="http://schemas.openxmlformats.org/drawingml/2006/main">
            <a:gsLst>
              <a:gs pos="0">
                <a:srgbClr val="0C1C24"/>
              </a:gs>
              <a:gs pos="100000">
                <a:srgbClr val="06121A"/>
              </a:gs>
            </a:gsLst>
            <a:lin/>
          </a:gradFill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pic>
        <p:nvPicPr>
          <p:cNvPr id="4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386ed559128453f">
            <a:extLst>
              <a:ext uri="{96DAC541-7B7A-43D3-8B79-37D633B846F1}">
                <asvg:svgBlip xmlns:asvg="http://schemas.microsoft.com/office/drawing/2016/SVG/main" r:embed="R1470b50602b54a26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742950" y="1752600"/>
            <a:ext cx="10706100" cy="3086100"/>
          </a:xfrm>
          <a:prstGeom xmlns:a="http://schemas.openxmlformats.org/drawingml/2006/main" prst="rect">
            <a:avLst/>
          </a:prstGeom>
        </p:spPr>
      </p:pic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C1BDA8E-F152-4B5C-B605-A88FCCF5BE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93395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6D024C8-E70F-4650-81ED-6BBD8044FD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895850"/>
            <a:ext cx="186309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8CA5AB"/>
                </a:solidFill>
              </a:defRPr>
            </a:pPr>
            <a:r>
              <a:rPr sz="975">
                <a:solidFill>
                  <a:srgbClr val="8CA5AB"/>
                </a:solidFill>
              </a:rPr>
              <a:t>Faturamento realizado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C8D48E2-FE2D-4B32-BB3D-859F3E71E8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63215" y="493395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noFill xmlns:a="http://schemas.openxmlformats.org/drawingml/2006/main"/>
          <a:ln xmlns:a="http://schemas.openxmlformats.org/drawingml/2006/main" w="14288">
            <a:solidFill>
              <a:srgbClr val="4C9DFF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FA83D58-7FAF-4943-834B-DF80E1577B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1340" y="4895850"/>
            <a:ext cx="1790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8CA5AB"/>
                </a:solidFill>
              </a:defRPr>
            </a:pPr>
            <a:r>
              <a:rPr sz="975">
                <a:solidFill>
                  <a:srgbClr val="8CA5AB"/>
                </a:solidFill>
              </a:rPr>
              <a:t>Faturamento previsto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1B62867-2068-44C6-ADAC-EBE6528311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2040" y="493395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6B8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C93FE4A-DE3E-4FB6-9447-4E0DC77678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30165" y="4895850"/>
            <a:ext cx="208026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8CA5AB"/>
                </a:solidFill>
              </a:defRPr>
            </a:pPr>
            <a:r>
              <a:rPr sz="975">
                <a:solidFill>
                  <a:srgbClr val="8CA5AB"/>
                </a:solidFill>
              </a:rPr>
              <a:t>Folha fechada + encargos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B6006EC-0D6E-42EA-888F-38F70BDEE2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0425" y="493395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noFill xmlns:a="http://schemas.openxmlformats.org/drawingml/2006/main"/>
          <a:ln xmlns:a="http://schemas.openxmlformats.org/drawingml/2006/main" w="14288">
            <a:solidFill>
              <a:srgbClr val="FFB74D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16EA7E7-F7D7-40A0-9528-0B0197989D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4895850"/>
            <a:ext cx="142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8CA5AB"/>
                </a:solidFill>
              </a:defRPr>
            </a:pPr>
            <a:r>
              <a:rPr sz="975">
                <a:solidFill>
                  <a:srgbClr val="8CA5AB"/>
                </a:solidFill>
              </a:rPr>
              <a:t>Folha projetada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9F54CBB-4495-45C9-8C7A-1BFE93C026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911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6F33814-F574-44D4-B7B3-4E5423B97E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86400"/>
            <a:ext cx="2552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5E7880"/>
                </a:solidFill>
              </a:defRPr>
            </a:pPr>
            <a:r>
              <a:rPr sz="825" b="1">
                <a:solidFill>
                  <a:srgbClr val="5E7880"/>
                </a:solidFill>
              </a:rPr>
              <a:t>PICO DE RECEITA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E0B1359-E0B0-4EAE-AC41-5805412132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76900"/>
            <a:ext cx="2552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F2FAF9"/>
                </a:solidFill>
              </a:defRPr>
            </a:pPr>
            <a:r>
              <a:rPr sz="1350" b="1">
                <a:solidFill>
                  <a:srgbClr val="F2FAF9"/>
                </a:solidFill>
              </a:rPr>
              <a:t>dez de 28 · R$ 15 mi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7681D2D-43A6-4E5D-805C-4B3D608525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5486400"/>
            <a:ext cx="2552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5E7880"/>
                </a:solidFill>
              </a:defRPr>
            </a:pPr>
            <a:r>
              <a:rPr sz="825" b="1">
                <a:solidFill>
                  <a:srgbClr val="5E7880"/>
                </a:solidFill>
              </a:rPr>
              <a:t>PICO DE FOLHA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75B7F83-8973-433E-BF87-4F420768C0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5676900"/>
            <a:ext cx="2552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F2FAF9"/>
                </a:solidFill>
              </a:defRPr>
            </a:pPr>
            <a:r>
              <a:rPr sz="1350" b="1">
                <a:solidFill>
                  <a:srgbClr val="F2FAF9"/>
                </a:solidFill>
              </a:rPr>
              <a:t>fev de 26 · R$ 3,4 mi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B06507A-F4A6-48A8-8327-B95ACFC58C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5486400"/>
            <a:ext cx="2552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5E7880"/>
                </a:solidFill>
              </a:defRPr>
            </a:pPr>
            <a:r>
              <a:rPr sz="825" b="1">
                <a:solidFill>
                  <a:srgbClr val="5E7880"/>
                </a:solidFill>
              </a:rPr>
              <a:t>MÊS MAIS APERTADO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CA7E8D3-4781-410D-A4DF-D1CA05254D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5676900"/>
            <a:ext cx="2552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F2FAF9"/>
                </a:solidFill>
              </a:defRPr>
            </a:pPr>
            <a:r>
              <a:rPr sz="1350" b="1">
                <a:solidFill>
                  <a:srgbClr val="F2FAF9"/>
                </a:solidFill>
              </a:rPr>
              <a:t>fev de 26 · 1,39x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1B13F97-A3CA-4FE5-9F38-0C5DE6912B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5486400"/>
            <a:ext cx="2552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5E7880"/>
                </a:solidFill>
              </a:defRPr>
            </a:pPr>
            <a:r>
              <a:rPr sz="825" b="1">
                <a:solidFill>
                  <a:srgbClr val="5E7880"/>
                </a:solidFill>
              </a:rPr>
              <a:t>SALDO MENSAL MÉDIO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240F806F-0786-43D3-ABF7-832A22C06D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5676900"/>
            <a:ext cx="2552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F2FAF9"/>
                </a:solidFill>
              </a:defRPr>
            </a:pPr>
            <a:r>
              <a:rPr sz="1350" b="1">
                <a:solidFill>
                  <a:srgbClr val="F2FAF9"/>
                </a:solidFill>
              </a:rPr>
              <a:t>R$ 7 mi</a:t>
            </a:r>
          </a:p>
        </p:txBody>
      </p:sp>
    </p:spTree>
    <p:extLst>
      <p:ext uri="{BB962C8B-B14F-4D97-AF65-F5344CB8AC3E}">
        <p14:creationId xmlns:p14="http://schemas.microsoft.com/office/powerpoint/2010/main" val="1522587229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040A1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EE4FA42F-CFA9-4E5E-B7A4-C25010E9FD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E5FD949-8495-4E2C-96D2-C14D399CE3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62E8436-E0E2-4141-A07A-48607C044B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35E6BB"/>
                </a:solidFill>
              </a:defRPr>
            </a:pPr>
            <a:r>
              <a:rPr sz="975" b="1">
                <a:solidFill>
                  <a:srgbClr val="35E6BB"/>
                </a:solidFill>
              </a:rPr>
              <a:t>CURVA MENSAL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CCA1126-D123-4EBB-BFD5-4C4085F6C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5E7880"/>
                </a:solidFill>
              </a:defRPr>
            </a:pPr>
            <a:r>
              <a:rPr sz="900">
                <a:solidFill>
                  <a:srgbClr val="5E7880"/>
                </a:solidFill>
              </a:rPr>
              <a:t>05 / 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37BA32E-CB86-4EF3-B531-58C5B922AC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3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ce923ee43914ac1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380CC24-D0B9-4B3C-9756-9E29D7EEC6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Dados informados do sistema na Projeção Financeira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6546AB7-6D48-4E2C-B179-FC5B2D7DFB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Faturamento vs Folha de Pagamento · v1 · CONFIDENCIAL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86C83D7-59C8-41BE-88E7-1D4C9ABA3E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F2FAF9"/>
                </a:solidFill>
              </a:defRPr>
            </a:pPr>
            <a:r>
              <a:rPr sz="2550" b="1">
                <a:solidFill>
                  <a:srgbClr val="F2FAF9"/>
                </a:solidFill>
              </a:rPr>
              <a:t>Valores de cada competência, sem acumulação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5CF4DE0-6AA5-4D55-8BE4-6BAB19EF82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76350"/>
            <a:ext cx="10591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8CA5AB"/>
                </a:solidFill>
              </a:defRPr>
            </a:pPr>
            <a:r>
              <a:rPr sz="1125">
                <a:solidFill>
                  <a:srgbClr val="8CA5AB"/>
                </a:solidFill>
              </a:rPr>
              <a:t>A leitura mês a mês da receita e da folha: onde cada uma sobe, onde recua e a partir de quando passam a ser projeção.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6E5E02E-988A-4BCC-8694-80AA10B871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38300"/>
            <a:ext cx="10972800" cy="3543300"/>
          </a:xfrm>
          <a:prstGeom xmlns:a="http://schemas.openxmlformats.org/drawingml/2006/main" prst="roundRect">
            <a:avLst>
              <a:gd name="adj" fmla="val 3226"/>
            </a:avLst>
          </a:prstGeom>
          <a:gradFill xmlns:a="http://schemas.openxmlformats.org/drawingml/2006/main">
            <a:gsLst>
              <a:gs pos="0">
                <a:srgbClr val="0C1C24"/>
              </a:gs>
              <a:gs pos="100000">
                <a:srgbClr val="06121A"/>
              </a:gs>
            </a:gsLst>
            <a:lin/>
          </a:gradFill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pic>
        <p:nvPicPr>
          <p:cNvPr id="4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08a09ca9a7a45b1">
            <a:extLst>
              <a:ext uri="{96DAC541-7B7A-43D3-8B79-37D633B846F1}">
                <asvg:svgBlip xmlns:asvg="http://schemas.microsoft.com/office/drawing/2016/SVG/main" r:embed="Rc009e7b576354293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742950" y="1752600"/>
            <a:ext cx="10706100" cy="2857500"/>
          </a:xfrm>
          <a:prstGeom xmlns:a="http://schemas.openxmlformats.org/drawingml/2006/main" prst="rect">
            <a:avLst/>
          </a:prstGeom>
        </p:spPr>
      </p:pic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585762E-859D-4E05-AEC3-D1DE159E3C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743450"/>
            <a:ext cx="171450" cy="285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999DA3D-CC1E-4269-8752-B38B99819B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667250"/>
            <a:ext cx="186309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8CA5AB"/>
                </a:solidFill>
              </a:defRPr>
            </a:pPr>
            <a:r>
              <a:rPr sz="975">
                <a:solidFill>
                  <a:srgbClr val="8CA5AB"/>
                </a:solidFill>
              </a:rPr>
              <a:t>Faturamento realizado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308B8D9-76CE-4055-B982-94A4949D6A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63215" y="4743450"/>
            <a:ext cx="6667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C9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0836B9C-A4B8-42D2-A563-BFBE656541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67990" y="4743450"/>
            <a:ext cx="6667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C9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CAC3F91-5B4F-499D-A659-85DF2D6019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1340" y="4667250"/>
            <a:ext cx="1790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8CA5AB"/>
                </a:solidFill>
              </a:defRPr>
            </a:pPr>
            <a:r>
              <a:rPr sz="975">
                <a:solidFill>
                  <a:srgbClr val="8CA5AB"/>
                </a:solidFill>
              </a:rPr>
              <a:t>Faturamento previsto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A82E1B0-8291-4224-A12D-BFFBD10334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2040" y="4743450"/>
            <a:ext cx="171450" cy="285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6B8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17FF0C8-680E-4589-BC8C-E978B921C8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30165" y="4667250"/>
            <a:ext cx="208026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8CA5AB"/>
                </a:solidFill>
              </a:defRPr>
            </a:pPr>
            <a:r>
              <a:rPr sz="975">
                <a:solidFill>
                  <a:srgbClr val="8CA5AB"/>
                </a:solidFill>
              </a:rPr>
              <a:t>Folha fechada + encargos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CCBF7A2-957C-4750-9927-BD4E2925F5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0425" y="4743450"/>
            <a:ext cx="6667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B74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809B4CF-C1BD-4775-8B6A-F5C3B278BD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4743450"/>
            <a:ext cx="6667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B74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E84DA51-7B92-44A5-8728-B0D46DAF13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4667250"/>
            <a:ext cx="142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8CA5AB"/>
                </a:solidFill>
              </a:defRPr>
            </a:pPr>
            <a:r>
              <a:rPr sz="975">
                <a:solidFill>
                  <a:srgbClr val="8CA5AB"/>
                </a:solidFill>
              </a:rPr>
              <a:t>Folha projetada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4269E0F-7D8E-438B-80E5-3ECB9F708F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914900"/>
            <a:ext cx="10668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63">
                <a:solidFill>
                  <a:srgbClr val="5E7880"/>
                </a:solidFill>
              </a:defRPr>
            </a:pPr>
            <a:r>
              <a:rPr sz="863">
                <a:solidFill>
                  <a:srgbClr val="5E7880"/>
                </a:solidFill>
              </a:rPr>
              <a:t>Traço contínuo: valores fechados. Traço tracejado: projeção, ancorada na última competência realizada.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0C71438-BC56-40EC-94EF-8AFA7D3E71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911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B0D40A2-8FF9-47E7-8709-7ADE0DBF94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86400"/>
            <a:ext cx="2552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5E7880"/>
                </a:solidFill>
              </a:defRPr>
            </a:pPr>
            <a:r>
              <a:rPr sz="825" b="1">
                <a:solidFill>
                  <a:srgbClr val="5E7880"/>
                </a:solidFill>
              </a:rPr>
              <a:t>PICO DE RECEITA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AD07CBF-E8B0-4F5B-BC21-CE5B225ADD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76900"/>
            <a:ext cx="2552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F2FAF9"/>
                </a:solidFill>
              </a:defRPr>
            </a:pPr>
            <a:r>
              <a:rPr sz="1350" b="1">
                <a:solidFill>
                  <a:srgbClr val="F2FAF9"/>
                </a:solidFill>
              </a:rPr>
              <a:t>dez de 28 · R$ 15 mi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A9C2951-7599-40FE-BB13-0C0430F081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5486400"/>
            <a:ext cx="2552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5E7880"/>
                </a:solidFill>
              </a:defRPr>
            </a:pPr>
            <a:r>
              <a:rPr sz="825" b="1">
                <a:solidFill>
                  <a:srgbClr val="5E7880"/>
                </a:solidFill>
              </a:rPr>
              <a:t>PICO DE FOLHA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EF37E33-D900-4016-A344-90A8BBBD71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5676900"/>
            <a:ext cx="2552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F2FAF9"/>
                </a:solidFill>
              </a:defRPr>
            </a:pPr>
            <a:r>
              <a:rPr sz="1350" b="1">
                <a:solidFill>
                  <a:srgbClr val="F2FAF9"/>
                </a:solidFill>
              </a:rPr>
              <a:t>fev de 26 · R$ 3,4 mi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AB31BE9E-4B76-498D-98F4-9C6580AC80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5486400"/>
            <a:ext cx="2552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5E7880"/>
                </a:solidFill>
              </a:defRPr>
            </a:pPr>
            <a:r>
              <a:rPr sz="825" b="1">
                <a:solidFill>
                  <a:srgbClr val="5E7880"/>
                </a:solidFill>
              </a:rPr>
              <a:t>COMPETÊNCIAS REALIZADAS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CF257F77-28A2-4033-883E-51BFF2FAB2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5676900"/>
            <a:ext cx="2552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F2FAF9"/>
                </a:solidFill>
              </a:defRPr>
            </a:pPr>
            <a:r>
              <a:rPr sz="1350" b="1">
                <a:solidFill>
                  <a:srgbClr val="F2FAF9"/>
                </a:solidFill>
              </a:rPr>
              <a:t>31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B39E31FD-37A5-4813-B120-DE3EDB0F25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5486400"/>
            <a:ext cx="2552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5E7880"/>
                </a:solidFill>
              </a:defRPr>
            </a:pPr>
            <a:r>
              <a:rPr sz="825" b="1">
                <a:solidFill>
                  <a:srgbClr val="5E7880"/>
                </a:solidFill>
              </a:rPr>
              <a:t>COMPETÊNCIAS PROJETADAS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79706794-3421-4660-896C-3A1DA5DED2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5676900"/>
            <a:ext cx="2552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F2FAF9"/>
                </a:solidFill>
              </a:defRPr>
            </a:pPr>
            <a:r>
              <a:rPr sz="1350" b="1">
                <a:solidFill>
                  <a:srgbClr val="F2FAF9"/>
                </a:solidFill>
              </a:rPr>
              <a:t>29</a:t>
            </a:r>
          </a:p>
        </p:txBody>
      </p:sp>
    </p:spTree>
    <p:extLst>
      <p:ext uri="{BB962C8B-B14F-4D97-AF65-F5344CB8AC3E}">
        <p14:creationId xmlns:p14="http://schemas.microsoft.com/office/powerpoint/2010/main" val="588355513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040A1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25525C1-F393-42C1-A06B-7AD3D7C401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73AA492-DE07-41B7-95F5-3B90ED263B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89BF2A8-C0EB-4458-A5F8-CD942614ED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35E6BB"/>
                </a:solidFill>
              </a:defRPr>
            </a:pPr>
            <a:r>
              <a:rPr sz="975" b="1">
                <a:solidFill>
                  <a:srgbClr val="35E6BB"/>
                </a:solidFill>
              </a:rPr>
              <a:t>CURVA S ACUMULADA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09F0204-DFFE-4390-B134-987C0EF497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5E7880"/>
                </a:solidFill>
              </a:defRPr>
            </a:pPr>
            <a:r>
              <a:rPr sz="900">
                <a:solidFill>
                  <a:srgbClr val="5E7880"/>
                </a:solidFill>
              </a:rPr>
              <a:t>06 / 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4E6B799-A0E0-443E-A684-2862B6B783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3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54b449939b74ae1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05E4FCD-A2C9-4508-AB69-675200E608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Dados informados do sistema na Projeção Financeira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B8F7EA2-E57F-4D00-860F-9A81ACC289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Faturamento vs Folha de Pagamento · v1 · CONFIDENCIAL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96FAEE3-2EDD-4CDC-AAA4-1032C46838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F2FAF9"/>
                </a:solidFill>
              </a:defRPr>
            </a:pPr>
            <a:r>
              <a:rPr sz="2550" b="1">
                <a:solidFill>
                  <a:srgbClr val="F2FAF9"/>
                </a:solidFill>
              </a:rPr>
              <a:t>A trajetória acumulada do período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B8233E7-6573-4B33-87D1-00D51283AE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76350"/>
            <a:ext cx="10591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8CA5AB"/>
                </a:solidFill>
              </a:defRPr>
            </a:pPr>
            <a:r>
              <a:rPr sz="1125">
                <a:solidFill>
                  <a:srgbClr val="8CA5AB"/>
                </a:solidFill>
              </a:rPr>
              <a:t>A trajetória acumulada mantém-se positiva em todo o recorte e fecha em R$ 421,6 mi.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CC3D41C-7766-4A65-9804-527C63B72F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38300"/>
            <a:ext cx="10972800" cy="3543300"/>
          </a:xfrm>
          <a:prstGeom xmlns:a="http://schemas.openxmlformats.org/drawingml/2006/main" prst="roundRect">
            <a:avLst>
              <a:gd name="adj" fmla="val 3226"/>
            </a:avLst>
          </a:prstGeom>
          <a:gradFill xmlns:a="http://schemas.openxmlformats.org/drawingml/2006/main">
            <a:gsLst>
              <a:gs pos="0">
                <a:srgbClr val="0C1C24"/>
              </a:gs>
              <a:gs pos="100000">
                <a:srgbClr val="06121A"/>
              </a:gs>
            </a:gsLst>
            <a:lin/>
          </a:gradFill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pic>
        <p:nvPicPr>
          <p:cNvPr id="3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43a127ac5424d69">
            <a:extLst>
              <a:ext uri="{96DAC541-7B7A-43D3-8B79-37D633B846F1}">
                <asvg:svgBlip xmlns:asvg="http://schemas.microsoft.com/office/drawing/2016/SVG/main" r:embed="Rd92db65bbd51445c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742950" y="1752600"/>
            <a:ext cx="10706100" cy="3086100"/>
          </a:xfrm>
          <a:prstGeom xmlns:a="http://schemas.openxmlformats.org/drawingml/2006/main" prst="rect">
            <a:avLst/>
          </a:prstGeom>
        </p:spPr>
      </p:pic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F5A7930-8036-4179-95A5-738F53ADA8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972050"/>
            <a:ext cx="171450" cy="285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F16ABBA-9787-496C-83E7-9D8D802189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895850"/>
            <a:ext cx="186309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8CA5AB"/>
                </a:solidFill>
              </a:defRPr>
            </a:pPr>
            <a:r>
              <a:rPr sz="975">
                <a:solidFill>
                  <a:srgbClr val="8CA5AB"/>
                </a:solidFill>
              </a:rPr>
              <a:t>Faturamento acumulado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0857DDF-9557-4474-BE4C-CDCA16BD11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63215" y="4972050"/>
            <a:ext cx="171450" cy="285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6B8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019B21F-D50E-49A1-B672-C12048F0D7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1340" y="4895850"/>
            <a:ext cx="142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8CA5AB"/>
                </a:solidFill>
              </a:defRPr>
            </a:pPr>
            <a:r>
              <a:rPr sz="975">
                <a:solidFill>
                  <a:srgbClr val="8CA5AB"/>
                </a:solidFill>
              </a:rPr>
              <a:t>Folha acumulada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6F707A9-FC42-4964-AB4D-2E877E169B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0090" y="4972050"/>
            <a:ext cx="6667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C8C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1F222E1-58F0-4AFA-875B-E4331D5F25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34865" y="4972050"/>
            <a:ext cx="6667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C8C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B4DD254-F089-4E16-84F6-CD59E0B3AB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8215" y="4895850"/>
            <a:ext cx="142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8CA5AB"/>
                </a:solidFill>
              </a:defRPr>
            </a:pPr>
            <a:r>
              <a:rPr sz="975">
                <a:solidFill>
                  <a:srgbClr val="8CA5AB"/>
                </a:solidFill>
              </a:rPr>
              <a:t>Saldo acumulado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ED50640-A4B6-48B9-9FCA-393AC9F422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911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2AF7898-9AA1-4E66-9281-073F723ADA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86400"/>
            <a:ext cx="3467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5E7880"/>
                </a:solidFill>
              </a:defRPr>
            </a:pPr>
            <a:r>
              <a:rPr sz="825" b="1">
                <a:solidFill>
                  <a:srgbClr val="5E7880"/>
                </a:solidFill>
              </a:rPr>
              <a:t>RECEITA ACUMULADA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A0D144F-BB4A-4B5F-9909-50422AF60C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76900"/>
            <a:ext cx="3467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F2FAF9"/>
                </a:solidFill>
              </a:defRPr>
            </a:pPr>
            <a:r>
              <a:rPr sz="1350" b="1">
                <a:solidFill>
                  <a:srgbClr val="F2FAF9"/>
                </a:solidFill>
              </a:rPr>
              <a:t>R$ 516,6 mi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C0A7A3D-702C-47E2-9793-BAF75C5B8F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5486400"/>
            <a:ext cx="3467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5E7880"/>
                </a:solidFill>
              </a:defRPr>
            </a:pPr>
            <a:r>
              <a:rPr sz="825" b="1">
                <a:solidFill>
                  <a:srgbClr val="5E7880"/>
                </a:solidFill>
              </a:rPr>
              <a:t>FOLHA ACUMULADA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3E045CC-580B-4C6A-BE6F-A28CD8B771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5676900"/>
            <a:ext cx="3467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F2FAF9"/>
                </a:solidFill>
              </a:defRPr>
            </a:pPr>
            <a:r>
              <a:rPr sz="1350" b="1">
                <a:solidFill>
                  <a:srgbClr val="F2FAF9"/>
                </a:solidFill>
              </a:rPr>
              <a:t>R$ 95 mi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AF3F3EC-4BBE-405A-BD66-D01A22278B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5486400"/>
            <a:ext cx="3467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5E7880"/>
                </a:solidFill>
              </a:defRPr>
            </a:pPr>
            <a:r>
              <a:rPr sz="825" b="1">
                <a:solidFill>
                  <a:srgbClr val="5E7880"/>
                </a:solidFill>
              </a:rPr>
              <a:t>SALDO NO FECHO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2024F89-5879-44A8-A3D6-808D94457F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5676900"/>
            <a:ext cx="3467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35E6BB"/>
                </a:solidFill>
              </a:defRPr>
            </a:pPr>
            <a:r>
              <a:rPr sz="1350" b="1">
                <a:solidFill>
                  <a:srgbClr val="35E6BB"/>
                </a:solidFill>
              </a:rPr>
              <a:t>R$ 421,6 mi</a:t>
            </a:r>
          </a:p>
        </p:txBody>
      </p:sp>
    </p:spTree>
    <p:extLst>
      <p:ext uri="{BB962C8B-B14F-4D97-AF65-F5344CB8AC3E}">
        <p14:creationId xmlns:p14="http://schemas.microsoft.com/office/powerpoint/2010/main" val="301313488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040A1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A1EA7A9-D45A-4F38-9E3F-0EC1505D20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C2D7C0F-AE61-4CA5-9D9D-6ABD29324C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147B6AA-DDB6-45A4-873C-8A3C313C39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35E6BB"/>
                </a:solidFill>
              </a:defRPr>
            </a:pPr>
            <a:r>
              <a:rPr sz="975" b="1">
                <a:solidFill>
                  <a:srgbClr val="35E6BB"/>
                </a:solidFill>
              </a:rPr>
              <a:t>SALDO MENSAL E ACUMULADO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D800FF2-9AA3-4BA4-91B6-6359877660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5E7880"/>
                </a:solidFill>
              </a:defRPr>
            </a:pPr>
            <a:r>
              <a:rPr sz="900">
                <a:solidFill>
                  <a:srgbClr val="5E7880"/>
                </a:solidFill>
              </a:rPr>
              <a:t>07 / 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BD8C5A8-2ED8-49F6-B681-8CAF156A65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3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3540ff06166426c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B87F865-4B16-4A12-944D-2074495F59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Dados informados do sistema na Projeção Financeira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BA8D407-0F9E-44C2-A8E6-B316B42F8B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Faturamento vs Folha de Pagamento · v1 · CONFIDENCIAL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EB46268-4C46-49E0-B810-3E58577132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F2FAF9"/>
                </a:solidFill>
              </a:defRPr>
            </a:pPr>
            <a:r>
              <a:rPr sz="2550" b="1">
                <a:solidFill>
                  <a:srgbClr val="F2FAF9"/>
                </a:solidFill>
              </a:rPr>
              <a:t>Onde o período gera e onde consome resultado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DFAB9F3-1E90-4605-8E84-D1A3167610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76350"/>
            <a:ext cx="10591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8CA5AB"/>
                </a:solidFill>
              </a:defRPr>
            </a:pPr>
            <a:r>
              <a:rPr sz="1125">
                <a:solidFill>
                  <a:srgbClr val="8CA5AB"/>
                </a:solidFill>
              </a:rPr>
              <a:t>Nenhuma competência do recorte fecha com saldo mensal negativo.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68E6CFB-600C-4611-ACA5-665604A7B8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38300"/>
            <a:ext cx="10972800" cy="3543300"/>
          </a:xfrm>
          <a:prstGeom xmlns:a="http://schemas.openxmlformats.org/drawingml/2006/main" prst="roundRect">
            <a:avLst>
              <a:gd name="adj" fmla="val 3226"/>
            </a:avLst>
          </a:prstGeom>
          <a:gradFill xmlns:a="http://schemas.openxmlformats.org/drawingml/2006/main">
            <a:gsLst>
              <a:gs pos="0">
                <a:srgbClr val="0C1C24"/>
              </a:gs>
              <a:gs pos="100000">
                <a:srgbClr val="06121A"/>
              </a:gs>
            </a:gsLst>
            <a:lin/>
          </a:gradFill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pic>
        <p:nvPicPr>
          <p:cNvPr id="3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800c5682bae492d">
            <a:extLst>
              <a:ext uri="{96DAC541-7B7A-43D3-8B79-37D633B846F1}">
                <asvg:svgBlip xmlns:asvg="http://schemas.microsoft.com/office/drawing/2016/SVG/main" r:embed="R15b0817fa6f14fb9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742950" y="1752600"/>
            <a:ext cx="10706100" cy="2857500"/>
          </a:xfrm>
          <a:prstGeom xmlns:a="http://schemas.openxmlformats.org/drawingml/2006/main" prst="rect">
            <a:avLst/>
          </a:prstGeom>
        </p:spPr>
      </p:pic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EFAC75C-A1ED-4138-82B7-E8BBECD2FD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70535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4991722-E675-4219-9BC9-B0557E4495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667250"/>
            <a:ext cx="200787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8CA5AB"/>
                </a:solidFill>
              </a:defRPr>
            </a:pPr>
            <a:r>
              <a:rPr sz="975">
                <a:solidFill>
                  <a:srgbClr val="8CA5AB"/>
                </a:solidFill>
              </a:rPr>
              <a:t>Saldo do mês (positivo)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97B7BB3-494F-4157-BCBD-F0F5206A52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7995" y="470535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6B8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EED6301-E59A-45B2-9D3B-8BB609B3A8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46120" y="4667250"/>
            <a:ext cx="200787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8CA5AB"/>
                </a:solidFill>
              </a:defRPr>
            </a:pPr>
            <a:r>
              <a:rPr sz="975">
                <a:solidFill>
                  <a:srgbClr val="8CA5AB"/>
                </a:solidFill>
              </a:rPr>
              <a:t>Saldo do mês (negativo)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357FC93-D8B9-47AA-81C6-E115541328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3990" y="4743450"/>
            <a:ext cx="171450" cy="285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9C8C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A170E02-65F8-4BA1-87F1-3BEC4350A3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92115" y="4667250"/>
            <a:ext cx="25146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8CA5AB"/>
                </a:solidFill>
              </a:defRPr>
            </a:pPr>
            <a:r>
              <a:rPr sz="975">
                <a:solidFill>
                  <a:srgbClr val="8CA5AB"/>
                </a:solidFill>
              </a:rPr>
              <a:t>Saldo acumulado — eixo direito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C945F65-B809-416E-8B22-9975719101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914900"/>
            <a:ext cx="10668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63">
                <a:solidFill>
                  <a:srgbClr val="5E7880"/>
                </a:solidFill>
              </a:defRPr>
            </a:pPr>
            <a:r>
              <a:rPr sz="863">
                <a:solidFill>
                  <a:srgbClr val="5E7880"/>
                </a:solidFill>
              </a:rPr>
              <a:t>Colunas: saldo do mês (eixo esquerdo). Linha: saldo acumulado (eixo direito).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83B3F29-8F5A-4228-A249-27C11EF4D3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911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21AEA06-2D50-4406-AECB-22EC87312D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86400"/>
            <a:ext cx="3467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5E7880"/>
                </a:solidFill>
              </a:defRPr>
            </a:pPr>
            <a:r>
              <a:rPr sz="825" b="1">
                <a:solidFill>
                  <a:srgbClr val="5E7880"/>
                </a:solidFill>
              </a:rPr>
              <a:t>MELHOR MÊS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D6DC558-03AE-49E8-893D-390F57977A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76900"/>
            <a:ext cx="3467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35E6BB"/>
                </a:solidFill>
              </a:defRPr>
            </a:pPr>
            <a:r>
              <a:rPr sz="1350" b="1">
                <a:solidFill>
                  <a:srgbClr val="35E6BB"/>
                </a:solidFill>
              </a:rPr>
              <a:t>dez de 28 · R$ 13,3 mi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BB51103-6E14-4542-BDC7-C5114B8BC4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5486400"/>
            <a:ext cx="3467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5E7880"/>
                </a:solidFill>
              </a:defRPr>
            </a:pPr>
            <a:r>
              <a:rPr sz="825" b="1">
                <a:solidFill>
                  <a:srgbClr val="5E7880"/>
                </a:solidFill>
              </a:rPr>
              <a:t>PIOR MÊS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D5038E9-6D15-46DE-BB21-2C1AC9BF20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5676900"/>
            <a:ext cx="3467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CBDBDD"/>
                </a:solidFill>
              </a:defRPr>
            </a:pPr>
            <a:r>
              <a:rPr sz="1350" b="1">
                <a:solidFill>
                  <a:srgbClr val="CBDBDD"/>
                </a:solidFill>
              </a:rPr>
              <a:t>dez de 25 · R$ 940,3 mil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04C0A82-98BA-4E3F-8779-A8E2D672BC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5486400"/>
            <a:ext cx="3467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5E7880"/>
                </a:solidFill>
              </a:defRPr>
            </a:pPr>
            <a:r>
              <a:rPr sz="825" b="1">
                <a:solidFill>
                  <a:srgbClr val="5E7880"/>
                </a:solidFill>
              </a:rPr>
              <a:t>COMPETÊNCIAS NO RECORTE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2340F73-476B-48AF-8B6C-498AD1ABCB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5676900"/>
            <a:ext cx="3467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F2FAF9"/>
                </a:solidFill>
              </a:defRPr>
            </a:pPr>
            <a:r>
              <a:rPr sz="1350" b="1">
                <a:solidFill>
                  <a:srgbClr val="F2FAF9"/>
                </a:solidFill>
              </a:rPr>
              <a:t>60</a:t>
            </a:r>
          </a:p>
        </p:txBody>
      </p:sp>
    </p:spTree>
    <p:extLst>
      <p:ext uri="{BB962C8B-B14F-4D97-AF65-F5344CB8AC3E}">
        <p14:creationId xmlns:p14="http://schemas.microsoft.com/office/powerpoint/2010/main" val="1731913002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040A1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4DD9251F-BF35-4017-89E7-2FC57F2A58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CB5581B-F414-48C0-BCCB-1EA6601FA3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1912872-B3F8-49FD-901A-A207B7309E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35E6BB"/>
                </a:solidFill>
              </a:defRPr>
            </a:pPr>
            <a:r>
              <a:rPr sz="975" b="1">
                <a:solidFill>
                  <a:srgbClr val="35E6BB"/>
                </a:solidFill>
              </a:rPr>
              <a:t>PROJEÇÃO POR CLIENTE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52E5995-FDAF-425E-A502-411744FF81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5E7880"/>
                </a:solidFill>
              </a:defRPr>
            </a:pPr>
            <a:r>
              <a:rPr sz="900">
                <a:solidFill>
                  <a:srgbClr val="5E7880"/>
                </a:solidFill>
              </a:rPr>
              <a:t>08 / 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3402E35-A5D6-42CE-A123-9EFF18EBB8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4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808e44ec3964e86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8FEC98E-433B-4073-8E6E-1382CD07DF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Dados informados do sistema na Projeção Financeira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36C7E13-47B9-4157-B3EB-BF36BE6CE8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Faturamento vs Folha de Pagamento · v1 · CONFIDENCIAL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2A6474A-CD8C-42F2-A209-3452FB9FBD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F2FAF9"/>
                </a:solidFill>
              </a:defRPr>
            </a:pPr>
            <a:r>
              <a:rPr sz="2550" b="1">
                <a:solidFill>
                  <a:srgbClr val="F2FAF9"/>
                </a:solidFill>
              </a:rPr>
              <a:t>Quem compõe o faturamento projetado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52B9AE9-6984-40ED-8A03-59924F1E2D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76350"/>
            <a:ext cx="10591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8CA5AB"/>
                </a:solidFill>
              </a:defRPr>
            </a:pPr>
            <a:r>
              <a:rPr sz="1125">
                <a:solidFill>
                  <a:srgbClr val="8CA5AB"/>
                </a:solidFill>
              </a:rPr>
              <a:t>A composição mensal reflete o cronograma contratual e a evolução prevista da carteira de clientes.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A5FB0EF-6980-4111-9213-5FF25C9843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38300"/>
            <a:ext cx="10972800" cy="4457700"/>
          </a:xfrm>
          <a:prstGeom xmlns:a="http://schemas.openxmlformats.org/drawingml/2006/main" prst="roundRect">
            <a:avLst>
              <a:gd name="adj" fmla="val 2564"/>
            </a:avLst>
          </a:prstGeom>
          <a:gradFill xmlns:a="http://schemas.openxmlformats.org/drawingml/2006/main">
            <a:gsLst>
              <a:gs pos="0">
                <a:srgbClr val="0C1C24"/>
              </a:gs>
              <a:gs pos="100000">
                <a:srgbClr val="06121A"/>
              </a:gs>
            </a:gsLst>
            <a:lin/>
          </a:gradFill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pic>
        <p:nvPicPr>
          <p:cNvPr id="4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d7cde7b04554676">
            <a:extLst>
              <a:ext uri="{96DAC541-7B7A-43D3-8B79-37D633B846F1}">
                <asvg:svgBlip xmlns:asvg="http://schemas.microsoft.com/office/drawing/2016/SVG/main" r:embed="R2f4e3d9335bf45cc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742950" y="1752600"/>
            <a:ext cx="10706100" cy="3790950"/>
          </a:xfrm>
          <a:prstGeom xmlns:a="http://schemas.openxmlformats.org/drawingml/2006/main" prst="rect">
            <a:avLst/>
          </a:prstGeom>
        </p:spPr>
      </p:pic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19311CA-1D85-4F47-B51B-9901193C96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63880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4D8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E168CC6-5AAF-4F44-87E8-575FBBD255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5600700"/>
            <a:ext cx="121158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8CA5AB"/>
                </a:solidFill>
              </a:defRPr>
            </a:pPr>
            <a:r>
              <a:rPr sz="975">
                <a:solidFill>
                  <a:srgbClr val="8CA5AB"/>
                </a:solidFill>
              </a:rPr>
              <a:t>AXIA Energia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50EADF3-442A-4086-A4FE-70FE779FFF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11705" y="563880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0A45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9FE3C3F-090B-4014-9F69-1FFE7B0760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49830" y="5600700"/>
            <a:ext cx="99441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8CA5AB"/>
                </a:solidFill>
              </a:defRPr>
            </a:pPr>
            <a:r>
              <a:rPr sz="975">
                <a:solidFill>
                  <a:srgbClr val="8CA5AB"/>
                </a:solidFill>
              </a:rPr>
              <a:t>Petrobras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EF0CFE4-225B-4F7F-BADD-3B9F516A07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4240" y="563880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04A9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351C31F-1B6B-41D8-88FD-01EA498540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82365" y="5600700"/>
            <a:ext cx="150114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8CA5AB"/>
                </a:solidFill>
              </a:defRPr>
            </a:pPr>
            <a:r>
              <a:rPr sz="975">
                <a:solidFill>
                  <a:srgbClr val="8CA5AB"/>
                </a:solidFill>
              </a:rPr>
              <a:t>Enel Green Power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F51409F-C326-4BB1-8BC3-BBD57B7B48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3505" y="563880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83C94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D54AEF3-F836-4506-B99A-14FFC5E48B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1630" y="5600700"/>
            <a:ext cx="150114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8CA5AB"/>
                </a:solidFill>
              </a:defRPr>
            </a:pPr>
            <a:r>
              <a:rPr sz="975">
                <a:solidFill>
                  <a:srgbClr val="8CA5AB"/>
                </a:solidFill>
              </a:rPr>
              <a:t>Belém Bioenergia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CDA42F2-1678-4266-9D26-E9C115B25A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22770" y="563880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04B4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7475EE6-B3BB-4551-AC48-19B10BF2B4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0895" y="5600700"/>
            <a:ext cx="84963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8CA5AB"/>
                </a:solidFill>
              </a:defRPr>
            </a:pPr>
            <a:r>
              <a:rPr sz="975">
                <a:solidFill>
                  <a:srgbClr val="8CA5AB"/>
                </a:solidFill>
              </a:rPr>
              <a:t>Flessak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5E1E83B-DDED-40DC-ADA4-6B8A4ABB99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0525" y="563880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3CD3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81F57D2-3299-4471-8677-B8FDB03FD0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5600700"/>
            <a:ext cx="7048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8CA5AB"/>
                </a:solidFill>
              </a:defRPr>
            </a:pPr>
            <a:r>
              <a:rPr sz="975">
                <a:solidFill>
                  <a:srgbClr val="8CA5AB"/>
                </a:solidFill>
              </a:rPr>
              <a:t>CEMIG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4AEE3C2-4C5D-475E-97DE-ADE93381AF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563880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5B7FB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B6194D0-7E91-43B3-90D2-F622C848F1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1625" y="5600700"/>
            <a:ext cx="77724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8CA5AB"/>
                </a:solidFill>
              </a:defRPr>
            </a:pPr>
            <a:r>
              <a:rPr sz="975">
                <a:solidFill>
                  <a:srgbClr val="8CA5AB"/>
                </a:solidFill>
              </a:rPr>
              <a:t>Harbin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28CE824-6639-4E02-AEDF-8B93B3CE21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84835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7A2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438B5CB-ABEB-4C66-A27C-10FEE70AB1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5810250"/>
            <a:ext cx="128397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8CA5AB"/>
                </a:solidFill>
              </a:defRPr>
            </a:pPr>
            <a:r>
              <a:rPr sz="975">
                <a:solidFill>
                  <a:srgbClr val="8CA5AB"/>
                </a:solidFill>
              </a:rPr>
              <a:t>ArcelorMittal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24A4CC2F-68E2-458D-917E-E9D923502C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4095" y="584835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8A9E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0F800659-DA63-4542-B587-DECA101769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22220" y="5810250"/>
            <a:ext cx="84963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8CA5AB"/>
                </a:solidFill>
              </a:defRPr>
            </a:pPr>
            <a:r>
              <a:rPr sz="975">
                <a:solidFill>
                  <a:srgbClr val="8CA5AB"/>
                </a:solidFill>
              </a:rPr>
              <a:t>Andritz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1DCABB37-A094-476F-887E-4BBA1E9A87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584835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B8AAA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79EFE364-EF68-477F-B1AE-62CD01E894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9975" y="5810250"/>
            <a:ext cx="7048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8CA5AB"/>
                </a:solidFill>
              </a:defRPr>
            </a:pPr>
            <a:r>
              <a:rPr sz="975">
                <a:solidFill>
                  <a:srgbClr val="8CA5AB"/>
                </a:solidFill>
              </a:rPr>
              <a:t>Âmbar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ED59566C-5C80-4BDF-B09F-E2FE41F254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584835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2B8B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894DCAAA-8F3F-48D5-83CB-F2A8C84AF8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5810250"/>
            <a:ext cx="135636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8CA5AB"/>
                </a:solidFill>
              </a:defRPr>
            </a:pPr>
            <a:r>
              <a:rPr sz="975">
                <a:solidFill>
                  <a:srgbClr val="8CA5AB"/>
                </a:solidFill>
              </a:rPr>
              <a:t>Hydro Alunorte</a:t>
            </a:r>
          </a:p>
        </p:txBody>
      </p:sp>
    </p:spTree>
    <p:extLst>
      <p:ext uri="{BB962C8B-B14F-4D97-AF65-F5344CB8AC3E}">
        <p14:creationId xmlns:p14="http://schemas.microsoft.com/office/powerpoint/2010/main" val="483643129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040A1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2" name="">
            <a:extLst xmlns:a="http://schemas.openxmlformats.org/drawingml/2006/main">
              <a:ext uri="{FF2B5EF4-FFF2-40B4-BE49-F238E27FC236}">
                <a16:creationId xmlns:a16="http://schemas.microsoft.com/office/drawing/2014/main" id="{EB167F49-70EB-46E1-A739-D164C710D1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F9AD69C-58B3-4747-BB3D-C1CBB10608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096E7B4-CAFA-4EBD-9AEF-9DA97FBD80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35E6BB"/>
                </a:solidFill>
              </a:defRPr>
            </a:pPr>
            <a:r>
              <a:rPr sz="975" b="1">
                <a:solidFill>
                  <a:srgbClr val="35E6BB"/>
                </a:solidFill>
              </a:rPr>
              <a:t>BASE MENSAL INFORMADA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724DA51-FE48-4310-965C-436582CB41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5E7880"/>
                </a:solidFill>
              </a:defRPr>
            </a:pPr>
            <a:r>
              <a:rPr sz="900">
                <a:solidFill>
                  <a:srgbClr val="5E7880"/>
                </a:solidFill>
              </a:rPr>
              <a:t>09 / 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670C20A-BD7E-428A-986D-B0963ED8BB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0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f3afcbafcc447da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1414DCE-F731-48B3-804B-F3EB0DACBF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Dados informados do sistema na Projeção Financeira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AAC2E80-4D3A-4CBC-8CE4-FC39221BBC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Faturamento vs Folha de Pagamento · v1 · CONFIDENCIAL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56E2D85-1E6F-4A42-98E8-FD244A99CB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F2FAF9"/>
                </a:solidFill>
              </a:defRPr>
            </a:pPr>
            <a:r>
              <a:rPr sz="2550" b="1">
                <a:solidFill>
                  <a:srgbClr val="F2FAF9"/>
                </a:solidFill>
              </a:rPr>
              <a:t>Todos os valores por trás dos gráficos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0F848B0-1E33-4E06-A477-06A6A16456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76350"/>
            <a:ext cx="10591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8CA5AB"/>
                </a:solidFill>
              </a:defRPr>
            </a:pPr>
            <a:r>
              <a:rPr sz="1125">
                <a:solidFill>
                  <a:srgbClr val="8CA5AB"/>
                </a:solidFill>
              </a:rPr>
              <a:t>Dados informados do sistema na Projeção Financeira. As competências projetadas seguem na sequência cronológica, destacadas em cor.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6FBC052-E5E5-40F9-9D8C-366123BAB3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1C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3B930FF-9591-4DC8-A1B8-FAE66384DE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812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3A4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5F21889-1C24-478C-A7AE-5DE3075AF5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1738313"/>
            <a:ext cx="1962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COMPETÊNCIA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295A286-7178-46FA-A18F-E39B5CA229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1738313"/>
            <a:ext cx="219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FATURAMENTO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AE5914D-CBEF-4518-AC77-6C29073AF1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1738313"/>
            <a:ext cx="219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FOLHA + ENCARGOS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B217AF1-4180-480B-909F-DF2302596B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1738313"/>
            <a:ext cx="18859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SALDO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4F445D4-244F-446A-BAD9-677BB71E55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1738313"/>
            <a:ext cx="18859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ACUMULADO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45C633E-1460-4B5A-821E-23E0D40323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955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97CFE03-426A-40CF-9CE2-0D6E43F76B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0431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jan de 24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74700EA-5662-4605-AD41-5C703781EA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0431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R$ 6.789.213,81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BB2E91E-E559-405F-B37E-1954612FAB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0431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R$ 890.704,19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977CCD4-8130-4EBC-AEE0-6457672A6A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0431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R$ 5.898.509,62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0DAA729-DEE3-4B38-87E5-6DD0981692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0431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R$ 5.898.509,62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BFD7E22-6E89-4C28-B8C1-D7D206C81B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0505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E7DDC09-D28F-4203-A3FE-A709511FE9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098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FFB6679-F40E-472A-974B-8F80071B4D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3574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fev de 24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029D77B-155B-4984-AB1A-7E36C6301C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3574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R$ 3.817.372,69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20FD3D2-5A15-48EF-B71C-3FEA48257F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3574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R$ 1.020.426,58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1AB087D9-EB7E-4BCD-A988-FBDDCD63C4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3574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R$ 2.796.946,11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B4CD4697-B673-4552-B991-96B4B04664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3574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R$ 8.695.455,73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970F85D6-8153-4FBF-BE8B-F72587886A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241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2A9AA7B4-DB7C-425A-9C35-8680A8ECA7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6717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mar de 24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D6C3E265-AE6B-4FB4-930C-A4054ABA10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6717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R$ 4.732.792,38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B07BFC81-94AE-454D-8D61-D64B97661A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6717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R$ 1.185.267,32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9EA2A510-D690-49ED-BD5C-5AB70D8470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6717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R$ 3.547.525,06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E8CE0665-0BC6-4BD5-8D47-6555E318FC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6717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R$ 12.242.980,79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23E181A0-ABA3-4DCA-822A-0B1E3B7EB0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3370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6477D3BF-ADB0-456E-8A6C-865EE3DAA3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160373E4-8547-4C8C-BED3-89A892E26A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9860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abr de 24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C2E899A4-B267-4068-8F3B-AA9A0B569A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9860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R$ 7.231.990,50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13D6B16B-2105-4EB7-B990-F82B0B56B0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9860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R$ 1.174.044,87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BE0778D5-3949-41F5-8697-9BA8484180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9860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R$ 6.057.945,63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60C428E8-94C2-448D-A19A-EA8D22F8AC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9860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R$ 18.300.926,42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298C2F1C-1301-4F1C-8F05-4ADB55AE90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528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4DF95A77-22DA-45B5-BFA4-E5A4617343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3004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mai de 24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95F95B15-589C-4C7E-B105-3F46C16093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3004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R$ 5.506.503,71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16EA7CE3-055B-40E6-875B-38FD6CD348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3004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R$ 1.091.167,43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9FF5A6D3-A511-419B-BC65-FA1E93A62A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3004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R$ 4.415.336,28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A8EFF23B-A843-434A-A7C9-336D5E3B8F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3004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R$ 22.716.262,70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15E96182-27E1-4610-803D-449F0D9565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6235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1BAC92DB-293E-49E9-B77E-5DF1D6B36D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671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5DA73589-04E0-4148-B69D-702D29A1CE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6147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jun de 24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B19634B1-CBC7-469D-A6DC-16E418C427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6147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R$ 4.380.902,39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F284A20D-C1FF-4F02-AEA9-B0549C80B1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6147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R$ 1.133.609,80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5BF85C44-02C6-4113-B808-7E364B4CC2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6147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R$ 3.247.292,59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0204BA4D-4BBE-43AF-97F6-5B6F335D15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6147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R$ 25.963.555,29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00AA5EBF-A6F4-4465-BBEC-E66C66D258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814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DBBC700A-9C02-4BA0-A664-4A470CE5B6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9290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jul de 24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17ED1E92-E8BC-46C7-8E14-CF945E3F82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9290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R$ 6.510.910,49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5E901B2E-2391-4BD4-B5E8-E6A1049C2F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9290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R$ 1.113.424,01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912593A9-918F-4C31-9751-8F93BE9531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9290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R$ 5.397.486,48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C944C021-5A64-469B-9842-275E7D51DC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9290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R$ 31.361.041,77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464E3E99-1ECF-477E-8916-47354A5E26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96C8AA1C-E951-499F-A768-F054C7BCC5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283E2A0E-CB4B-4117-A8D3-752306C0E6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2433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ago de 24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EE62D7F5-4277-42A6-9D82-FEBB29C2A9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2433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R$ 5.421.686,74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24B5D644-E444-48CE-9E6F-20AE19AC59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2433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R$ 1.040.357,05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3D8BF01F-6D57-4E23-BB8C-C6FD1ED762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2433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R$ 4.381.329,69</a:t>
            </a:r>
          </a:p>
        </p:txBody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41DED71C-EE0C-4D5D-94E2-ED0A94C154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2433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R$ 35.742.371,46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639B214C-6B72-48C6-BEBB-FFA5C09BD8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101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015C60F6-767E-4E57-A49A-BC54A48399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5577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set de 24</a:t>
            </a:r>
          </a:p>
        </p:txBody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8D619E4E-C60C-4056-B171-6677F7D840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5577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R$ 5.682.241,80</a:t>
            </a:r>
          </a:p>
        </p:txBody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715D8FA4-DFCC-4653-ACB0-E0B46BB26A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5577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R$ 859.008,24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F886F4F7-7EC3-4D46-8920-7A2519C709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5577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R$ 4.823.233,56</a:t>
            </a:r>
          </a:p>
        </p:txBody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8DECDF6A-774C-4927-AC06-4C0FEE87CC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5577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R$ 40.565.605,02</a:t>
            </a:r>
          </a:p>
        </p:txBody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75BA3E00-3224-4095-B7AC-C9B0A2D8C6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1965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6C7ABF79-2241-4C5F-91F4-35151500E6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244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303268FD-C4A5-4EED-8524-BDBBD146E4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8720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out de 24</a:t>
            </a:r>
          </a:p>
        </p:txBody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DC02A6E6-84B3-4D36-8B36-2912DBB0EB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8720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R$ 8.541.056,13</a:t>
            </a:r>
          </a:p>
        </p:txBody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E3915E76-629D-43F8-818F-ECA173EC77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8720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R$ 897.448,27</a:t>
            </a:r>
          </a:p>
        </p:txBody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67514045-2508-42C5-86F2-C9F40E4507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8720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R$ 7.643.607,86</a:t>
            </a:r>
          </a:p>
        </p:txBody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D6A17CCD-3F45-406D-9CDA-B9E7FACB2E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8720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R$ 48.209.212,88</a:t>
            </a:r>
          </a:p>
        </p:txBody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904E50E3-F60B-4422-B0EF-6C3A7A8E79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387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4" name="">
            <a:extLst xmlns:a="http://schemas.openxmlformats.org/drawingml/2006/main">
              <a:ext uri="{FF2B5EF4-FFF2-40B4-BE49-F238E27FC236}">
                <a16:creationId xmlns:a16="http://schemas.microsoft.com/office/drawing/2014/main" id="{BB32C3E8-AE48-4B6C-8292-CB1F2D4029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1863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nov de 24</a:t>
            </a:r>
          </a:p>
        </p:txBody>
      </p:sp>
      <p:sp>
        <p:nvSpPr>
          <p:cNvPr id="85" name="">
            <a:extLst xmlns:a="http://schemas.openxmlformats.org/drawingml/2006/main">
              <a:ext uri="{FF2B5EF4-FFF2-40B4-BE49-F238E27FC236}">
                <a16:creationId xmlns:a16="http://schemas.microsoft.com/office/drawing/2014/main" id="{E2D2F863-0FD9-4C10-B014-D4D5EE834E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1863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R$ 7.608.873,04</a:t>
            </a:r>
          </a:p>
        </p:txBody>
      </p:sp>
      <p:sp>
        <p:nvSpPr>
          <p:cNvPr id="86" name="">
            <a:extLst xmlns:a="http://schemas.openxmlformats.org/drawingml/2006/main">
              <a:ext uri="{FF2B5EF4-FFF2-40B4-BE49-F238E27FC236}">
                <a16:creationId xmlns:a16="http://schemas.microsoft.com/office/drawing/2014/main" id="{AFA6ED65-6898-453D-81B2-7EC2FB2DBC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1863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R$ 1.021.448,72</a:t>
            </a:r>
          </a:p>
        </p:txBody>
      </p:sp>
      <p:sp>
        <p:nvSpPr>
          <p:cNvPr id="87" name="">
            <a:extLst xmlns:a="http://schemas.openxmlformats.org/drawingml/2006/main">
              <a:ext uri="{FF2B5EF4-FFF2-40B4-BE49-F238E27FC236}">
                <a16:creationId xmlns:a16="http://schemas.microsoft.com/office/drawing/2014/main" id="{A5C42E6B-777B-4E8A-A05E-2C74D9521E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1863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R$ 6.587.424,32</a:t>
            </a:r>
          </a:p>
        </p:txBody>
      </p:sp>
      <p:sp>
        <p:nvSpPr>
          <p:cNvPr id="88" name="">
            <a:extLst xmlns:a="http://schemas.openxmlformats.org/drawingml/2006/main">
              <a:ext uri="{FF2B5EF4-FFF2-40B4-BE49-F238E27FC236}">
                <a16:creationId xmlns:a16="http://schemas.microsoft.com/office/drawing/2014/main" id="{56A672D8-9DC8-4EED-A86F-16DD230B43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1863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R$ 54.796.637,20</a:t>
            </a:r>
          </a:p>
        </p:txBody>
      </p:sp>
      <p:sp>
        <p:nvSpPr>
          <p:cNvPr id="89" name="">
            <a:extLst xmlns:a="http://schemas.openxmlformats.org/drawingml/2006/main">
              <a:ext uri="{FF2B5EF4-FFF2-40B4-BE49-F238E27FC236}">
                <a16:creationId xmlns:a16="http://schemas.microsoft.com/office/drawing/2014/main" id="{55DB6C38-5186-463C-8555-F8FC3DF0B8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4830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0" name="">
            <a:extLst xmlns:a="http://schemas.openxmlformats.org/drawingml/2006/main">
              <a:ext uri="{FF2B5EF4-FFF2-40B4-BE49-F238E27FC236}">
                <a16:creationId xmlns:a16="http://schemas.microsoft.com/office/drawing/2014/main" id="{3448A457-6E28-4462-9035-362842D770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1" name="">
            <a:extLst xmlns:a="http://schemas.openxmlformats.org/drawingml/2006/main">
              <a:ext uri="{FF2B5EF4-FFF2-40B4-BE49-F238E27FC236}">
                <a16:creationId xmlns:a16="http://schemas.microsoft.com/office/drawing/2014/main" id="{22E6900B-FC2D-4D99-AF47-B60BD6C5CD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5006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dez de 24</a:t>
            </a:r>
          </a:p>
        </p:txBody>
      </p:sp>
      <p:sp>
        <p:nvSpPr>
          <p:cNvPr id="92" name="">
            <a:extLst xmlns:a="http://schemas.openxmlformats.org/drawingml/2006/main">
              <a:ext uri="{FF2B5EF4-FFF2-40B4-BE49-F238E27FC236}">
                <a16:creationId xmlns:a16="http://schemas.microsoft.com/office/drawing/2014/main" id="{97622B41-3A99-43AB-AF3A-FA80E2D941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5006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R$ 12.158.119,93</a:t>
            </a:r>
          </a:p>
        </p:txBody>
      </p:sp>
      <p:sp>
        <p:nvSpPr>
          <p:cNvPr id="93" name="">
            <a:extLst xmlns:a="http://schemas.openxmlformats.org/drawingml/2006/main">
              <a:ext uri="{FF2B5EF4-FFF2-40B4-BE49-F238E27FC236}">
                <a16:creationId xmlns:a16="http://schemas.microsoft.com/office/drawing/2014/main" id="{7AAF4921-079B-4813-96DD-C7FF236BD9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5006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R$ 953.973,58</a:t>
            </a:r>
          </a:p>
        </p:txBody>
      </p:sp>
      <p:sp>
        <p:nvSpPr>
          <p:cNvPr id="94" name="">
            <a:extLst xmlns:a="http://schemas.openxmlformats.org/drawingml/2006/main">
              <a:ext uri="{FF2B5EF4-FFF2-40B4-BE49-F238E27FC236}">
                <a16:creationId xmlns:a16="http://schemas.microsoft.com/office/drawing/2014/main" id="{7E20BDC3-D345-449C-9EE7-4DEF7130C4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5006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R$ 11.204.146,35</a:t>
            </a:r>
          </a:p>
        </p:txBody>
      </p:sp>
      <p:sp>
        <p:nvSpPr>
          <p:cNvPr id="95" name="">
            <a:extLst xmlns:a="http://schemas.openxmlformats.org/drawingml/2006/main">
              <a:ext uri="{FF2B5EF4-FFF2-40B4-BE49-F238E27FC236}">
                <a16:creationId xmlns:a16="http://schemas.microsoft.com/office/drawing/2014/main" id="{4EE6DDF3-3F30-438B-B0CB-86773D2433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5006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R$ 66.000.783,55</a:t>
            </a:r>
          </a:p>
        </p:txBody>
      </p:sp>
      <p:sp>
        <p:nvSpPr>
          <p:cNvPr id="96" name="">
            <a:extLst xmlns:a="http://schemas.openxmlformats.org/drawingml/2006/main">
              <a:ext uri="{FF2B5EF4-FFF2-40B4-BE49-F238E27FC236}">
                <a16:creationId xmlns:a16="http://schemas.microsoft.com/office/drawing/2014/main" id="{E8626C1C-4BAB-418E-A012-0F709ED149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674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7" name="">
            <a:extLst xmlns:a="http://schemas.openxmlformats.org/drawingml/2006/main">
              <a:ext uri="{FF2B5EF4-FFF2-40B4-BE49-F238E27FC236}">
                <a16:creationId xmlns:a16="http://schemas.microsoft.com/office/drawing/2014/main" id="{FB4BC3C6-519D-4730-B8A1-924E035CF7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8150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jan de 25</a:t>
            </a:r>
          </a:p>
        </p:txBody>
      </p:sp>
      <p:sp>
        <p:nvSpPr>
          <p:cNvPr id="98" name="">
            <a:extLst xmlns:a="http://schemas.openxmlformats.org/drawingml/2006/main">
              <a:ext uri="{FF2B5EF4-FFF2-40B4-BE49-F238E27FC236}">
                <a16:creationId xmlns:a16="http://schemas.microsoft.com/office/drawing/2014/main" id="{00D00220-A4E2-4181-BB1C-46C3A73B5E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8150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R$ 6.481.505,36</a:t>
            </a:r>
          </a:p>
        </p:txBody>
      </p:sp>
      <p:sp>
        <p:nvSpPr>
          <p:cNvPr id="99" name="">
            <a:extLst xmlns:a="http://schemas.openxmlformats.org/drawingml/2006/main">
              <a:ext uri="{FF2B5EF4-FFF2-40B4-BE49-F238E27FC236}">
                <a16:creationId xmlns:a16="http://schemas.microsoft.com/office/drawing/2014/main" id="{720CDE13-E4B5-4154-B2B0-115D8190A2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8150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R$ 1.331.022,91</a:t>
            </a:r>
          </a:p>
        </p:txBody>
      </p:sp>
      <p:sp>
        <p:nvSpPr>
          <p:cNvPr id="100" name="">
            <a:extLst xmlns:a="http://schemas.openxmlformats.org/drawingml/2006/main">
              <a:ext uri="{FF2B5EF4-FFF2-40B4-BE49-F238E27FC236}">
                <a16:creationId xmlns:a16="http://schemas.microsoft.com/office/drawing/2014/main" id="{ECDDB3DA-444D-4563-AC62-0A186EA798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8150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R$ 5.150.482,45</a:t>
            </a:r>
          </a:p>
        </p:txBody>
      </p:sp>
      <p:sp>
        <p:nvSpPr>
          <p:cNvPr id="101" name="">
            <a:extLst xmlns:a="http://schemas.openxmlformats.org/drawingml/2006/main">
              <a:ext uri="{FF2B5EF4-FFF2-40B4-BE49-F238E27FC236}">
                <a16:creationId xmlns:a16="http://schemas.microsoft.com/office/drawing/2014/main" id="{94C26EEB-0B9E-4DCB-8DBE-792FE64447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8150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R$ 71.151.266,00</a:t>
            </a:r>
          </a:p>
        </p:txBody>
      </p:sp>
    </p:spTree>
    <p:extLst>
      <p:ext uri="{BB962C8B-B14F-4D97-AF65-F5344CB8AC3E}">
        <p14:creationId xmlns:p14="http://schemas.microsoft.com/office/powerpoint/2010/main" val="1488436806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040A1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3" name="">
            <a:extLst xmlns:a="http://schemas.openxmlformats.org/drawingml/2006/main">
              <a:ext uri="{FF2B5EF4-FFF2-40B4-BE49-F238E27FC236}">
                <a16:creationId xmlns:a16="http://schemas.microsoft.com/office/drawing/2014/main" id="{B6506163-27BE-41A6-8FEA-4611441364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49BEC5E-67F4-4820-8B16-B1C96656B0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86FC9CF-FF7D-468F-AEFF-DEC8D788EA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35E6BB"/>
                </a:solidFill>
              </a:defRPr>
            </a:pPr>
            <a:r>
              <a:rPr sz="975" b="1">
                <a:solidFill>
                  <a:srgbClr val="35E6BB"/>
                </a:solidFill>
              </a:rPr>
              <a:t>BASE MENSAL INFORMADA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F1F8978-761C-4F8F-96FA-44D6E09B9D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5E7880"/>
                </a:solidFill>
              </a:defRPr>
            </a:pPr>
            <a:r>
              <a:rPr sz="900">
                <a:solidFill>
                  <a:srgbClr val="5E7880"/>
                </a:solidFill>
              </a:rPr>
              <a:t>10 / 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1AACDD0-6876-4262-945A-C0A41F6113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0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d4414e714864c4c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C06A2C1-45A9-42D5-A69A-26AA06AA7E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Dados informados do sistema na Projeção Financeira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F78BA0F-DB56-4672-9CB9-B80D9BE053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Faturamento vs Folha de Pagamento · v1 · CONFIDENCIAL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3BF213B-CCD1-4D95-AA4D-D4CC1E38E0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F2FAF9"/>
                </a:solidFill>
              </a:defRPr>
            </a:pPr>
            <a:r>
              <a:rPr sz="2550" b="1">
                <a:solidFill>
                  <a:srgbClr val="F2FAF9"/>
                </a:solidFill>
              </a:rPr>
              <a:t>Base mensal informada — continuação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D91147D-E1AA-41BA-96CB-401E4E08FC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76350"/>
            <a:ext cx="10591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8CA5AB"/>
                </a:solidFill>
              </a:defRPr>
            </a:pPr>
            <a:r>
              <a:rPr sz="1125">
                <a:solidFill>
                  <a:srgbClr val="8CA5AB"/>
                </a:solidFill>
              </a:rPr>
              <a:t>Continuação da base: folha 2 de 5.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90AA6B1-233C-4960-AADB-36D661535C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1C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291591A-D0AD-4A70-80AB-32B6EA91B1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812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3A4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D1B2327-70DD-436F-9E34-53FDFEC031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1738313"/>
            <a:ext cx="1962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COMPETÊNCIA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9F4A268-2EFE-4B88-B5AC-3DC7C717E9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1738313"/>
            <a:ext cx="219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FATURAMENTO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02B430C-3BEA-48D1-A2CF-B33B2150DB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1738313"/>
            <a:ext cx="219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FOLHA + ENCARGOS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4E2851E-8F25-4D0D-AF33-460FD93FEE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1738313"/>
            <a:ext cx="18859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SALDO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A77CD2F-F66B-43D9-B6C1-0092F21EF7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1738313"/>
            <a:ext cx="18859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ACUMULADO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1766CC6-D1C7-430B-83B4-79B2B939D8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9072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EC096A0-5681-4A3B-A6FA-7E432267BE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955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9FA8AFF-F264-421B-8525-2F5AD4ED7B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0431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fev de 25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C6B58BF-C396-451A-9D47-C940B7AEE2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0431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R$ 7.218.837,49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E65609A-5FEA-4978-9BC3-DAA0C1EDF0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0431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R$ 1.310.101,05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D717266-6C76-4960-BE9D-7058969DA8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0431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R$ 5.908.736,44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B1C58D7-F5E3-457D-B183-57C736F365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0431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R$ 77.060.002,44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85C89FF-2E1A-4F37-B44A-15C877ECD3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098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456E161-0C07-4444-B8EC-E440536A51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3574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mar de 25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CAE3821-E93B-4FE5-AD1E-C41E51C382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3574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R$ 7.554.012,04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7D34E0F-DD54-46C1-8E1E-A03F40E429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3574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R$ 1.354.501,90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EF24C5B-0738-4C4D-BB3D-61CC7E0CED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3574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R$ 6.199.510,14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87DF1274-FD38-4506-A290-5524A41D77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3574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R$ 83.259.512,58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4B540E13-67B2-4F3C-A9BD-B4B086D9E7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1937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E20535AE-25BA-4E43-8A41-60872779CB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241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68C5F187-72C8-48EB-A213-BA9F9EA528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6717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abr de 25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040D8986-1484-41CB-A849-29CD025DB2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6717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R$ 4.739.459,41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3F4DC263-7EFE-4BFA-81A3-87ED04D351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6717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R$ 1.531.002,29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58A82221-F546-4992-8502-45AAE4792E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6717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R$ 3.208.457,12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C5CF036C-FCDB-440E-BBA9-AFCDBCBC55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6717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R$ 86.467.969,70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572B6CD0-F909-464B-86E3-C6BB9BD5EF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11470BBE-3143-435A-BED5-0FF610E50A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9860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mai de 25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59C94725-05D6-4698-B777-BC7479C3B8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9860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R$ 6.235.104,42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A642F093-2B77-40D0-804D-FC69AFABE6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9860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R$ 1.761.893,50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D1C75EEF-AE06-4523-955F-91F77EADFD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9860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R$ 4.473.210,92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2F91B538-43B2-44F5-A399-DF14F5179D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9860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R$ 90.941.180,62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62C1CC38-6125-4EE0-AC42-200BBEC82F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4802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7D3FF496-04F2-4810-83DD-E00FB0E5CF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528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C74F1284-D1EB-41D1-A36E-C30E85B661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3004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jun de 25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936F1B3A-6EDB-4E8D-B1FA-871C958746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3004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R$ 3.511.692,47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CD71FCE2-694C-42F2-ACA7-B160CD373A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3004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R$ 1.523.207,92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C658661E-1B63-43D3-A250-31AF31F6AB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3004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R$ 1.988.484,55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E3ECEE7B-55B9-4045-A71D-DAE3046BE7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3004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R$ 92.929.665,17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DD61B26E-D7F9-45F3-9C0F-68D0E6223D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671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4CBF919A-D1EB-43D8-8622-CCA9666BBA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6147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jul de 25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171920FA-9801-4DC0-B12E-B4CAC0E4C3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6147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R$ 3.267.455,46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035C43F5-6E8B-4987-AEBF-007A3BC309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6147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R$ 1.574.251,96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A5AF1CAC-030D-4AF7-9797-73BB9DA138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6147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R$ 1.693.203,50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04BC9ACB-CE4E-4043-90B8-293943F395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6147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R$ 94.622.868,67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E5FCA25F-A004-432D-88CE-AE3C854AF7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7667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16F1ECDF-A283-43D0-B633-2554AFF38C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814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217A978F-7F06-430C-85D9-5DD0705BD0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9290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ago de 25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7F36FB5F-1109-45A0-986E-CBD0B6CE32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9290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R$ 4.042.135,73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B3988BC5-E62A-47DB-ACDA-8F05DE824B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9290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R$ 1.597.750,18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D8556A91-6541-4CFC-B391-45C6563C1C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9290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R$ 2.444.385,55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F0220B50-1D49-4396-8325-E1FABA8E91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9290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R$ 97.067.254,22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00819852-9E95-47D5-B49B-6E41D69ABE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7718CD62-1D89-4CF4-8BFC-AB4D6D3B6E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2433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set de 25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5BF2FA55-D10F-4973-9DF6-9735B580B0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2433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R$ 5.879.203,03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2D2F5474-2FA3-4DD9-BBC4-C018DD29B8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2433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R$ 1.644.127,33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A534A64F-12F2-4649-AFD2-6485198D34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2433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R$ 4.235.075,70</a:t>
            </a:r>
          </a:p>
        </p:txBody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969DB2A0-583E-42E2-8DBE-B6B4D89774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2433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R$ 101.302.329,92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287BB2A6-0C65-47E1-92E1-6C8E41D3CA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0532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393A45A3-2C6F-4EDB-AD85-0F8FBB2E4F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101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3078CD9A-23E5-4A9E-9C2C-591BFCB208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5577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out de 25</a:t>
            </a:r>
          </a:p>
        </p:txBody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E44668D4-2616-4DDB-B4D7-63B0FACD73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5577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R$ 4.431.996,15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50A22B1F-0E64-4E6F-A757-C196C8F856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5577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R$ 1.728.097,81</a:t>
            </a:r>
          </a:p>
        </p:txBody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CDA2E95F-2DD8-4497-8352-1EDCA50979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5577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R$ 2.703.898,34</a:t>
            </a:r>
          </a:p>
        </p:txBody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75E45887-1C4F-4B4E-97EA-93A98973D9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5577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R$ 104.006.228,26</a:t>
            </a:r>
          </a:p>
        </p:txBody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CA5F1DD2-746F-46CF-B651-1EEDF956B5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244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D4E6CAF6-E702-4A31-9E7F-8C9AF1C050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8720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nov de 25</a:t>
            </a:r>
          </a:p>
        </p:txBody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CF7830D1-EFED-4F62-9983-1175C74207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8720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R$ 10.858.257,81</a:t>
            </a:r>
          </a:p>
        </p:txBody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9CCC2043-3DB2-4703-880B-EB24D01181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8720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R$ 1.877.160,31</a:t>
            </a:r>
          </a:p>
        </p:txBody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18E4DBE5-76AC-4F2C-B158-D29AFB5DA5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8720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R$ 8.981.097,50</a:t>
            </a:r>
          </a:p>
        </p:txBody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C332E3EF-93B5-4F10-8A92-4D6DCD08B8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8720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R$ 112.987.325,76</a:t>
            </a:r>
          </a:p>
        </p:txBody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32DB58B0-2F10-4BB4-8CC2-DA6F19098E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3397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4" name="">
            <a:extLst xmlns:a="http://schemas.openxmlformats.org/drawingml/2006/main">
              <a:ext uri="{FF2B5EF4-FFF2-40B4-BE49-F238E27FC236}">
                <a16:creationId xmlns:a16="http://schemas.microsoft.com/office/drawing/2014/main" id="{55D81B9B-5A6A-4B14-ACD3-DE719643C9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387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5" name="">
            <a:extLst xmlns:a="http://schemas.openxmlformats.org/drawingml/2006/main">
              <a:ext uri="{FF2B5EF4-FFF2-40B4-BE49-F238E27FC236}">
                <a16:creationId xmlns:a16="http://schemas.microsoft.com/office/drawing/2014/main" id="{09022E30-B9E2-4999-A12F-EE916C7647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1863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dez de 25</a:t>
            </a:r>
          </a:p>
        </p:txBody>
      </p:sp>
      <p:sp>
        <p:nvSpPr>
          <p:cNvPr id="86" name="">
            <a:extLst xmlns:a="http://schemas.openxmlformats.org/drawingml/2006/main">
              <a:ext uri="{FF2B5EF4-FFF2-40B4-BE49-F238E27FC236}">
                <a16:creationId xmlns:a16="http://schemas.microsoft.com/office/drawing/2014/main" id="{C5954B6B-A532-4033-8340-3582C7638B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1863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R$ 2.904.942,16</a:t>
            </a:r>
          </a:p>
        </p:txBody>
      </p:sp>
      <p:sp>
        <p:nvSpPr>
          <p:cNvPr id="87" name="">
            <a:extLst xmlns:a="http://schemas.openxmlformats.org/drawingml/2006/main">
              <a:ext uri="{FF2B5EF4-FFF2-40B4-BE49-F238E27FC236}">
                <a16:creationId xmlns:a16="http://schemas.microsoft.com/office/drawing/2014/main" id="{EA971C9E-B935-47A1-BE8E-C74A8BF9DD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1863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R$ 1.964.681,62</a:t>
            </a:r>
          </a:p>
        </p:txBody>
      </p:sp>
      <p:sp>
        <p:nvSpPr>
          <p:cNvPr id="88" name="">
            <a:extLst xmlns:a="http://schemas.openxmlformats.org/drawingml/2006/main">
              <a:ext uri="{FF2B5EF4-FFF2-40B4-BE49-F238E27FC236}">
                <a16:creationId xmlns:a16="http://schemas.microsoft.com/office/drawing/2014/main" id="{59DE5506-A1A4-4D76-8E44-E7FA59019D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1863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R$ 940.260,54</a:t>
            </a:r>
          </a:p>
        </p:txBody>
      </p:sp>
      <p:sp>
        <p:nvSpPr>
          <p:cNvPr id="89" name="">
            <a:extLst xmlns:a="http://schemas.openxmlformats.org/drawingml/2006/main">
              <a:ext uri="{FF2B5EF4-FFF2-40B4-BE49-F238E27FC236}">
                <a16:creationId xmlns:a16="http://schemas.microsoft.com/office/drawing/2014/main" id="{D8C0EDA6-71CB-4F6C-B7FE-87710C5EFB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1863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R$ 113.927.586,30</a:t>
            </a:r>
          </a:p>
        </p:txBody>
      </p:sp>
      <p:sp>
        <p:nvSpPr>
          <p:cNvPr id="90" name="">
            <a:extLst xmlns:a="http://schemas.openxmlformats.org/drawingml/2006/main">
              <a:ext uri="{FF2B5EF4-FFF2-40B4-BE49-F238E27FC236}">
                <a16:creationId xmlns:a16="http://schemas.microsoft.com/office/drawing/2014/main" id="{7D6D731A-1C64-4D3E-9EA6-FBD7A50538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1" name="">
            <a:extLst xmlns:a="http://schemas.openxmlformats.org/drawingml/2006/main">
              <a:ext uri="{FF2B5EF4-FFF2-40B4-BE49-F238E27FC236}">
                <a16:creationId xmlns:a16="http://schemas.microsoft.com/office/drawing/2014/main" id="{C30EDF76-B345-4571-B340-2E4FAFA964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5006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jan de 26</a:t>
            </a:r>
          </a:p>
        </p:txBody>
      </p:sp>
      <p:sp>
        <p:nvSpPr>
          <p:cNvPr id="92" name="">
            <a:extLst xmlns:a="http://schemas.openxmlformats.org/drawingml/2006/main">
              <a:ext uri="{FF2B5EF4-FFF2-40B4-BE49-F238E27FC236}">
                <a16:creationId xmlns:a16="http://schemas.microsoft.com/office/drawing/2014/main" id="{54B6A2B4-9E82-4496-8DF4-754188718F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5006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R$ 10.366.331,04</a:t>
            </a:r>
          </a:p>
        </p:txBody>
      </p:sp>
      <p:sp>
        <p:nvSpPr>
          <p:cNvPr id="93" name="">
            <a:extLst xmlns:a="http://schemas.openxmlformats.org/drawingml/2006/main">
              <a:ext uri="{FF2B5EF4-FFF2-40B4-BE49-F238E27FC236}">
                <a16:creationId xmlns:a16="http://schemas.microsoft.com/office/drawing/2014/main" id="{2096CC48-465A-44E9-9F1D-4B8086109B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5006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R$ 3.208.000,00</a:t>
            </a:r>
          </a:p>
        </p:txBody>
      </p:sp>
      <p:sp>
        <p:nvSpPr>
          <p:cNvPr id="94" name="">
            <a:extLst xmlns:a="http://schemas.openxmlformats.org/drawingml/2006/main">
              <a:ext uri="{FF2B5EF4-FFF2-40B4-BE49-F238E27FC236}">
                <a16:creationId xmlns:a16="http://schemas.microsoft.com/office/drawing/2014/main" id="{EE10E9C8-3506-41FB-9BE4-4B96269917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5006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R$ 7.158.331,04</a:t>
            </a:r>
          </a:p>
        </p:txBody>
      </p:sp>
      <p:sp>
        <p:nvSpPr>
          <p:cNvPr id="95" name="">
            <a:extLst xmlns:a="http://schemas.openxmlformats.org/drawingml/2006/main">
              <a:ext uri="{FF2B5EF4-FFF2-40B4-BE49-F238E27FC236}">
                <a16:creationId xmlns:a16="http://schemas.microsoft.com/office/drawing/2014/main" id="{72F22FE9-C197-4118-8403-79948E943C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5006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R$ 121.085.917,34</a:t>
            </a:r>
          </a:p>
        </p:txBody>
      </p:sp>
      <p:sp>
        <p:nvSpPr>
          <p:cNvPr id="96" name="">
            <a:extLst xmlns:a="http://schemas.openxmlformats.org/drawingml/2006/main">
              <a:ext uri="{FF2B5EF4-FFF2-40B4-BE49-F238E27FC236}">
                <a16:creationId xmlns:a16="http://schemas.microsoft.com/office/drawing/2014/main" id="{A177F899-8BB3-4AEC-87C8-6AD0EF23A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6262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7" name="">
            <a:extLst xmlns:a="http://schemas.openxmlformats.org/drawingml/2006/main">
              <a:ext uri="{FF2B5EF4-FFF2-40B4-BE49-F238E27FC236}">
                <a16:creationId xmlns:a16="http://schemas.microsoft.com/office/drawing/2014/main" id="{B0BEB9AC-6819-4152-A13F-7ADDBF6990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674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8" name="">
            <a:extLst xmlns:a="http://schemas.openxmlformats.org/drawingml/2006/main">
              <a:ext uri="{FF2B5EF4-FFF2-40B4-BE49-F238E27FC236}">
                <a16:creationId xmlns:a16="http://schemas.microsoft.com/office/drawing/2014/main" id="{50EF6F9E-DF2C-41C2-B775-BE6267AEC7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8150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fev de 26</a:t>
            </a:r>
          </a:p>
        </p:txBody>
      </p:sp>
      <p:sp>
        <p:nvSpPr>
          <p:cNvPr id="99" name="">
            <a:extLst xmlns:a="http://schemas.openxmlformats.org/drawingml/2006/main">
              <a:ext uri="{FF2B5EF4-FFF2-40B4-BE49-F238E27FC236}">
                <a16:creationId xmlns:a16="http://schemas.microsoft.com/office/drawing/2014/main" id="{6FB22646-A7E5-4288-878C-ABB25BD2B1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8150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R$ 4.700.897,81</a:t>
            </a:r>
          </a:p>
        </p:txBody>
      </p:sp>
      <p:sp>
        <p:nvSpPr>
          <p:cNvPr id="100" name="">
            <a:extLst xmlns:a="http://schemas.openxmlformats.org/drawingml/2006/main">
              <a:ext uri="{FF2B5EF4-FFF2-40B4-BE49-F238E27FC236}">
                <a16:creationId xmlns:a16="http://schemas.microsoft.com/office/drawing/2014/main" id="{80559FA1-DAA2-4EF7-B432-66CCDE3546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8150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R$ 3.389.000,00</a:t>
            </a:r>
          </a:p>
        </p:txBody>
      </p:sp>
      <p:sp>
        <p:nvSpPr>
          <p:cNvPr id="101" name="">
            <a:extLst xmlns:a="http://schemas.openxmlformats.org/drawingml/2006/main">
              <a:ext uri="{FF2B5EF4-FFF2-40B4-BE49-F238E27FC236}">
                <a16:creationId xmlns:a16="http://schemas.microsoft.com/office/drawing/2014/main" id="{FF04389D-900E-4C44-9BF2-D7CD7669EB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8150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R$ 1.311.897,81</a:t>
            </a:r>
          </a:p>
        </p:txBody>
      </p:sp>
      <p:sp>
        <p:nvSpPr>
          <p:cNvPr id="102" name="">
            <a:extLst xmlns:a="http://schemas.openxmlformats.org/drawingml/2006/main">
              <a:ext uri="{FF2B5EF4-FFF2-40B4-BE49-F238E27FC236}">
                <a16:creationId xmlns:a16="http://schemas.microsoft.com/office/drawing/2014/main" id="{0198D58C-6679-4FBD-9337-DF14DB6C77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8150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R$ 122.397.815,15</a:t>
            </a:r>
          </a:p>
        </p:txBody>
      </p:sp>
    </p:spTree>
    <p:extLst>
      <p:ext uri="{BB962C8B-B14F-4D97-AF65-F5344CB8AC3E}">
        <p14:creationId xmlns:p14="http://schemas.microsoft.com/office/powerpoint/2010/main" val="944550391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040A1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8" name="">
            <a:extLst xmlns:a="http://schemas.openxmlformats.org/drawingml/2006/main">
              <a:ext uri="{FF2B5EF4-FFF2-40B4-BE49-F238E27FC236}">
                <a16:creationId xmlns:a16="http://schemas.microsoft.com/office/drawing/2014/main" id="{E08699C1-06C2-4C28-B2A4-9EEBDEFEE7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CAF2BDC-FD39-4EFA-8FF6-DF981140C9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E290992-86F5-4207-B184-62C010399F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35E6BB"/>
                </a:solidFill>
              </a:defRPr>
            </a:pPr>
            <a:r>
              <a:rPr sz="975" b="1">
                <a:solidFill>
                  <a:srgbClr val="35E6BB"/>
                </a:solidFill>
              </a:rPr>
              <a:t>BASE MENSAL INFORMADA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36D49CB-E386-4C04-BE7C-A1E5EFB4D1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5E7880"/>
                </a:solidFill>
              </a:defRPr>
            </a:pPr>
            <a:r>
              <a:rPr sz="900">
                <a:solidFill>
                  <a:srgbClr val="5E7880"/>
                </a:solidFill>
              </a:rPr>
              <a:t>11 / 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23333CB-FB05-4B16-AA1C-2F00898DED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0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082e6f2dff843f0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EBA04FF-E9AB-4865-A5D4-D822A609CC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Dados informados do sistema na Projeção Financeira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A118372-39B7-47F0-8757-3C5D5BCCAA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Faturamento vs Folha de Pagamento · v1 · CONFIDENCIAL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ADB8D9C-1AEF-431C-8CCA-EDF0333795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F2FAF9"/>
                </a:solidFill>
              </a:defRPr>
            </a:pPr>
            <a:r>
              <a:rPr sz="2550" b="1">
                <a:solidFill>
                  <a:srgbClr val="F2FAF9"/>
                </a:solidFill>
              </a:rPr>
              <a:t>Base mensal informada — continuação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2C86EDB-7AF6-446C-AB09-1CDFE69892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76350"/>
            <a:ext cx="10591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8CA5AB"/>
                </a:solidFill>
              </a:defRPr>
            </a:pPr>
            <a:r>
              <a:rPr sz="1125">
                <a:solidFill>
                  <a:srgbClr val="8CA5AB"/>
                </a:solidFill>
              </a:rPr>
              <a:t>Continuação da base: folha 3 de 5.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F10633A-2149-4435-A7F7-F1E2C249E9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1C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615E25D-A33D-4069-9A2B-86C9861B99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812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3A4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CE68F39-9AB4-4B54-9635-76B45BEE7A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1738313"/>
            <a:ext cx="1962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COMPETÊNCIA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6ED3806-BF00-4DE9-A236-E03F2A766C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1738313"/>
            <a:ext cx="219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FATURAMENTO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B28134E-F342-4A90-8622-22639B0D1E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1738313"/>
            <a:ext cx="219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FOLHA + ENCARGOS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6EFA528-7045-42B0-9617-FE6363A6ED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1738313"/>
            <a:ext cx="18859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SALDO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685319F-C569-4283-A45F-841E6182C7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1738313"/>
            <a:ext cx="18859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ACUMULADO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6A13FBC-0FB1-4F99-9050-5716B9F8FE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955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36A8644-93E3-4290-8EB6-B00885D258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0431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mar de 26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EA6607F-484F-4F0E-9A3A-92DFCAB763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0431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R$ 5.650.881,81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B72731A-EFC0-4B3B-99C4-7D5077E152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0431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R$ 3.266.000,00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81C1A48-588F-422B-A1EF-3261F505E1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0431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R$ 2.384.881,81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551315D-C209-4BC2-8E20-1567A2F1C9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0431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R$ 124.782.696,96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64AAFE4-B140-4234-A475-05F12BE7CC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0505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AFBCB79-570B-44C8-BC74-8237244E34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098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D608F9F-2CF6-4438-94DB-E4F9AC4313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3574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abr de 26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5DA2B01-B913-420A-BFE8-480984837C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3574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R$ 5.897.524,13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FE13E05-1EA3-4EB6-9FBD-D19098F288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3574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R$ 3.360.000,00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1565E3C-AE28-45A9-AF1F-BBF6ACCCEE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3574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R$ 2.537.524,13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AB914A3B-0330-4A51-BAB1-B06DA13D28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3574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R$ 127.320.221,09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DA9E0B2C-2959-4232-AF90-D370E8C9C8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241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DD22160E-02EE-4D60-B6CC-63B833023E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6717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mai de 26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76140993-4D3B-49DF-A6CB-06F64F82F3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6717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R$ 7.355.196,27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6D1049E2-5D0E-4437-924E-963A00736C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6717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R$ 2.953.000,00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37E2CC22-B68A-40CB-8DAD-9DC1FEA157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6717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R$ 4.402.196,27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02924CA0-AA54-4351-9E35-AEC5A607C2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6717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R$ 131.722.417,36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6538A469-65DD-4FBC-8B3E-35C25DBE02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3370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8FD47BDC-11E1-4910-971C-6567E7D446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5463D26E-6345-4F8E-ADEC-8075C193BC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9860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jun de 26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8251C046-842E-4525-8DAA-43178AB9D5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9860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R$ 7.178.434,69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7B463E0B-3ED1-4F69-B6D6-1E7F548579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9860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R$ 3.108.000,00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2E4FB11E-CD99-4DB4-8FC5-BACF1A7F07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9860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R$ 4.070.434,69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CFE90D75-AE41-4FB0-BF87-28FF5E9A77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9860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R$ 135.792.852,05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03B2E316-2E2D-4806-AE35-B24E83E6E2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528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A1B7BC6F-D333-4681-8C7F-A7754B7894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3004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jul de 26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BAA93A5F-80C7-4A74-B7CE-CFA5191289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3004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R$ 4.978.967,55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2277C789-E0A8-4A58-AD49-CE0091FC68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3004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—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A372C746-2216-4AB3-B140-B73940D0EA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3004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R$ 4.978.967,55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8F3F8E79-BBD5-4677-B27D-569DF7CE9B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3004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R$ 140.771.819,60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7EE6C189-DCA1-433C-9168-F8858385CC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624263"/>
            <a:ext cx="108013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4C9DFF"/>
                </a:solidFill>
              </a:defRPr>
            </a:pPr>
            <a:r>
              <a:rPr sz="825" b="1">
                <a:solidFill>
                  <a:srgbClr val="4C9DFF"/>
                </a:solidFill>
              </a:rPr>
              <a:t>PROJEÇÃO — COMPETÊNCIAS AINDA NÃO FECHADAS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228A5EBB-C463-418A-89AE-C8C5B4825E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671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C9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92BAB5E9-DA7D-4BA1-9AC6-CF11C52B93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7667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6AFE2295-51DB-442C-A8DD-CC4887BDD9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814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4BBB2BC8-94BD-4895-BAD1-B175D8AD94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9290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ago de 26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E6E71372-6204-48DD-8408-57D969803D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9290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R$ 11.459.330,09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8BAB513C-737C-4422-9C05-E1D0C4DAE4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9290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R$ 1.512.430,00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836DF441-F1FE-4FB6-8B32-52C0B9CB39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9290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R$ 9.946.900,09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5449C887-ED4E-45EE-B8F6-D9E5AC6BBF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9290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R$ 150.718.719,69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B1F2E26A-9216-42EB-8512-8D2C2FD1D0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B917790E-66BD-435C-9664-D454F40166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2433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set de 26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251B87BE-1AE5-43CB-AB42-51A711E564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2433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R$ 5.617.810,24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54410114-E7B2-4DC9-93A4-95FE978E74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2433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R$ 1.387.850,00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9810B801-0866-4A77-B257-9E7D68D09A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2433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R$ 4.229.960,24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B177A186-9CCC-4F13-9529-B7514DA80C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2433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R$ 154.948.679,93</a:t>
            </a:r>
          </a:p>
        </p:txBody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564C452D-E13D-4CCD-8519-0BF0C42064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0532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5735A871-363C-4AD7-BF67-BA012086F6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101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F476D50A-4825-488E-88A2-761CFDA3B4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5577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out de 26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16CE6A45-B12F-4D17-AE91-B57298CD2B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5577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R$ 10.000.000,00</a:t>
            </a:r>
          </a:p>
        </p:txBody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41F6DCA9-4ADD-4BAC-A89B-483FFE7379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5577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R$ 1.634.720,00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3DE102F1-D565-44EC-93A3-76FE1B5A88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5577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R$ 8.365.280,00</a:t>
            </a:r>
          </a:p>
        </p:txBody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CD8205DD-468F-4445-A2DE-36598C4E8B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5577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R$ 163.313.959,93</a:t>
            </a:r>
          </a:p>
        </p:txBody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05A9FCEF-80ED-4DC8-AA81-0142650498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244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19F62A01-29CD-4ECB-9996-0D9B33372C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8720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nov de 26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D2D2CABC-296D-4616-A5D9-149378DBC0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8720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R$ 10.725.000,00</a:t>
            </a:r>
          </a:p>
        </p:txBody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E8DFD453-846E-436F-A90D-0ECBAC2709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8720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R$ 1.728.940,00</a:t>
            </a:r>
          </a:p>
        </p:txBody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9C59D67F-1BE7-4077-95DC-9B03C3BA8D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8720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R$ 8.996.060,00</a:t>
            </a:r>
          </a:p>
        </p:txBody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8FB5BEEF-1C3A-44BC-B76C-3A8C8F3C3E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8720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R$ 172.310.019,93</a:t>
            </a:r>
          </a:p>
        </p:txBody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C9CF71CF-5B01-4674-A5CE-71110CB967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3397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4293B9FE-D6CC-4577-ABE4-9B033B2C81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387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5B51CB78-0F23-4023-9A19-D0569E2237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1863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dez de 26</a:t>
            </a:r>
          </a:p>
        </p:txBody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0AAAAF8D-E99C-4109-B5D2-6CD4FE9EC4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1863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R$ 10.502.461,80</a:t>
            </a:r>
          </a:p>
        </p:txBody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970758C7-55C2-407A-8339-A5822D3EB8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1863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R$ 1.596.380,00</a:t>
            </a:r>
          </a:p>
        </p:txBody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814DC7E0-94CE-4D01-A4F8-11E92EAE43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1863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R$ 8.906.081,80</a:t>
            </a:r>
          </a:p>
        </p:txBody>
      </p:sp>
      <p:sp>
        <p:nvSpPr>
          <p:cNvPr id="84" name="">
            <a:extLst xmlns:a="http://schemas.openxmlformats.org/drawingml/2006/main">
              <a:ext uri="{FF2B5EF4-FFF2-40B4-BE49-F238E27FC236}">
                <a16:creationId xmlns:a16="http://schemas.microsoft.com/office/drawing/2014/main" id="{57C5358F-76D6-4ADA-98D6-803FC2AA4C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1863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R$ 181.216.101,73</a:t>
            </a:r>
          </a:p>
        </p:txBody>
      </p:sp>
      <p:sp>
        <p:nvSpPr>
          <p:cNvPr id="85" name="">
            <a:extLst xmlns:a="http://schemas.openxmlformats.org/drawingml/2006/main">
              <a:ext uri="{FF2B5EF4-FFF2-40B4-BE49-F238E27FC236}">
                <a16:creationId xmlns:a16="http://schemas.microsoft.com/office/drawing/2014/main" id="{BF012460-0F32-4A5A-B5A9-1D631ADF21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6" name="">
            <a:extLst xmlns:a="http://schemas.openxmlformats.org/drawingml/2006/main">
              <a:ext uri="{FF2B5EF4-FFF2-40B4-BE49-F238E27FC236}">
                <a16:creationId xmlns:a16="http://schemas.microsoft.com/office/drawing/2014/main" id="{2D194EC2-A366-412B-AF31-AF342D999F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5006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jan de 27</a:t>
            </a:r>
          </a:p>
        </p:txBody>
      </p:sp>
      <p:sp>
        <p:nvSpPr>
          <p:cNvPr id="87" name="">
            <a:extLst xmlns:a="http://schemas.openxmlformats.org/drawingml/2006/main">
              <a:ext uri="{FF2B5EF4-FFF2-40B4-BE49-F238E27FC236}">
                <a16:creationId xmlns:a16="http://schemas.microsoft.com/office/drawing/2014/main" id="{CCAFCF4D-9D52-482A-BE3C-9CD3989D72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5006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R$ 12.200.000,00</a:t>
            </a:r>
          </a:p>
        </p:txBody>
      </p:sp>
      <p:sp>
        <p:nvSpPr>
          <p:cNvPr id="88" name="">
            <a:extLst xmlns:a="http://schemas.openxmlformats.org/drawingml/2006/main">
              <a:ext uri="{FF2B5EF4-FFF2-40B4-BE49-F238E27FC236}">
                <a16:creationId xmlns:a16="http://schemas.microsoft.com/office/drawing/2014/main" id="{897957C1-8E59-4F0B-9D13-5BCA61D495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5006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R$ 1.682.510,00</a:t>
            </a:r>
          </a:p>
        </p:txBody>
      </p:sp>
      <p:sp>
        <p:nvSpPr>
          <p:cNvPr id="89" name="">
            <a:extLst xmlns:a="http://schemas.openxmlformats.org/drawingml/2006/main">
              <a:ext uri="{FF2B5EF4-FFF2-40B4-BE49-F238E27FC236}">
                <a16:creationId xmlns:a16="http://schemas.microsoft.com/office/drawing/2014/main" id="{FE004FC5-BC21-4323-A2E5-1E6D3E6FC7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5006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R$ 10.517.490,00</a:t>
            </a:r>
          </a:p>
        </p:txBody>
      </p:sp>
      <p:sp>
        <p:nvSpPr>
          <p:cNvPr id="90" name="">
            <a:extLst xmlns:a="http://schemas.openxmlformats.org/drawingml/2006/main">
              <a:ext uri="{FF2B5EF4-FFF2-40B4-BE49-F238E27FC236}">
                <a16:creationId xmlns:a16="http://schemas.microsoft.com/office/drawing/2014/main" id="{613B8820-214D-409D-8CC3-D2C407A06D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5006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R$ 191.733.591,73</a:t>
            </a:r>
          </a:p>
        </p:txBody>
      </p:sp>
      <p:sp>
        <p:nvSpPr>
          <p:cNvPr id="91" name="">
            <a:extLst xmlns:a="http://schemas.openxmlformats.org/drawingml/2006/main">
              <a:ext uri="{FF2B5EF4-FFF2-40B4-BE49-F238E27FC236}">
                <a16:creationId xmlns:a16="http://schemas.microsoft.com/office/drawing/2014/main" id="{C610DDBE-FA89-4453-A682-E4C59DC4E4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6262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2" name="">
            <a:extLst xmlns:a="http://schemas.openxmlformats.org/drawingml/2006/main">
              <a:ext uri="{FF2B5EF4-FFF2-40B4-BE49-F238E27FC236}">
                <a16:creationId xmlns:a16="http://schemas.microsoft.com/office/drawing/2014/main" id="{5D3B2535-3474-47CB-BC38-7EDBC86D3C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674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3" name="">
            <a:extLst xmlns:a="http://schemas.openxmlformats.org/drawingml/2006/main">
              <a:ext uri="{FF2B5EF4-FFF2-40B4-BE49-F238E27FC236}">
                <a16:creationId xmlns:a16="http://schemas.microsoft.com/office/drawing/2014/main" id="{E6EAAB2C-0FC7-45DA-B239-483F8308B5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8150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fev de 27</a:t>
            </a:r>
          </a:p>
        </p:txBody>
      </p:sp>
      <p:sp>
        <p:nvSpPr>
          <p:cNvPr id="94" name="">
            <a:extLst xmlns:a="http://schemas.openxmlformats.org/drawingml/2006/main">
              <a:ext uri="{FF2B5EF4-FFF2-40B4-BE49-F238E27FC236}">
                <a16:creationId xmlns:a16="http://schemas.microsoft.com/office/drawing/2014/main" id="{D03ACF05-B74D-45DC-AC33-1ED808D2DC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8150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R$ 11.800.000,00</a:t>
            </a:r>
          </a:p>
        </p:txBody>
      </p:sp>
      <p:sp>
        <p:nvSpPr>
          <p:cNvPr id="95" name="">
            <a:extLst xmlns:a="http://schemas.openxmlformats.org/drawingml/2006/main">
              <a:ext uri="{FF2B5EF4-FFF2-40B4-BE49-F238E27FC236}">
                <a16:creationId xmlns:a16="http://schemas.microsoft.com/office/drawing/2014/main" id="{36E2FCBF-6EE1-41E1-919C-1967F44E9D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8150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R$ 1.574.260,00</a:t>
            </a:r>
          </a:p>
        </p:txBody>
      </p:sp>
      <p:sp>
        <p:nvSpPr>
          <p:cNvPr id="96" name="">
            <a:extLst xmlns:a="http://schemas.openxmlformats.org/drawingml/2006/main">
              <a:ext uri="{FF2B5EF4-FFF2-40B4-BE49-F238E27FC236}">
                <a16:creationId xmlns:a16="http://schemas.microsoft.com/office/drawing/2014/main" id="{CAF223D9-5CEA-416F-B0F9-6DD529151E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8150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R$ 10.225.740,00</a:t>
            </a:r>
          </a:p>
        </p:txBody>
      </p:sp>
      <p:sp>
        <p:nvSpPr>
          <p:cNvPr id="97" name="">
            <a:extLst xmlns:a="http://schemas.openxmlformats.org/drawingml/2006/main">
              <a:ext uri="{FF2B5EF4-FFF2-40B4-BE49-F238E27FC236}">
                <a16:creationId xmlns:a16="http://schemas.microsoft.com/office/drawing/2014/main" id="{8861FA9F-2712-4A39-8B26-16F248ED9D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8150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R$ 201.959.331,73</a:t>
            </a:r>
          </a:p>
        </p:txBody>
      </p:sp>
    </p:spTree>
    <p:extLst>
      <p:ext uri="{BB962C8B-B14F-4D97-AF65-F5344CB8AC3E}">
        <p14:creationId xmlns:p14="http://schemas.microsoft.com/office/powerpoint/2010/main" val="932770222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040A1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2" name="">
            <a:extLst xmlns:a="http://schemas.openxmlformats.org/drawingml/2006/main">
              <a:ext uri="{FF2B5EF4-FFF2-40B4-BE49-F238E27FC236}">
                <a16:creationId xmlns:a16="http://schemas.microsoft.com/office/drawing/2014/main" id="{B456960E-523B-4ADF-BD50-F4C3D09AA0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4417CB8-E134-450E-8F9D-4F0D2D6340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3BFFAFC-59BB-412E-99BA-8EF126D4F7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35E6BB"/>
                </a:solidFill>
              </a:defRPr>
            </a:pPr>
            <a:r>
              <a:rPr sz="975" b="1">
                <a:solidFill>
                  <a:srgbClr val="35E6BB"/>
                </a:solidFill>
              </a:rPr>
              <a:t>BASE MENSAL INFORMADA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A5985C0-1BDD-4A6A-BA40-2CD6B076C3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5E7880"/>
                </a:solidFill>
              </a:defRPr>
            </a:pPr>
            <a:r>
              <a:rPr sz="900">
                <a:solidFill>
                  <a:srgbClr val="5E7880"/>
                </a:solidFill>
              </a:rPr>
              <a:t>12 / 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3C0149C-409A-4068-B6AE-31EDDF975B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0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c54b4ec776548f9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14FED66-13B7-48BF-BD75-AB050A4B71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Dados informados do sistema na Projeção Financeira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7DA7F24-430F-4C8B-980B-44EBCD4222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Faturamento vs Folha de Pagamento · v1 · CONFIDENCIAL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0997E81-039A-4FCD-ACD9-FF904BDE0B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F2FAF9"/>
                </a:solidFill>
              </a:defRPr>
            </a:pPr>
            <a:r>
              <a:rPr sz="2550" b="1">
                <a:solidFill>
                  <a:srgbClr val="F2FAF9"/>
                </a:solidFill>
              </a:rPr>
              <a:t>Base mensal informada — continuação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367C444-E7D1-4E11-89A2-610510947A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76350"/>
            <a:ext cx="10591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8CA5AB"/>
                </a:solidFill>
              </a:defRPr>
            </a:pPr>
            <a:r>
              <a:rPr sz="1125">
                <a:solidFill>
                  <a:srgbClr val="8CA5AB"/>
                </a:solidFill>
              </a:rPr>
              <a:t>Continuação da base: folha 4 de 5.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27B111F-20A4-4A21-BC79-C53E32C416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1C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03A09E5-8C4A-4920-9B0E-6440003498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812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3A4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AE43754-D1BE-4956-B597-39C99850EE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1738313"/>
            <a:ext cx="1962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COMPETÊNCIA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B5EDA75-036A-43B1-801B-C2DACEF593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1738313"/>
            <a:ext cx="219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FATURAMENTO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B96D454-FEA2-4090-A23E-3E534F2253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1738313"/>
            <a:ext cx="219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FOLHA + ENCARGOS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D8A95A0-CE04-44CF-9FB4-6CB48ED47B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1738313"/>
            <a:ext cx="18859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SALDO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E7F7E63-CCD8-441F-9AAE-38F67CB78E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1738313"/>
            <a:ext cx="18859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ACUMULADO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A4CE3AE-45DD-4122-BFD8-C29C491C7A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955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6D17192-628C-4938-8D70-2ED25AB4F7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0431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mar de 27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BAFDABA-9661-49C0-A46D-DC71277C33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0431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R$ 11.200.000,00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4278E52-2D17-4B68-9040-4B915AACE0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0431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R$ 1.493.870,00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9C01E35-E0D7-43A9-86AA-FC687918A7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0431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R$ 9.706.130,00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A15717F-D924-4F71-A861-277315FA44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0431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R$ 211.665.461,73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D0A344A-EB45-4EE9-B385-867E03A877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0505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7A4925E-785B-40FB-B24B-203B33D37A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098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6DED4BA-8331-41F7-A918-DC0787FECC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3574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abr de 27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CF144CB-E0F3-487F-ACC1-706C150A42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3574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R$ 10.500.000,00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C3F38F7-99B7-4567-8AEE-57CDFD6FA4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3574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R$ 1.421.650,00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0E37F78-4C38-408B-80D1-B0C8C9047F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3574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R$ 9.078.350,00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078E0B63-3AA7-406D-BC02-0265E20C76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3574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R$ 220.743.811,73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A0436085-534E-45B2-B59E-1DC08F308A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241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0A3C01A2-AEB7-471F-A981-C12E94AF9A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6717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mai de 27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3F3FA6A0-9D8B-4E20-B85B-4FDB17D144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6717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R$ 10.100.000,00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4AE0967B-8BFD-475E-A1BB-4F08FC8A12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6717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R$ 1.356.420,00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7B85AB73-90E5-4F46-871E-9CEDA98984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6717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R$ 8.743.580,00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B3E0BEC6-6E15-4BA2-A239-C4F19B8505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6717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R$ 229.487.391,73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B32EE784-EBF7-4E18-96BA-963376B7E8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3370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5ED88744-4892-4229-8E34-ECAA2A41F0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38879372-0C32-4D74-98EE-DEE8F8B76B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9860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jun de 27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4C0EF73B-60DE-41C7-AD0C-2FE74C95D7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9860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R$ 9.500.000,00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0CA22F93-25D0-4275-BA54-FA2BF754F5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9860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R$ 1.318.760,00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318503B1-D0C8-4AE5-BB3A-F020D2E471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9860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R$ 8.181.240,00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683E3E50-AD66-4298-BB2E-AEC64BB902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9860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R$ 237.668.631,73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68DC3BC9-E5A2-4DA9-944F-23553D9C9A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528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F2C01A67-D711-4D36-A9B7-CCFAF1D9CD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3004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jul de 27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1D76960F-056D-4499-9117-34B728D56E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3004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R$ 9.200.000,00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603127D5-4ACA-4E75-97EB-B729F0B90A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3004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R$ 1.342.590,00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9972E44F-80B5-4A09-AB98-01EAE602EE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3004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R$ 7.857.410,00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8A3925BC-7D7C-44A2-88D1-1E685A89F5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3004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R$ 245.526.041,73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2A7DE451-17A9-4A8F-A109-4450CB64B1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6235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76187E56-0505-42D1-A399-DA05D6AB70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671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64E9CBB3-7AB6-4CF4-8524-B271D20013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6147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ago de 27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C0B0F33F-9B22-4BD8-A708-7397749D2C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6147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R$ 9.600.000,00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6E3DC101-61C2-41BE-BA9B-6DFB3FE99F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6147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R$ 1.397.840,00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5BACC90F-B86F-4F9F-B69F-F04E31BD09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6147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R$ 8.202.160,00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957DDCDC-80BD-46E9-9E74-11EFE7F727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6147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R$ 253.728.201,73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027F0929-E236-4908-8BA4-80EBF53EBA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814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CF3B4C04-587E-464F-9E5F-B0969C5255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9290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set de 27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3141A3DF-5D03-47AF-AF32-88218F7522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9290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R$ 10.500.000,00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4C8B9FD4-3524-4664-9BB1-8FFE4A01E7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9290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R$ 1.468.230,00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0E6E5508-AD75-48F3-8E7E-088503613E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9290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R$ 9.031.770,00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25E99A88-7E99-4C3C-B845-1B587B4641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9290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R$ 262.759.971,73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2549074D-3F7D-4A8D-B4BF-56B3147A27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E7F54D0C-DFD7-4F0F-946F-AF603135E1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1F142270-8055-4E88-BDA8-03C13F923E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2433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out de 27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A4CBBE71-9170-4B8E-B129-E2D83B6699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2433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R$ 11.500.000,00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53C12C4E-2B90-414E-8C3C-73AC2B727E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2433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R$ 1.559.670,00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3AD21564-EC93-41D0-8E8F-11B63E5D3D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2433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R$ 9.940.330,00</a:t>
            </a:r>
          </a:p>
        </p:txBody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889EB583-6F63-4A68-87E5-8974F094B3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2433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R$ 272.700.301,73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8D86D056-A16A-47DF-9A0F-53C80B1F70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101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CDDB432D-1ABE-414E-8032-1E175AA22D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5577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nov de 27</a:t>
            </a:r>
          </a:p>
        </p:txBody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DE3A0C6B-D395-4D18-86B0-5226E528FB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5577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R$ 12.800.000,00</a:t>
            </a:r>
          </a:p>
        </p:txBody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CCAA35B1-B700-47B1-B2FE-6171C12EB9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5577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R$ 1.671.480,00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B514A7CE-C8F9-464D-BF57-DC9E6F505F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5577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R$ 11.128.520,00</a:t>
            </a:r>
          </a:p>
        </p:txBody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A3A0DEDD-56E1-40E1-98FD-B7C474E88C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5577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R$ 283.828.821,73</a:t>
            </a:r>
          </a:p>
        </p:txBody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2381329A-D941-473A-8CFA-31B3465940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1965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874105E7-75F0-49CA-A475-1CD492BBCA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244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6282A09C-2E8E-4FFA-9D7F-2F956A4C2A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8720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dez de 27</a:t>
            </a:r>
          </a:p>
        </p:txBody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CC411B2C-E967-4117-BDDC-CB29653C7A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8720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R$ 14.050.000,00</a:t>
            </a:r>
          </a:p>
        </p:txBody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5D1BD8E7-63C8-4B1F-A0ED-693347E536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8720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R$ 1.739.250,00</a:t>
            </a:r>
          </a:p>
        </p:txBody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E0DB2C1D-2669-4EA7-8ADD-E3ECBD5520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8720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R$ 12.310.750,00</a:t>
            </a:r>
          </a:p>
        </p:txBody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BE9F20C6-7CB3-41C0-8A24-9C218B4CBB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8720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R$ 296.139.571,73</a:t>
            </a:r>
          </a:p>
        </p:txBody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827F75C4-5079-44C9-862E-D3D9D79CBA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387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4" name="">
            <a:extLst xmlns:a="http://schemas.openxmlformats.org/drawingml/2006/main">
              <a:ext uri="{FF2B5EF4-FFF2-40B4-BE49-F238E27FC236}">
                <a16:creationId xmlns:a16="http://schemas.microsoft.com/office/drawing/2014/main" id="{4B4311B5-FF20-4169-9FBB-C3DC5546E1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1863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jan de 28</a:t>
            </a:r>
          </a:p>
        </p:txBody>
      </p:sp>
      <p:sp>
        <p:nvSpPr>
          <p:cNvPr id="85" name="">
            <a:extLst xmlns:a="http://schemas.openxmlformats.org/drawingml/2006/main">
              <a:ext uri="{FF2B5EF4-FFF2-40B4-BE49-F238E27FC236}">
                <a16:creationId xmlns:a16="http://schemas.microsoft.com/office/drawing/2014/main" id="{28219F82-DBD9-4943-8758-0E35EDB0EA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1863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R$ 13.750.000,00</a:t>
            </a:r>
          </a:p>
        </p:txBody>
      </p:sp>
      <p:sp>
        <p:nvSpPr>
          <p:cNvPr id="86" name="">
            <a:extLst xmlns:a="http://schemas.openxmlformats.org/drawingml/2006/main">
              <a:ext uri="{FF2B5EF4-FFF2-40B4-BE49-F238E27FC236}">
                <a16:creationId xmlns:a16="http://schemas.microsoft.com/office/drawing/2014/main" id="{6151C05C-145E-46C3-A636-1283D851DE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1863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R$ 1.696.840,00</a:t>
            </a:r>
          </a:p>
        </p:txBody>
      </p:sp>
      <p:sp>
        <p:nvSpPr>
          <p:cNvPr id="87" name="">
            <a:extLst xmlns:a="http://schemas.openxmlformats.org/drawingml/2006/main">
              <a:ext uri="{FF2B5EF4-FFF2-40B4-BE49-F238E27FC236}">
                <a16:creationId xmlns:a16="http://schemas.microsoft.com/office/drawing/2014/main" id="{72CE3916-3FCF-466A-A801-703F5F0F1A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1863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R$ 12.053.160,00</a:t>
            </a:r>
          </a:p>
        </p:txBody>
      </p:sp>
      <p:sp>
        <p:nvSpPr>
          <p:cNvPr id="88" name="">
            <a:extLst xmlns:a="http://schemas.openxmlformats.org/drawingml/2006/main">
              <a:ext uri="{FF2B5EF4-FFF2-40B4-BE49-F238E27FC236}">
                <a16:creationId xmlns:a16="http://schemas.microsoft.com/office/drawing/2014/main" id="{F575D92E-A6F5-410F-ADDE-C443775050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1863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R$ 308.192.731,73</a:t>
            </a:r>
          </a:p>
        </p:txBody>
      </p:sp>
      <p:sp>
        <p:nvSpPr>
          <p:cNvPr id="89" name="">
            <a:extLst xmlns:a="http://schemas.openxmlformats.org/drawingml/2006/main">
              <a:ext uri="{FF2B5EF4-FFF2-40B4-BE49-F238E27FC236}">
                <a16:creationId xmlns:a16="http://schemas.microsoft.com/office/drawing/2014/main" id="{56EC1363-256D-4176-88F1-D0207F0698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4830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0" name="">
            <a:extLst xmlns:a="http://schemas.openxmlformats.org/drawingml/2006/main">
              <a:ext uri="{FF2B5EF4-FFF2-40B4-BE49-F238E27FC236}">
                <a16:creationId xmlns:a16="http://schemas.microsoft.com/office/drawing/2014/main" id="{F45F9D4E-5D9D-4297-BE58-D7D3BF22D5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1" name="">
            <a:extLst xmlns:a="http://schemas.openxmlformats.org/drawingml/2006/main">
              <a:ext uri="{FF2B5EF4-FFF2-40B4-BE49-F238E27FC236}">
                <a16:creationId xmlns:a16="http://schemas.microsoft.com/office/drawing/2014/main" id="{385187F2-5C37-4422-BB72-8D626C3DC3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5006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fev de 28</a:t>
            </a:r>
          </a:p>
        </p:txBody>
      </p:sp>
      <p:sp>
        <p:nvSpPr>
          <p:cNvPr id="92" name="">
            <a:extLst xmlns:a="http://schemas.openxmlformats.org/drawingml/2006/main">
              <a:ext uri="{FF2B5EF4-FFF2-40B4-BE49-F238E27FC236}">
                <a16:creationId xmlns:a16="http://schemas.microsoft.com/office/drawing/2014/main" id="{071FEE59-9733-40C5-9952-16C2AECB28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5006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R$ 13.000.000,00</a:t>
            </a:r>
          </a:p>
        </p:txBody>
      </p:sp>
      <p:sp>
        <p:nvSpPr>
          <p:cNvPr id="93" name="">
            <a:extLst xmlns:a="http://schemas.openxmlformats.org/drawingml/2006/main">
              <a:ext uri="{FF2B5EF4-FFF2-40B4-BE49-F238E27FC236}">
                <a16:creationId xmlns:a16="http://schemas.microsoft.com/office/drawing/2014/main" id="{5FC2F0FF-F25B-435C-B258-E6A252ECAF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5006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R$ 1.612.370,00</a:t>
            </a:r>
          </a:p>
        </p:txBody>
      </p:sp>
      <p:sp>
        <p:nvSpPr>
          <p:cNvPr id="94" name="">
            <a:extLst xmlns:a="http://schemas.openxmlformats.org/drawingml/2006/main">
              <a:ext uri="{FF2B5EF4-FFF2-40B4-BE49-F238E27FC236}">
                <a16:creationId xmlns:a16="http://schemas.microsoft.com/office/drawing/2014/main" id="{15A753C4-FA32-4B62-A016-D05B61EEF1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5006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R$ 11.387.630,00</a:t>
            </a:r>
          </a:p>
        </p:txBody>
      </p:sp>
      <p:sp>
        <p:nvSpPr>
          <p:cNvPr id="95" name="">
            <a:extLst xmlns:a="http://schemas.openxmlformats.org/drawingml/2006/main">
              <a:ext uri="{FF2B5EF4-FFF2-40B4-BE49-F238E27FC236}">
                <a16:creationId xmlns:a16="http://schemas.microsoft.com/office/drawing/2014/main" id="{5FAC4BE0-68E0-400C-899D-7CC8681335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5006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R$ 319.580.361,73</a:t>
            </a:r>
          </a:p>
        </p:txBody>
      </p:sp>
      <p:sp>
        <p:nvSpPr>
          <p:cNvPr id="96" name="">
            <a:extLst xmlns:a="http://schemas.openxmlformats.org/drawingml/2006/main">
              <a:ext uri="{FF2B5EF4-FFF2-40B4-BE49-F238E27FC236}">
                <a16:creationId xmlns:a16="http://schemas.microsoft.com/office/drawing/2014/main" id="{3FB181AF-A6D0-4C09-A80B-3DE6CE06A3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674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7" name="">
            <a:extLst xmlns:a="http://schemas.openxmlformats.org/drawingml/2006/main">
              <a:ext uri="{FF2B5EF4-FFF2-40B4-BE49-F238E27FC236}">
                <a16:creationId xmlns:a16="http://schemas.microsoft.com/office/drawing/2014/main" id="{88F83163-4671-4E36-9D8B-1708ECFBCB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8150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mar de 28</a:t>
            </a:r>
          </a:p>
        </p:txBody>
      </p:sp>
      <p:sp>
        <p:nvSpPr>
          <p:cNvPr id="98" name="">
            <a:extLst xmlns:a="http://schemas.openxmlformats.org/drawingml/2006/main">
              <a:ext uri="{FF2B5EF4-FFF2-40B4-BE49-F238E27FC236}">
                <a16:creationId xmlns:a16="http://schemas.microsoft.com/office/drawing/2014/main" id="{E196A430-5D4F-49BC-A01F-C86FDCECE1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8150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R$ 12.300.000,00</a:t>
            </a:r>
          </a:p>
        </p:txBody>
      </p:sp>
      <p:sp>
        <p:nvSpPr>
          <p:cNvPr id="99" name="">
            <a:extLst xmlns:a="http://schemas.openxmlformats.org/drawingml/2006/main">
              <a:ext uri="{FF2B5EF4-FFF2-40B4-BE49-F238E27FC236}">
                <a16:creationId xmlns:a16="http://schemas.microsoft.com/office/drawing/2014/main" id="{E63DDE9B-28CF-4C2F-B452-3A2101DF8B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8150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R$ 1.529.680,00</a:t>
            </a:r>
          </a:p>
        </p:txBody>
      </p:sp>
      <p:sp>
        <p:nvSpPr>
          <p:cNvPr id="100" name="">
            <a:extLst xmlns:a="http://schemas.openxmlformats.org/drawingml/2006/main">
              <a:ext uri="{FF2B5EF4-FFF2-40B4-BE49-F238E27FC236}">
                <a16:creationId xmlns:a16="http://schemas.microsoft.com/office/drawing/2014/main" id="{FB9211C8-30F7-4792-AF31-2BD48CFE28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8150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R$ 10.770.320,00</a:t>
            </a:r>
          </a:p>
        </p:txBody>
      </p:sp>
      <p:sp>
        <p:nvSpPr>
          <p:cNvPr id="101" name="">
            <a:extLst xmlns:a="http://schemas.openxmlformats.org/drawingml/2006/main">
              <a:ext uri="{FF2B5EF4-FFF2-40B4-BE49-F238E27FC236}">
                <a16:creationId xmlns:a16="http://schemas.microsoft.com/office/drawing/2014/main" id="{D2895228-938E-464D-BD0F-7D5E47A6D7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8150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R$ 330.350.681,73</a:t>
            </a:r>
          </a:p>
        </p:txBody>
      </p:sp>
    </p:spTree>
    <p:extLst>
      <p:ext uri="{BB962C8B-B14F-4D97-AF65-F5344CB8AC3E}">
        <p14:creationId xmlns:p14="http://schemas.microsoft.com/office/powerpoint/2010/main" val="1716648146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040A1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6" name="">
            <a:extLst xmlns:a="http://schemas.openxmlformats.org/drawingml/2006/main">
              <a:ext uri="{FF2B5EF4-FFF2-40B4-BE49-F238E27FC236}">
                <a16:creationId xmlns:a16="http://schemas.microsoft.com/office/drawing/2014/main" id="{12E7BAD2-1AB8-4A9C-A318-296D03C29D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4399CCB-5A4F-4836-B933-1E74720957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95471DC-B54B-47C6-9D23-CC00853728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35E6BB"/>
                </a:solidFill>
              </a:defRPr>
            </a:pPr>
            <a:r>
              <a:rPr sz="975" b="1">
                <a:solidFill>
                  <a:srgbClr val="35E6BB"/>
                </a:solidFill>
              </a:rPr>
              <a:t>BASE MENSAL INFORMADA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5EF31B6-0F1B-4AEB-B6AF-82AF3569C8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5E7880"/>
                </a:solidFill>
              </a:defRPr>
            </a:pPr>
            <a:r>
              <a:rPr sz="900">
                <a:solidFill>
                  <a:srgbClr val="5E7880"/>
                </a:solidFill>
              </a:rPr>
              <a:t>13 / 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97AEDC2-414C-4111-B3B6-18E5FE5479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0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27c5bb227bb4b38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4B1E739-93F1-4798-B2E0-E7FBF9C334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Dados informados do sistema na Projeção Financeira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28E1ED6-C539-43D6-88F6-344E1AB214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Faturamento vs Folha de Pagamento · v1 · CONFIDENCIAL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08AC596-E3F6-455B-A14D-F7F9A3500F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F2FAF9"/>
                </a:solidFill>
              </a:defRPr>
            </a:pPr>
            <a:r>
              <a:rPr sz="2550" b="1">
                <a:solidFill>
                  <a:srgbClr val="F2FAF9"/>
                </a:solidFill>
              </a:rPr>
              <a:t>Base mensal informada — continuação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C371D51-3755-47BC-AB61-28616C0559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76350"/>
            <a:ext cx="10591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8CA5AB"/>
                </a:solidFill>
              </a:defRPr>
            </a:pPr>
            <a:r>
              <a:rPr sz="1125">
                <a:solidFill>
                  <a:srgbClr val="8CA5AB"/>
                </a:solidFill>
              </a:rPr>
              <a:t>Continuação da base: folha 5 de 5.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E228167-225A-4E23-BB80-B2E1AA7B90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1C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22DD4A0-CB70-45D5-946A-C9B4107A9B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812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3A4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E21FBD5-525F-4A22-A014-851DB3583B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1738313"/>
            <a:ext cx="1962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COMPETÊNCIA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16765B8-DFD9-4278-B247-2CF740CE8E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1738313"/>
            <a:ext cx="219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FATURAMENTO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F0A48ED-DEE5-47B7-B9A1-275C6BBA21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1738313"/>
            <a:ext cx="219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FOLHA + ENCARGOS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C139694-79B7-4F3B-82C3-962B5D35A5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1738313"/>
            <a:ext cx="18859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SALDO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162A4D5-48CE-44E8-AC1B-F0FE657F56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1738313"/>
            <a:ext cx="18859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ACUMULADO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97737A9-F3C6-4E57-9D80-957FA3CE9C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9072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C4056AE-57D3-4C67-9BD2-CD2459FF61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955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92F95F0-79F6-4634-A6C3-6CD36C5D1A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0431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abr de 28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D15F7A6-9DD0-4B49-8E70-72A279BF51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0431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R$ 11.500.000,00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D43A00F-F91A-437B-8388-1A207AE46F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0431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R$ 1.447.340,00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FB95C6F-AF8F-4945-B08B-9EAB8F6CD2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0431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R$ 10.052.660,00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658C51C-B10A-4426-BE43-1EADEB1934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0431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R$ 340.403.341,73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1C08F97-BE88-44AC-AF1C-32F7FC159B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098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2A0C07D-C89C-4038-AF40-986A0B0493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3574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mai de 28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C382AE0-BE54-4A95-A00B-6CA8287B7D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3574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R$ 10.800.000,00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50BC8C4-3644-48F3-984B-0D6C15484C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3574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R$ 1.378.920,00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DECA3E1A-0093-4C08-9C28-608DA473B9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3574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R$ 9.421.080,00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C33560C3-9094-4D53-8BE5-89AF954FDB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3574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R$ 349.824.421,73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D79AF50A-C73C-4295-BC65-DB85C37D55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1937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0CBE9B8C-601F-477A-831A-162D27249C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241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FB92FD73-EB19-434A-AEE9-2023A984C5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6717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jun de 28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A1F0477D-2B93-46F3-B262-D1B9B6DDAC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6717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R$ 9.800.000,00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9F33B9E7-394A-451F-8250-29C95C1DCE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6717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R$ 1.326.410,00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3BE25F63-A178-409E-88A4-3995E5AD9C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6717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R$ 8.473.590,00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610890C4-5DBC-42C6-B07D-E78EDB7B42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6717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R$ 358.298.011,73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CCBE37BD-5FCB-4614-BE53-1C56B9BF71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0EB22EB3-33C7-4C3B-9AE0-8318A73307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9860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jul de 28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93784749-6BE6-4C6F-959A-273DD7523A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9860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R$ 9.500.000,00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67F0F15E-7AD7-48BB-8028-924F2CCCBE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9860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R$ 1.349.870,00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AE716B7E-4F43-49A4-9BE9-13C9EF8321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9860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R$ 8.150.130,00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7F97919A-6398-4B75-8E70-6DC68BDFA5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9860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R$ 366.448.141,73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18884B22-544D-417B-8DEB-BF668CE09D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4802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B7C98667-63C4-4C33-A96C-A6C7BA650C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528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2409C702-D79B-4E0A-B525-F3B61959DA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3004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ago de 28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EBEF5CE6-4ACA-41B0-8F31-7013142B23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3004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R$ 10.000.000,00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C470FD6A-95F9-4F95-AD74-CD7BA7280E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3004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R$ 1.408.630,00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3B212C2D-37E5-416F-A4C4-5DBDC9C6C5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3004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R$ 8.591.370,00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0FDA2510-53DD-4020-8EFF-AC39EC3343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3004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R$ 375.039.511,73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60EBB8D2-CE9D-456C-8A26-FD8DB5BDF4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671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8F16228E-B54A-4AFE-8AC4-9BDAF3B8C4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6147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set de 28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A3661502-0798-467E-BF1D-F640E24977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6147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R$ 11.300.000,00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F13DA96D-0C60-4DE4-A1FB-0282691DF4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6147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R$ 1.482.760,00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83373FEF-2A1D-4E9F-953F-9AA3C1240B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6147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R$ 9.817.240,00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40E89E4B-3F35-445E-A697-78D9B233BD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6147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R$ 384.856.751,73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3CDED539-E914-4E38-9EB9-48F3026A27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7667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AEBC5299-203F-4152-A3AE-8B5068E6F0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814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EA046080-FF9E-4977-97B9-D29C463C88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9290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out de 28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FDC665A5-717E-4C9C-AC2A-5541DD2108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9290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R$ 12.600.000,00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2146E2FE-7E7F-4358-AD58-94ACD0A5CD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9290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R$ 1.578.140,00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EB546D3D-B8DA-4C75-9C84-8DAD6686F6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9290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R$ 11.021.860,00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4A03A2D0-87F5-43A3-BE67-E30641EF33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9290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R$ 395.878.611,73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2BBEFF6D-5106-49E4-B776-EBBFD76A80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207241ED-5F07-4C41-B53A-32979A25A4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2433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nov de 28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AB88C685-479A-4DA1-A465-DD82B3E078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2433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R$ 14.200.000,00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F397154D-D213-4556-ADFF-83DF52E23E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2433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R$ 1.689.630,00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B0BE1550-5466-44BD-BABB-6F9D8902A6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2433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R$ 12.510.370,00</a:t>
            </a:r>
          </a:p>
        </p:txBody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2FB9C920-9F4D-453A-BCE5-A5CC216DF1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2433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R$ 408.388.981,73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C5AAE03E-9DFB-48CB-ACFA-B5FC639601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0532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639E6848-835B-4A72-8BFF-1E47154670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101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3C96F39E-AD91-4ABF-963A-844994A72F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5577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dez de 28</a:t>
            </a:r>
          </a:p>
        </p:txBody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0E212C5F-1369-4B58-A006-D169DEF32A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5577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R$ 15.000.000,00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853B89EE-9EBA-4EC7-9F25-ADB3D8641E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5577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R$ 1.742.180,00</a:t>
            </a:r>
          </a:p>
        </p:txBody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7597827F-4F5B-4B3F-9C9A-FEBC46486F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5577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R$ 13.257.820,00</a:t>
            </a:r>
          </a:p>
        </p:txBody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B109C945-6E94-4875-A9D2-1AE4D06D15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5577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R$ 421.646.801,73</a:t>
            </a:r>
          </a:p>
        </p:txBody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A3AE396F-0A08-41BB-AEC3-77E6CACC5D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196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D202364D-2F94-4B8A-8A55-826E237E96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8720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8CA5AB"/>
                </a:solidFill>
              </a:defRPr>
            </a:pPr>
            <a:r>
              <a:rPr sz="1050" b="1">
                <a:solidFill>
                  <a:srgbClr val="8CA5AB"/>
                </a:solidFill>
              </a:rPr>
              <a:t>Subtotal realizado</a:t>
            </a:r>
          </a:p>
        </p:txBody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68185545-0240-4FF5-9BB6-4E790C6EE8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8720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8CA5AB"/>
                </a:solidFill>
              </a:defRPr>
            </a:pPr>
            <a:r>
              <a:rPr sz="1050" b="1">
                <a:solidFill>
                  <a:srgbClr val="8CA5AB"/>
                </a:solidFill>
              </a:rPr>
              <a:t>R$ 191.634.498,44</a:t>
            </a:r>
          </a:p>
        </p:txBody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3163E5F2-B1F0-4A4B-90B8-C04717662D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8720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8CA5AB"/>
                </a:solidFill>
              </a:defRPr>
            </a:pPr>
            <a:r>
              <a:rPr sz="1050" b="1">
                <a:solidFill>
                  <a:srgbClr val="8CA5AB"/>
                </a:solidFill>
              </a:rPr>
              <a:t>R$ 50.862.678,84</a:t>
            </a:r>
          </a:p>
        </p:txBody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B46153E5-53FF-4D0A-A5F0-1778829995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8720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8CA5AB"/>
                </a:solidFill>
              </a:defRPr>
            </a:pPr>
            <a:r>
              <a:rPr sz="1050" b="1">
                <a:solidFill>
                  <a:srgbClr val="8CA5AB"/>
                </a:solidFill>
              </a:rPr>
              <a:t>R$ 140.771.819,60</a:t>
            </a:r>
          </a:p>
        </p:txBody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E76EA9F1-7156-48D4-B5DD-F6EAA3EE55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8720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8CA5AB"/>
                </a:solidFill>
              </a:defRPr>
            </a:pPr>
            <a:r>
              <a:rPr sz="1050" b="1">
                <a:solidFill>
                  <a:srgbClr val="8CA5AB"/>
                </a:solidFill>
              </a:rPr>
              <a:t>—</a:t>
            </a:r>
          </a:p>
        </p:txBody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A852EB57-D481-4B9D-873A-DE6E4ED0D6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339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4" name="">
            <a:extLst xmlns:a="http://schemas.openxmlformats.org/drawingml/2006/main">
              <a:ext uri="{FF2B5EF4-FFF2-40B4-BE49-F238E27FC236}">
                <a16:creationId xmlns:a16="http://schemas.microsoft.com/office/drawing/2014/main" id="{49A2A497-ABC4-47B0-B89B-2C7F96C622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1863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8CA5AB"/>
                </a:solidFill>
              </a:defRPr>
            </a:pPr>
            <a:r>
              <a:rPr sz="1050" b="1">
                <a:solidFill>
                  <a:srgbClr val="8CA5AB"/>
                </a:solidFill>
              </a:rPr>
              <a:t>Subtotal projetado</a:t>
            </a:r>
          </a:p>
        </p:txBody>
      </p:sp>
      <p:sp>
        <p:nvSpPr>
          <p:cNvPr id="85" name="">
            <a:extLst xmlns:a="http://schemas.openxmlformats.org/drawingml/2006/main">
              <a:ext uri="{FF2B5EF4-FFF2-40B4-BE49-F238E27FC236}">
                <a16:creationId xmlns:a16="http://schemas.microsoft.com/office/drawing/2014/main" id="{9673CDAD-C172-46E8-B4F7-A6F29F5C8F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1863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4C9DFF"/>
                </a:solidFill>
              </a:defRPr>
            </a:pPr>
            <a:r>
              <a:rPr sz="1050" b="1">
                <a:solidFill>
                  <a:srgbClr val="4C9DFF"/>
                </a:solidFill>
              </a:rPr>
              <a:t>R$ 325.004.602,13</a:t>
            </a:r>
          </a:p>
        </p:txBody>
      </p:sp>
      <p:sp>
        <p:nvSpPr>
          <p:cNvPr id="86" name="">
            <a:extLst xmlns:a="http://schemas.openxmlformats.org/drawingml/2006/main">
              <a:ext uri="{FF2B5EF4-FFF2-40B4-BE49-F238E27FC236}">
                <a16:creationId xmlns:a16="http://schemas.microsoft.com/office/drawing/2014/main" id="{48078DCF-9280-4EA0-B0B2-90FC4B7DDF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1863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4C9DFF"/>
                </a:solidFill>
              </a:defRPr>
            </a:pPr>
            <a:r>
              <a:rPr sz="1050" b="1">
                <a:solidFill>
                  <a:srgbClr val="4C9DFF"/>
                </a:solidFill>
              </a:rPr>
              <a:t>R$ 44.129.620,00</a:t>
            </a:r>
          </a:p>
        </p:txBody>
      </p:sp>
      <p:sp>
        <p:nvSpPr>
          <p:cNvPr id="87" name="">
            <a:extLst xmlns:a="http://schemas.openxmlformats.org/drawingml/2006/main">
              <a:ext uri="{FF2B5EF4-FFF2-40B4-BE49-F238E27FC236}">
                <a16:creationId xmlns:a16="http://schemas.microsoft.com/office/drawing/2014/main" id="{43220B64-31FA-4FE7-8724-5DD0A0525D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1863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8CA5AB"/>
                </a:solidFill>
              </a:defRPr>
            </a:pPr>
            <a:r>
              <a:rPr sz="1050" b="1">
                <a:solidFill>
                  <a:srgbClr val="8CA5AB"/>
                </a:solidFill>
              </a:rPr>
              <a:t>R$ 280.874.982,13</a:t>
            </a:r>
          </a:p>
        </p:txBody>
      </p:sp>
      <p:sp>
        <p:nvSpPr>
          <p:cNvPr id="88" name="">
            <a:extLst xmlns:a="http://schemas.openxmlformats.org/drawingml/2006/main">
              <a:ext uri="{FF2B5EF4-FFF2-40B4-BE49-F238E27FC236}">
                <a16:creationId xmlns:a16="http://schemas.microsoft.com/office/drawing/2014/main" id="{711A5C81-DB28-4AB5-8C46-EAD5A67FFD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1863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8CA5AB"/>
                </a:solidFill>
              </a:defRPr>
            </a:pPr>
            <a:r>
              <a:rPr sz="1050" b="1">
                <a:solidFill>
                  <a:srgbClr val="8CA5AB"/>
                </a:solidFill>
              </a:rPr>
              <a:t>—</a:t>
            </a:r>
          </a:p>
        </p:txBody>
      </p:sp>
      <p:sp>
        <p:nvSpPr>
          <p:cNvPr id="89" name="">
            <a:extLst xmlns:a="http://schemas.openxmlformats.org/drawingml/2006/main">
              <a:ext uri="{FF2B5EF4-FFF2-40B4-BE49-F238E27FC236}">
                <a16:creationId xmlns:a16="http://schemas.microsoft.com/office/drawing/2014/main" id="{4A887F19-5F99-487C-91BF-5D6CEA6656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4830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1C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0" name="">
            <a:extLst xmlns:a="http://schemas.openxmlformats.org/drawingml/2006/main">
              <a:ext uri="{FF2B5EF4-FFF2-40B4-BE49-F238E27FC236}">
                <a16:creationId xmlns:a16="http://schemas.microsoft.com/office/drawing/2014/main" id="{465842F6-5008-4C3B-AB08-9D0A151F42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483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3A4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1" name="">
            <a:extLst xmlns:a="http://schemas.openxmlformats.org/drawingml/2006/main">
              <a:ext uri="{FF2B5EF4-FFF2-40B4-BE49-F238E27FC236}">
                <a16:creationId xmlns:a16="http://schemas.microsoft.com/office/drawing/2014/main" id="{627F52DC-A88F-4AB2-A982-E7225B679C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5006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F2FAF9"/>
                </a:solidFill>
              </a:defRPr>
            </a:pPr>
            <a:r>
              <a:rPr sz="1050" b="1">
                <a:solidFill>
                  <a:srgbClr val="F2FAF9"/>
                </a:solidFill>
              </a:rPr>
              <a:t>Total do recorte</a:t>
            </a:r>
          </a:p>
        </p:txBody>
      </p:sp>
      <p:sp>
        <p:nvSpPr>
          <p:cNvPr id="92" name="">
            <a:extLst xmlns:a="http://schemas.openxmlformats.org/drawingml/2006/main">
              <a:ext uri="{FF2B5EF4-FFF2-40B4-BE49-F238E27FC236}">
                <a16:creationId xmlns:a16="http://schemas.microsoft.com/office/drawing/2014/main" id="{CFDFECA5-BB55-4A4A-B968-48BDBA698D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5006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F2FAF9"/>
                </a:solidFill>
              </a:defRPr>
            </a:pPr>
            <a:r>
              <a:rPr sz="1050" b="1">
                <a:solidFill>
                  <a:srgbClr val="F2FAF9"/>
                </a:solidFill>
              </a:rPr>
              <a:t>R$ 516.639.100,57</a:t>
            </a:r>
          </a:p>
        </p:txBody>
      </p:sp>
      <p:sp>
        <p:nvSpPr>
          <p:cNvPr id="93" name="">
            <a:extLst xmlns:a="http://schemas.openxmlformats.org/drawingml/2006/main">
              <a:ext uri="{FF2B5EF4-FFF2-40B4-BE49-F238E27FC236}">
                <a16:creationId xmlns:a16="http://schemas.microsoft.com/office/drawing/2014/main" id="{8ACEE591-3A40-438C-90E2-A2B90D13B5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5006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F2FAF9"/>
                </a:solidFill>
              </a:defRPr>
            </a:pPr>
            <a:r>
              <a:rPr sz="1050" b="1">
                <a:solidFill>
                  <a:srgbClr val="F2FAF9"/>
                </a:solidFill>
              </a:rPr>
              <a:t>R$ 94.992.298,84</a:t>
            </a:r>
          </a:p>
        </p:txBody>
      </p:sp>
      <p:sp>
        <p:nvSpPr>
          <p:cNvPr id="94" name="">
            <a:extLst xmlns:a="http://schemas.openxmlformats.org/drawingml/2006/main">
              <a:ext uri="{FF2B5EF4-FFF2-40B4-BE49-F238E27FC236}">
                <a16:creationId xmlns:a16="http://schemas.microsoft.com/office/drawing/2014/main" id="{666E7E41-3572-4745-A6F5-58FA849F1A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5006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F2FAF9"/>
                </a:solidFill>
              </a:defRPr>
            </a:pPr>
            <a:r>
              <a:rPr sz="1050" b="1">
                <a:solidFill>
                  <a:srgbClr val="F2FAF9"/>
                </a:solidFill>
              </a:rPr>
              <a:t>R$ 421.646.801,73</a:t>
            </a:r>
          </a:p>
        </p:txBody>
      </p:sp>
      <p:sp>
        <p:nvSpPr>
          <p:cNvPr id="95" name="">
            <a:extLst xmlns:a="http://schemas.openxmlformats.org/drawingml/2006/main">
              <a:ext uri="{FF2B5EF4-FFF2-40B4-BE49-F238E27FC236}">
                <a16:creationId xmlns:a16="http://schemas.microsoft.com/office/drawing/2014/main" id="{B0B6BEEF-9AFB-48F5-88CE-9FD2412117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5006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F2FAF9"/>
                </a:solidFill>
              </a:defRPr>
            </a:pPr>
            <a:r>
              <a:rPr sz="1050" b="1">
                <a:solidFill>
                  <a:srgbClr val="F2FAF9"/>
                </a:solidFill>
              </a:rPr>
              <a:t>R$ 421.646.801,73</a:t>
            </a:r>
          </a:p>
        </p:txBody>
      </p:sp>
    </p:spTree>
    <p:extLst>
      <p:ext uri="{BB962C8B-B14F-4D97-AF65-F5344CB8AC3E}">
        <p14:creationId xmlns:p14="http://schemas.microsoft.com/office/powerpoint/2010/main" val="90812329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040A1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5" name="">
            <a:extLst xmlns:a="http://schemas.openxmlformats.org/drawingml/2006/main">
              <a:ext uri="{FF2B5EF4-FFF2-40B4-BE49-F238E27FC236}">
                <a16:creationId xmlns:a16="http://schemas.microsoft.com/office/drawing/2014/main" id="{C3751624-9CCE-4008-9EE6-233D5AC71A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45053D8-2622-4AA4-9AFE-39503009BC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7E8B5F5-75EC-4D8C-9C26-0256C0C926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35E6BB"/>
                </a:solidFill>
              </a:defRPr>
            </a:pPr>
            <a:r>
              <a:rPr sz="975" b="1">
                <a:solidFill>
                  <a:srgbClr val="35E6BB"/>
                </a:solidFill>
              </a:rPr>
              <a:t>CARTEIRA E RECEBÍVEIS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E1F13EE-830B-445D-9F5E-D7C3C30C85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5E7880"/>
                </a:solidFill>
              </a:defRPr>
            </a:pPr>
            <a:r>
              <a:rPr sz="900">
                <a:solidFill>
                  <a:srgbClr val="5E7880"/>
                </a:solidFill>
              </a:rPr>
              <a:t>14 / 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18167C3-D998-49BE-812E-E5636983CA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4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3741cd066cf4afa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25BCAEA-6738-401B-903E-C4F6751C14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Dados informados do sistema na Projeção Financeira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9F938E6-ACC0-4A38-854D-021124B6AE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Faturamento vs Folha de Pagamento · v1 · CONFIDENCIAL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29D85D5-BB68-4B36-908B-3482FE0A4B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F2FAF9"/>
                </a:solidFill>
              </a:defRPr>
            </a:pPr>
            <a:r>
              <a:rPr sz="2550" b="1">
                <a:solidFill>
                  <a:srgbClr val="F2FAF9"/>
                </a:solidFill>
              </a:rPr>
              <a:t>Backlog que sustenta a projeção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06DA476-D117-4E59-9FB2-78233050A2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76350"/>
            <a:ext cx="10591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8CA5AB"/>
                </a:solidFill>
              </a:defRPr>
            </a:pPr>
            <a:r>
              <a:rPr sz="1125">
                <a:solidFill>
                  <a:srgbClr val="8CA5AB"/>
                </a:solidFill>
              </a:rPr>
              <a:t>Saldo a receber conforme informado na carteira; não equivale necessariamente a caixa recebido.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0DCB200-1521-4AFB-82F5-A3F8BCC1FC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109728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1C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8C9EECE-4A00-4160-8369-19AE80298F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097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3A4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6198337-4195-4862-B053-436C7319C2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1752600"/>
            <a:ext cx="12763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CLIENTE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2D7637C-11D1-4E52-A946-C019750EC2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1752600"/>
            <a:ext cx="8953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STATUS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D25046F-7785-4BE4-B83E-7D2775BA9B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9925" y="1752600"/>
            <a:ext cx="1238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CARTEIRA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327E678-199B-46FC-BF74-DB4A1CAB66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1752600"/>
            <a:ext cx="1238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FATURADO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434AA91-1342-47F0-BD86-31E106975A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9325" y="1752600"/>
            <a:ext cx="1238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BACKLOG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E1BD56E-233C-45A6-A273-C7E84244EF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9025" y="1752600"/>
            <a:ext cx="1238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A RECEBER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2750F4B-20AB-424E-BC0D-EE08978491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8725" y="1752600"/>
            <a:ext cx="1238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ATÉ 2028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05F6931-4881-428A-A0AD-C2B821101B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58425" y="1752600"/>
            <a:ext cx="1238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PÓS-2028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327C560-C2BA-42FB-B935-AB03A8AA18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526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D8F7062-6640-447E-98F4-0D608D8A24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085975"/>
            <a:ext cx="1276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AXIA Energia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A98D0A8-36CA-48C6-9396-DFBC008E48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2085975"/>
            <a:ext cx="895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Ativo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EEEBB2D-FE80-4A20-A728-FA742CD741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9925" y="20859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R$ 42.544.856,72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1E26688-B728-4DDD-81E9-2D410E2537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20859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R$ 13.587.630,96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B62B8FB-39FA-4567-B4CD-959115ABFF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9325" y="20859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4C9DFF"/>
                </a:solidFill>
              </a:defRPr>
            </a:pPr>
            <a:r>
              <a:rPr sz="938" b="0">
                <a:solidFill>
                  <a:srgbClr val="4C9DFF"/>
                </a:solidFill>
              </a:rPr>
              <a:t>R$ 28.957.225,76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79355C0-E087-4705-83E9-9C01F92632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9025" y="20859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R$ 16.901.328,68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B26BEB8-192D-4935-ACC1-45679C81D1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8725" y="20859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R$ 28.957.225,76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26920385-D490-469D-87E4-2E5BE7F294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58425" y="20859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R$ 0,00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DC3E984-E5D1-4591-8847-C93F0A2B7D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62200"/>
            <a:ext cx="109728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44CA2084-A9D3-4470-9839-66CC418374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955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4D2849C8-AE1A-4936-B7EF-7B9F8270D9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428875"/>
            <a:ext cx="1276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Petrobras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F7621F7C-59D8-49EF-978D-B0961EBA0E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2428875"/>
            <a:ext cx="895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Ativo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A109EE17-06B6-458D-80BC-B2A4FAA27A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9925" y="24288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R$ 126.739.271,47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D375FCE1-3A87-412E-94E2-4518D92D7D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24288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R$ 1.506.178,20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80405B87-D046-4921-ABA2-871DD2BD32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9325" y="24288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4C9DFF"/>
                </a:solidFill>
              </a:defRPr>
            </a:pPr>
            <a:r>
              <a:rPr sz="938" b="0">
                <a:solidFill>
                  <a:srgbClr val="4C9DFF"/>
                </a:solidFill>
              </a:rPr>
              <a:t>R$ 125.233.093,27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E019AA8A-F9E2-40D5-B32F-19C014DBC9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9025" y="24288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R$ 2.752.843,23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02814F5E-F1FB-4FE7-A12A-81A75C4AB6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8725" y="24288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R$ 123.670.948,92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5F3CC9EE-E065-40E8-B899-50183E5B1D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58425" y="24288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R$ 1.562.144,35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FD4F70CB-3AD7-4E4A-8BFA-91E4308C92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384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E3F2886B-FE54-4232-9CF3-43FA7797B1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771775"/>
            <a:ext cx="1276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Enel Green Power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89C62232-FD6B-4707-A32F-E32B0ACBF0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2771775"/>
            <a:ext cx="895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Ativo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1CDD168D-B4A4-4840-806C-99EA3786BA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9925" y="27717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R$ 74.695.374,05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1600E866-6599-4977-B049-CA306A1171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27717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R$ 46.633.200,10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68907835-BD04-407B-BA2A-85A547F585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9325" y="27717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4C9DFF"/>
                </a:solidFill>
              </a:defRPr>
            </a:pPr>
            <a:r>
              <a:rPr sz="938" b="0">
                <a:solidFill>
                  <a:srgbClr val="4C9DFF"/>
                </a:solidFill>
              </a:rPr>
              <a:t>R$ 28.062.173,95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762F901C-2ECD-4F27-BC98-74976F87E2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9025" y="27717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R$ 25.512.835,02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5235CC56-1C88-4773-B33D-610C4D96CD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8725" y="27717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R$ 28.062.173,95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6743AF5C-3531-4563-80C8-64F6AFE246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58425" y="27717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R$ 0,00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1AA84F08-6F99-434F-83F2-E13C6C4886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48000"/>
            <a:ext cx="109728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CF36C570-1DD0-4B7A-9B61-CC20D7D707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813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35F90628-6842-4D07-992F-3A66880C94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114675"/>
            <a:ext cx="1276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CEMIG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F0E33773-AF27-492A-ACBE-8B6E1F5D71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3114675"/>
            <a:ext cx="895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Ativo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2C39BA40-8906-4A49-8528-278F150044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9925" y="31146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R$ 157.646.971,08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36D1CE79-6639-499F-A2E0-56DFE85645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31146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R$ 15.287.450,14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7198BE1F-C08D-4253-9FD4-3969292096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9325" y="31146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4C9DFF"/>
                </a:solidFill>
              </a:defRPr>
            </a:pPr>
            <a:r>
              <a:rPr sz="938" b="0">
                <a:solidFill>
                  <a:srgbClr val="4C9DFF"/>
                </a:solidFill>
              </a:rPr>
              <a:t>R$ 142.359.520,94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003FD61B-17A4-4AE1-A87C-845174C0EA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9025" y="31146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R$ 15.391.505,90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0033D7A2-38DD-4649-AAA3-06096D8945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8725" y="31146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R$ 142.359.520,94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36C5E280-04F9-48A9-92B6-E24200A3D0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58425" y="31146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R$ 0,00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A37E13C9-E5A3-4980-AC5B-0BB6705A19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242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0833B200-2DEB-4A10-9EC0-FD8B58C928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457575"/>
            <a:ext cx="1276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Âmbar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6D2BFDE6-FB4B-4260-ABC0-D0359E221E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3457575"/>
            <a:ext cx="895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Ativo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88CD6572-4551-467F-ABED-7B5A9C77F9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9925" y="34575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R$ 883.317,21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BA96E581-6D2F-41C7-AF71-F0500066F4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34575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R$ 794.985,49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F5A7C01C-D765-41D6-BCB8-094EDC3D53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9325" y="34575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4C9DFF"/>
                </a:solidFill>
              </a:defRPr>
            </a:pPr>
            <a:r>
              <a:rPr sz="938" b="0">
                <a:solidFill>
                  <a:srgbClr val="4C9DFF"/>
                </a:solidFill>
              </a:rPr>
              <a:t>R$ 88.331,72</a:t>
            </a:r>
          </a:p>
        </p:txBody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4D84D705-9DF2-42CB-A8C8-B5E44953E7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9025" y="34575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R$ 883.317,20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0D03237D-61EE-4F98-B324-57637CE8B8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8725" y="34575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R$ 485.824,46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17A5A8A8-E101-440C-8FA3-80ED91F055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58425" y="34575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R$ 0,00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F381C091-7A44-456F-A7B1-D780175CFD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33800"/>
            <a:ext cx="109728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C41E3EB7-1FFC-4590-9ABF-2A69098969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671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AECE3D25-EB40-4CDC-A8E4-6B7F00D7DE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800475"/>
            <a:ext cx="1276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Hydro Alunorte</a:t>
            </a:r>
          </a:p>
        </p:txBody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661FB932-1631-4229-8F2F-88E8ED9BAC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3800475"/>
            <a:ext cx="895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Ativo</a:t>
            </a:r>
          </a:p>
        </p:txBody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CF9BD40E-CD3B-4353-A041-7F6F657370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9925" y="38004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R$ 4.965.143,38</a:t>
            </a:r>
          </a:p>
        </p:txBody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4BA75212-4888-48AB-9036-35C7BAA518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38004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R$ 828.439,34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D3DD3F47-1FB5-4F76-8DE4-2ACA52C47A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9325" y="38004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4C9DFF"/>
                </a:solidFill>
              </a:defRPr>
            </a:pPr>
            <a:r>
              <a:rPr sz="938" b="0">
                <a:solidFill>
                  <a:srgbClr val="4C9DFF"/>
                </a:solidFill>
              </a:rPr>
              <a:t>R$ 4.136.704,04</a:t>
            </a:r>
          </a:p>
        </p:txBody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7CCE9E62-13C4-489F-981E-C03194CB44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9025" y="38004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R$ 872.409,82</a:t>
            </a:r>
          </a:p>
        </p:txBody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A4E77B6A-8BC9-432E-82E2-857DB639D7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8725" y="38004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R$ 4.136.704,04</a:t>
            </a:r>
          </a:p>
        </p:txBody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A237CB4D-CE0C-405C-9625-2B16ED3FD2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58425" y="38004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R$ 0,00</a:t>
            </a:r>
          </a:p>
        </p:txBody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311E7E9A-D7CD-4876-A6CB-EF7F3C0027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100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33344D8F-D64B-4F20-8843-62CD17FE6E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143375"/>
            <a:ext cx="1276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Belém Bioenergia</a:t>
            </a:r>
          </a:p>
        </p:txBody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3EAB922B-B08F-4941-BCB8-D0D6786EBB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4143375"/>
            <a:ext cx="895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Ativo</a:t>
            </a:r>
          </a:p>
        </p:txBody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28A675C5-3FFA-425A-8F5C-452743D30F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9925" y="41433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R$ 1.445.844,71</a:t>
            </a:r>
          </a:p>
        </p:txBody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4185F0E1-FEAF-4B76-B4C9-850076838A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41433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R$ 279.135,36</a:t>
            </a:r>
          </a:p>
        </p:txBody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E11FC360-928D-479E-86C4-8D43DB436A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9325" y="41433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4C9DFF"/>
                </a:solidFill>
              </a:defRPr>
            </a:pPr>
            <a:r>
              <a:rPr sz="938" b="0">
                <a:solidFill>
                  <a:srgbClr val="4C9DFF"/>
                </a:solidFill>
              </a:rPr>
              <a:t>R$ 1.166.709,35</a:t>
            </a:r>
          </a:p>
        </p:txBody>
      </p:sp>
      <p:sp>
        <p:nvSpPr>
          <p:cNvPr id="84" name="">
            <a:extLst xmlns:a="http://schemas.openxmlformats.org/drawingml/2006/main">
              <a:ext uri="{FF2B5EF4-FFF2-40B4-BE49-F238E27FC236}">
                <a16:creationId xmlns:a16="http://schemas.microsoft.com/office/drawing/2014/main" id="{D10C5CBA-71E9-48E1-88BA-1BE046CAC8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9025" y="41433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R$ 1.445.844,71</a:t>
            </a:r>
          </a:p>
        </p:txBody>
      </p:sp>
      <p:sp>
        <p:nvSpPr>
          <p:cNvPr id="85" name="">
            <a:extLst xmlns:a="http://schemas.openxmlformats.org/drawingml/2006/main">
              <a:ext uri="{FF2B5EF4-FFF2-40B4-BE49-F238E27FC236}">
                <a16:creationId xmlns:a16="http://schemas.microsoft.com/office/drawing/2014/main" id="{8DA57FEE-FFD9-48FB-BBD3-F38221F0CB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8725" y="41433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R$ 1.166.709,35</a:t>
            </a:r>
          </a:p>
        </p:txBody>
      </p:sp>
      <p:sp>
        <p:nvSpPr>
          <p:cNvPr id="86" name="">
            <a:extLst xmlns:a="http://schemas.openxmlformats.org/drawingml/2006/main">
              <a:ext uri="{FF2B5EF4-FFF2-40B4-BE49-F238E27FC236}">
                <a16:creationId xmlns:a16="http://schemas.microsoft.com/office/drawing/2014/main" id="{F6FEC0E2-41B6-44CA-BFCE-46D43CBE1D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58425" y="41433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R$ 0,00</a:t>
            </a:r>
          </a:p>
        </p:txBody>
      </p:sp>
      <p:sp>
        <p:nvSpPr>
          <p:cNvPr id="87" name="">
            <a:extLst xmlns:a="http://schemas.openxmlformats.org/drawingml/2006/main">
              <a:ext uri="{FF2B5EF4-FFF2-40B4-BE49-F238E27FC236}">
                <a16:creationId xmlns:a16="http://schemas.microsoft.com/office/drawing/2014/main" id="{C9E8E208-CA4F-411E-ADF7-7ED2AB79A8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19600"/>
            <a:ext cx="109728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8" name="">
            <a:extLst xmlns:a="http://schemas.openxmlformats.org/drawingml/2006/main">
              <a:ext uri="{FF2B5EF4-FFF2-40B4-BE49-F238E27FC236}">
                <a16:creationId xmlns:a16="http://schemas.microsoft.com/office/drawing/2014/main" id="{66EB5DF1-4FC2-4608-9587-C9E60F7EC1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529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9" name="">
            <a:extLst xmlns:a="http://schemas.openxmlformats.org/drawingml/2006/main">
              <a:ext uri="{FF2B5EF4-FFF2-40B4-BE49-F238E27FC236}">
                <a16:creationId xmlns:a16="http://schemas.microsoft.com/office/drawing/2014/main" id="{431245AB-696B-4ADF-9BA3-BC44BF91D0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486275"/>
            <a:ext cx="1276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Flessak</a:t>
            </a:r>
          </a:p>
        </p:txBody>
      </p:sp>
      <p:sp>
        <p:nvSpPr>
          <p:cNvPr id="90" name="">
            <a:extLst xmlns:a="http://schemas.openxmlformats.org/drawingml/2006/main">
              <a:ext uri="{FF2B5EF4-FFF2-40B4-BE49-F238E27FC236}">
                <a16:creationId xmlns:a16="http://schemas.microsoft.com/office/drawing/2014/main" id="{8B0AA9E4-B5EA-4B79-85EC-255DC7700B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4486275"/>
            <a:ext cx="895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Ativo</a:t>
            </a:r>
          </a:p>
        </p:txBody>
      </p:sp>
      <p:sp>
        <p:nvSpPr>
          <p:cNvPr id="91" name="">
            <a:extLst xmlns:a="http://schemas.openxmlformats.org/drawingml/2006/main">
              <a:ext uri="{FF2B5EF4-FFF2-40B4-BE49-F238E27FC236}">
                <a16:creationId xmlns:a16="http://schemas.microsoft.com/office/drawing/2014/main" id="{EDF7646C-0091-4861-AEA9-65F3FD589C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9925" y="44862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R$ 803.178,97</a:t>
            </a:r>
          </a:p>
        </p:txBody>
      </p:sp>
      <p:sp>
        <p:nvSpPr>
          <p:cNvPr id="92" name="">
            <a:extLst xmlns:a="http://schemas.openxmlformats.org/drawingml/2006/main">
              <a:ext uri="{FF2B5EF4-FFF2-40B4-BE49-F238E27FC236}">
                <a16:creationId xmlns:a16="http://schemas.microsoft.com/office/drawing/2014/main" id="{CDF08134-C397-4FDC-9E42-04ADFC759E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44862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R$ 80.317,90</a:t>
            </a:r>
          </a:p>
        </p:txBody>
      </p:sp>
      <p:sp>
        <p:nvSpPr>
          <p:cNvPr id="93" name="">
            <a:extLst xmlns:a="http://schemas.openxmlformats.org/drawingml/2006/main">
              <a:ext uri="{FF2B5EF4-FFF2-40B4-BE49-F238E27FC236}">
                <a16:creationId xmlns:a16="http://schemas.microsoft.com/office/drawing/2014/main" id="{FF9BF83E-3A54-493F-B48E-EA14E02568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9325" y="44862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4C9DFF"/>
                </a:solidFill>
              </a:defRPr>
            </a:pPr>
            <a:r>
              <a:rPr sz="938" b="0">
                <a:solidFill>
                  <a:srgbClr val="4C9DFF"/>
                </a:solidFill>
              </a:rPr>
              <a:t>R$ 722.861,07</a:t>
            </a:r>
          </a:p>
        </p:txBody>
      </p:sp>
      <p:sp>
        <p:nvSpPr>
          <p:cNvPr id="94" name="">
            <a:extLst xmlns:a="http://schemas.openxmlformats.org/drawingml/2006/main">
              <a:ext uri="{FF2B5EF4-FFF2-40B4-BE49-F238E27FC236}">
                <a16:creationId xmlns:a16="http://schemas.microsoft.com/office/drawing/2014/main" id="{A8993DB7-8736-4470-A58B-5055B7B848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9025" y="44862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R$ 803.178,96</a:t>
            </a:r>
          </a:p>
        </p:txBody>
      </p:sp>
      <p:sp>
        <p:nvSpPr>
          <p:cNvPr id="95" name="">
            <a:extLst xmlns:a="http://schemas.openxmlformats.org/drawingml/2006/main">
              <a:ext uri="{FF2B5EF4-FFF2-40B4-BE49-F238E27FC236}">
                <a16:creationId xmlns:a16="http://schemas.microsoft.com/office/drawing/2014/main" id="{F77F1A50-19C9-4F3C-8DA3-5B681D845F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8725" y="44862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R$ 722.861,06</a:t>
            </a:r>
          </a:p>
        </p:txBody>
      </p:sp>
      <p:sp>
        <p:nvSpPr>
          <p:cNvPr id="96" name="">
            <a:extLst xmlns:a="http://schemas.openxmlformats.org/drawingml/2006/main">
              <a:ext uri="{FF2B5EF4-FFF2-40B4-BE49-F238E27FC236}">
                <a16:creationId xmlns:a16="http://schemas.microsoft.com/office/drawing/2014/main" id="{65E9D183-C603-4F49-AB9A-AA67DF4082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58425" y="44862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R$ 0,01</a:t>
            </a:r>
          </a:p>
        </p:txBody>
      </p:sp>
      <p:sp>
        <p:nvSpPr>
          <p:cNvPr id="97" name="">
            <a:extLst xmlns:a="http://schemas.openxmlformats.org/drawingml/2006/main">
              <a:ext uri="{FF2B5EF4-FFF2-40B4-BE49-F238E27FC236}">
                <a16:creationId xmlns:a16="http://schemas.microsoft.com/office/drawing/2014/main" id="{D651E584-0744-48A5-9D31-0B627332E2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958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8" name="">
            <a:extLst xmlns:a="http://schemas.openxmlformats.org/drawingml/2006/main">
              <a:ext uri="{FF2B5EF4-FFF2-40B4-BE49-F238E27FC236}">
                <a16:creationId xmlns:a16="http://schemas.microsoft.com/office/drawing/2014/main" id="{FE6CDC54-3B4C-4340-B586-64DF6F2B3A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829175"/>
            <a:ext cx="1276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Harbin</a:t>
            </a:r>
          </a:p>
        </p:txBody>
      </p:sp>
      <p:sp>
        <p:nvSpPr>
          <p:cNvPr id="99" name="">
            <a:extLst xmlns:a="http://schemas.openxmlformats.org/drawingml/2006/main">
              <a:ext uri="{FF2B5EF4-FFF2-40B4-BE49-F238E27FC236}">
                <a16:creationId xmlns:a16="http://schemas.microsoft.com/office/drawing/2014/main" id="{6B29B3E9-F781-4D38-931C-F77FE7CD2E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4829175"/>
            <a:ext cx="895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Ativo</a:t>
            </a:r>
          </a:p>
        </p:txBody>
      </p:sp>
      <p:sp>
        <p:nvSpPr>
          <p:cNvPr id="100" name="">
            <a:extLst xmlns:a="http://schemas.openxmlformats.org/drawingml/2006/main">
              <a:ext uri="{FF2B5EF4-FFF2-40B4-BE49-F238E27FC236}">
                <a16:creationId xmlns:a16="http://schemas.microsoft.com/office/drawing/2014/main" id="{F92486F5-2BC5-4054-B976-47E07A42DA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9925" y="48291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R$ 80.000,00</a:t>
            </a:r>
          </a:p>
        </p:txBody>
      </p:sp>
      <p:sp>
        <p:nvSpPr>
          <p:cNvPr id="101" name="">
            <a:extLst xmlns:a="http://schemas.openxmlformats.org/drawingml/2006/main">
              <a:ext uri="{FF2B5EF4-FFF2-40B4-BE49-F238E27FC236}">
                <a16:creationId xmlns:a16="http://schemas.microsoft.com/office/drawing/2014/main" id="{E5953ECC-CF2E-4490-9DB1-74CFCC3039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48291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R$ 0,00</a:t>
            </a:r>
          </a:p>
        </p:txBody>
      </p:sp>
      <p:sp>
        <p:nvSpPr>
          <p:cNvPr id="102" name="">
            <a:extLst xmlns:a="http://schemas.openxmlformats.org/drawingml/2006/main">
              <a:ext uri="{FF2B5EF4-FFF2-40B4-BE49-F238E27FC236}">
                <a16:creationId xmlns:a16="http://schemas.microsoft.com/office/drawing/2014/main" id="{C04053DE-F61E-46C6-8E8B-12155F2B91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9325" y="48291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4C9DFF"/>
                </a:solidFill>
              </a:defRPr>
            </a:pPr>
            <a:r>
              <a:rPr sz="938" b="0">
                <a:solidFill>
                  <a:srgbClr val="4C9DFF"/>
                </a:solidFill>
              </a:rPr>
              <a:t>R$ 80.000,00</a:t>
            </a:r>
          </a:p>
        </p:txBody>
      </p:sp>
      <p:sp>
        <p:nvSpPr>
          <p:cNvPr id="103" name="">
            <a:extLst xmlns:a="http://schemas.openxmlformats.org/drawingml/2006/main">
              <a:ext uri="{FF2B5EF4-FFF2-40B4-BE49-F238E27FC236}">
                <a16:creationId xmlns:a16="http://schemas.microsoft.com/office/drawing/2014/main" id="{866B228E-60DA-4176-80FE-7F4ACEBA32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9025" y="48291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R$ 80.000,00</a:t>
            </a:r>
          </a:p>
        </p:txBody>
      </p:sp>
      <p:sp>
        <p:nvSpPr>
          <p:cNvPr id="104" name="">
            <a:extLst xmlns:a="http://schemas.openxmlformats.org/drawingml/2006/main">
              <a:ext uri="{FF2B5EF4-FFF2-40B4-BE49-F238E27FC236}">
                <a16:creationId xmlns:a16="http://schemas.microsoft.com/office/drawing/2014/main" id="{3295504D-1CBE-4DB3-8F24-98640DDC09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8725" y="48291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R$ 80.000,00</a:t>
            </a:r>
          </a:p>
        </p:txBody>
      </p:sp>
      <p:sp>
        <p:nvSpPr>
          <p:cNvPr id="105" name="">
            <a:extLst xmlns:a="http://schemas.openxmlformats.org/drawingml/2006/main">
              <a:ext uri="{FF2B5EF4-FFF2-40B4-BE49-F238E27FC236}">
                <a16:creationId xmlns:a16="http://schemas.microsoft.com/office/drawing/2014/main" id="{9AE26D6A-9FCB-4846-811A-45394EFC9E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58425" y="48291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R$ 0,00</a:t>
            </a:r>
          </a:p>
        </p:txBody>
      </p:sp>
      <p:sp>
        <p:nvSpPr>
          <p:cNvPr id="106" name="">
            <a:extLst xmlns:a="http://schemas.openxmlformats.org/drawingml/2006/main">
              <a:ext uri="{FF2B5EF4-FFF2-40B4-BE49-F238E27FC236}">
                <a16:creationId xmlns:a16="http://schemas.microsoft.com/office/drawing/2014/main" id="{482498CE-60AF-4FFE-AB8F-9F0AC46AD0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05400"/>
            <a:ext cx="109728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7" name="">
            <a:extLst xmlns:a="http://schemas.openxmlformats.org/drawingml/2006/main">
              <a:ext uri="{FF2B5EF4-FFF2-40B4-BE49-F238E27FC236}">
                <a16:creationId xmlns:a16="http://schemas.microsoft.com/office/drawing/2014/main" id="{81131074-B90B-45D0-8D87-2E7B375853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387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8" name="">
            <a:extLst xmlns:a="http://schemas.openxmlformats.org/drawingml/2006/main">
              <a:ext uri="{FF2B5EF4-FFF2-40B4-BE49-F238E27FC236}">
                <a16:creationId xmlns:a16="http://schemas.microsoft.com/office/drawing/2014/main" id="{C0F3AA6C-D549-4C36-A03D-F3C819AD05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172075"/>
            <a:ext cx="1276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ArcelorMittal</a:t>
            </a:r>
          </a:p>
        </p:txBody>
      </p:sp>
      <p:sp>
        <p:nvSpPr>
          <p:cNvPr id="109" name="">
            <a:extLst xmlns:a="http://schemas.openxmlformats.org/drawingml/2006/main">
              <a:ext uri="{FF2B5EF4-FFF2-40B4-BE49-F238E27FC236}">
                <a16:creationId xmlns:a16="http://schemas.microsoft.com/office/drawing/2014/main" id="{9F386347-CA35-4210-9471-8883390DC6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5172075"/>
            <a:ext cx="895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Ativo</a:t>
            </a:r>
          </a:p>
        </p:txBody>
      </p:sp>
      <p:sp>
        <p:nvSpPr>
          <p:cNvPr id="110" name="">
            <a:extLst xmlns:a="http://schemas.openxmlformats.org/drawingml/2006/main">
              <a:ext uri="{FF2B5EF4-FFF2-40B4-BE49-F238E27FC236}">
                <a16:creationId xmlns:a16="http://schemas.microsoft.com/office/drawing/2014/main" id="{0CF72A54-9763-4F11-B1CE-9D1BC6335E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9925" y="51720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R$ 261.601,20</a:t>
            </a:r>
          </a:p>
        </p:txBody>
      </p:sp>
      <p:sp>
        <p:nvSpPr>
          <p:cNvPr id="111" name="">
            <a:extLst xmlns:a="http://schemas.openxmlformats.org/drawingml/2006/main">
              <a:ext uri="{FF2B5EF4-FFF2-40B4-BE49-F238E27FC236}">
                <a16:creationId xmlns:a16="http://schemas.microsoft.com/office/drawing/2014/main" id="{9CB30601-941F-491C-A1DC-32D817D162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51720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R$ 0,00</a:t>
            </a:r>
          </a:p>
        </p:txBody>
      </p:sp>
      <p:sp>
        <p:nvSpPr>
          <p:cNvPr id="112" name="">
            <a:extLst xmlns:a="http://schemas.openxmlformats.org/drawingml/2006/main">
              <a:ext uri="{FF2B5EF4-FFF2-40B4-BE49-F238E27FC236}">
                <a16:creationId xmlns:a16="http://schemas.microsoft.com/office/drawing/2014/main" id="{1D5D6FFE-6B1F-4D54-88DE-F3B86916B7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9325" y="51720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4C9DFF"/>
                </a:solidFill>
              </a:defRPr>
            </a:pPr>
            <a:r>
              <a:rPr sz="938" b="0">
                <a:solidFill>
                  <a:srgbClr val="4C9DFF"/>
                </a:solidFill>
              </a:rPr>
              <a:t>R$ 261.601,20</a:t>
            </a:r>
          </a:p>
        </p:txBody>
      </p:sp>
      <p:sp>
        <p:nvSpPr>
          <p:cNvPr id="113" name="">
            <a:extLst xmlns:a="http://schemas.openxmlformats.org/drawingml/2006/main">
              <a:ext uri="{FF2B5EF4-FFF2-40B4-BE49-F238E27FC236}">
                <a16:creationId xmlns:a16="http://schemas.microsoft.com/office/drawing/2014/main" id="{F7D6C400-6FC3-4CA9-86A4-AB45757C95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9025" y="51720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R$ 261.601,20</a:t>
            </a:r>
          </a:p>
        </p:txBody>
      </p:sp>
      <p:sp>
        <p:nvSpPr>
          <p:cNvPr id="114" name="">
            <a:extLst xmlns:a="http://schemas.openxmlformats.org/drawingml/2006/main">
              <a:ext uri="{FF2B5EF4-FFF2-40B4-BE49-F238E27FC236}">
                <a16:creationId xmlns:a16="http://schemas.microsoft.com/office/drawing/2014/main" id="{2BB83B8D-98EF-4D4D-ACAF-4D3E4CAFDF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8725" y="51720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R$ 261.601,20</a:t>
            </a:r>
          </a:p>
        </p:txBody>
      </p:sp>
      <p:sp>
        <p:nvSpPr>
          <p:cNvPr id="115" name="">
            <a:extLst xmlns:a="http://schemas.openxmlformats.org/drawingml/2006/main">
              <a:ext uri="{FF2B5EF4-FFF2-40B4-BE49-F238E27FC236}">
                <a16:creationId xmlns:a16="http://schemas.microsoft.com/office/drawing/2014/main" id="{EA5D87F5-58F8-4455-BC30-A65EA836FA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58425" y="51720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R$ 0,00</a:t>
            </a:r>
          </a:p>
        </p:txBody>
      </p:sp>
      <p:sp>
        <p:nvSpPr>
          <p:cNvPr id="116" name="">
            <a:extLst xmlns:a="http://schemas.openxmlformats.org/drawingml/2006/main">
              <a:ext uri="{FF2B5EF4-FFF2-40B4-BE49-F238E27FC236}">
                <a16:creationId xmlns:a16="http://schemas.microsoft.com/office/drawing/2014/main" id="{9A6F7BA5-33A9-4B26-ACEC-E048617E87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816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7" name="">
            <a:extLst xmlns:a="http://schemas.openxmlformats.org/drawingml/2006/main">
              <a:ext uri="{FF2B5EF4-FFF2-40B4-BE49-F238E27FC236}">
                <a16:creationId xmlns:a16="http://schemas.microsoft.com/office/drawing/2014/main" id="{437742F1-6EF3-4B9E-AAB3-2FF28BF805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514975"/>
            <a:ext cx="1276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Andritz</a:t>
            </a:r>
          </a:p>
        </p:txBody>
      </p:sp>
      <p:sp>
        <p:nvSpPr>
          <p:cNvPr id="118" name="">
            <a:extLst xmlns:a="http://schemas.openxmlformats.org/drawingml/2006/main">
              <a:ext uri="{FF2B5EF4-FFF2-40B4-BE49-F238E27FC236}">
                <a16:creationId xmlns:a16="http://schemas.microsoft.com/office/drawing/2014/main" id="{C51D7365-24CF-4F2C-844E-4791DFC9E5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5514975"/>
            <a:ext cx="895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Ativo</a:t>
            </a:r>
          </a:p>
        </p:txBody>
      </p:sp>
      <p:sp>
        <p:nvSpPr>
          <p:cNvPr id="119" name="">
            <a:extLst xmlns:a="http://schemas.openxmlformats.org/drawingml/2006/main">
              <a:ext uri="{FF2B5EF4-FFF2-40B4-BE49-F238E27FC236}">
                <a16:creationId xmlns:a16="http://schemas.microsoft.com/office/drawing/2014/main" id="{47DE44FD-00A8-4301-AA34-6517CE4541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9925" y="55149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R$ 80.000,00</a:t>
            </a:r>
          </a:p>
        </p:txBody>
      </p:sp>
      <p:sp>
        <p:nvSpPr>
          <p:cNvPr id="120" name="">
            <a:extLst xmlns:a="http://schemas.openxmlformats.org/drawingml/2006/main">
              <a:ext uri="{FF2B5EF4-FFF2-40B4-BE49-F238E27FC236}">
                <a16:creationId xmlns:a16="http://schemas.microsoft.com/office/drawing/2014/main" id="{14AB3195-0520-4278-93E7-37CCD882B9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55149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R$ 0,00</a:t>
            </a:r>
          </a:p>
        </p:txBody>
      </p:sp>
      <p:sp>
        <p:nvSpPr>
          <p:cNvPr id="121" name="">
            <a:extLst xmlns:a="http://schemas.openxmlformats.org/drawingml/2006/main">
              <a:ext uri="{FF2B5EF4-FFF2-40B4-BE49-F238E27FC236}">
                <a16:creationId xmlns:a16="http://schemas.microsoft.com/office/drawing/2014/main" id="{84443615-9D2D-4FD7-B2B1-E78B66DDC8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9325" y="55149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4C9DFF"/>
                </a:solidFill>
              </a:defRPr>
            </a:pPr>
            <a:r>
              <a:rPr sz="938" b="0">
                <a:solidFill>
                  <a:srgbClr val="4C9DFF"/>
                </a:solidFill>
              </a:rPr>
              <a:t>R$ 80.000,00</a:t>
            </a:r>
          </a:p>
        </p:txBody>
      </p:sp>
      <p:sp>
        <p:nvSpPr>
          <p:cNvPr id="122" name="">
            <a:extLst xmlns:a="http://schemas.openxmlformats.org/drawingml/2006/main">
              <a:ext uri="{FF2B5EF4-FFF2-40B4-BE49-F238E27FC236}">
                <a16:creationId xmlns:a16="http://schemas.microsoft.com/office/drawing/2014/main" id="{21A0B5EC-1DD4-45A3-AB8D-96A22E4098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9025" y="55149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R$ 80.000,00</a:t>
            </a:r>
          </a:p>
        </p:txBody>
      </p:sp>
      <p:sp>
        <p:nvSpPr>
          <p:cNvPr id="123" name="">
            <a:extLst xmlns:a="http://schemas.openxmlformats.org/drawingml/2006/main">
              <a:ext uri="{FF2B5EF4-FFF2-40B4-BE49-F238E27FC236}">
                <a16:creationId xmlns:a16="http://schemas.microsoft.com/office/drawing/2014/main" id="{90D0ACB7-8F3A-4D7D-BBD6-9961077EEE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8725" y="55149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R$ 80.000,00</a:t>
            </a:r>
          </a:p>
        </p:txBody>
      </p:sp>
      <p:sp>
        <p:nvSpPr>
          <p:cNvPr id="124" name="">
            <a:extLst xmlns:a="http://schemas.openxmlformats.org/drawingml/2006/main">
              <a:ext uri="{FF2B5EF4-FFF2-40B4-BE49-F238E27FC236}">
                <a16:creationId xmlns:a16="http://schemas.microsoft.com/office/drawing/2014/main" id="{F1C6C220-1EBD-48B3-82CE-820EAE3ABC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58425" y="55149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R$ 0,00</a:t>
            </a:r>
          </a:p>
        </p:txBody>
      </p:sp>
      <p:sp>
        <p:nvSpPr>
          <p:cNvPr id="125" name="">
            <a:extLst xmlns:a="http://schemas.openxmlformats.org/drawingml/2006/main">
              <a:ext uri="{FF2B5EF4-FFF2-40B4-BE49-F238E27FC236}">
                <a16:creationId xmlns:a16="http://schemas.microsoft.com/office/drawing/2014/main" id="{F221ECC9-4CC5-4401-B85C-678BA5E2C1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1C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6" name="">
            <a:extLst xmlns:a="http://schemas.openxmlformats.org/drawingml/2006/main">
              <a:ext uri="{FF2B5EF4-FFF2-40B4-BE49-F238E27FC236}">
                <a16:creationId xmlns:a16="http://schemas.microsoft.com/office/drawing/2014/main" id="{ACD3BD33-10CE-48E2-8E72-6933EF026B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3A4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7" name="">
            <a:extLst xmlns:a="http://schemas.openxmlformats.org/drawingml/2006/main">
              <a:ext uri="{FF2B5EF4-FFF2-40B4-BE49-F238E27FC236}">
                <a16:creationId xmlns:a16="http://schemas.microsoft.com/office/drawing/2014/main" id="{8CFA8086-7C27-4824-AFBA-9D5CF0C153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857875"/>
            <a:ext cx="1276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1">
                <a:solidFill>
                  <a:srgbClr val="F2FAF9"/>
                </a:solidFill>
              </a:defRPr>
            </a:pPr>
            <a:r>
              <a:rPr sz="938" b="1">
                <a:solidFill>
                  <a:srgbClr val="F2FAF9"/>
                </a:solidFill>
              </a:rPr>
              <a:t>Total da carteira</a:t>
            </a:r>
          </a:p>
        </p:txBody>
      </p:sp>
      <p:sp>
        <p:nvSpPr>
          <p:cNvPr id="128" name="">
            <a:extLst xmlns:a="http://schemas.openxmlformats.org/drawingml/2006/main">
              <a:ext uri="{FF2B5EF4-FFF2-40B4-BE49-F238E27FC236}">
                <a16:creationId xmlns:a16="http://schemas.microsoft.com/office/drawing/2014/main" id="{2240B6F8-D8CF-4307-93B4-E59EF8C5CE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5857875"/>
            <a:ext cx="895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1">
                <a:solidFill>
                  <a:srgbClr val="F2FAF9"/>
                </a:solidFill>
              </a:defRPr>
            </a:pPr>
            <a:r>
              <a:rPr sz="938" b="1">
                <a:solidFill>
                  <a:srgbClr val="F2FAF9"/>
                </a:solidFill>
              </a:rPr>
              <a:t>11 cliente(s)</a:t>
            </a:r>
          </a:p>
        </p:txBody>
      </p:sp>
      <p:sp>
        <p:nvSpPr>
          <p:cNvPr id="129" name="">
            <a:extLst xmlns:a="http://schemas.openxmlformats.org/drawingml/2006/main">
              <a:ext uri="{FF2B5EF4-FFF2-40B4-BE49-F238E27FC236}">
                <a16:creationId xmlns:a16="http://schemas.microsoft.com/office/drawing/2014/main" id="{89DAE0F4-47A2-4804-A618-AFCD3963E4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9925" y="58578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1">
                <a:solidFill>
                  <a:srgbClr val="F2FAF9"/>
                </a:solidFill>
              </a:defRPr>
            </a:pPr>
            <a:r>
              <a:rPr sz="938" b="1">
                <a:solidFill>
                  <a:srgbClr val="F2FAF9"/>
                </a:solidFill>
              </a:rPr>
              <a:t>R$ 410.145.558,79</a:t>
            </a:r>
          </a:p>
        </p:txBody>
      </p:sp>
      <p:sp>
        <p:nvSpPr>
          <p:cNvPr id="130" name="">
            <a:extLst xmlns:a="http://schemas.openxmlformats.org/drawingml/2006/main">
              <a:ext uri="{FF2B5EF4-FFF2-40B4-BE49-F238E27FC236}">
                <a16:creationId xmlns:a16="http://schemas.microsoft.com/office/drawing/2014/main" id="{4ECECE31-40B0-448B-B353-6D3A6E7A71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58578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1">
                <a:solidFill>
                  <a:srgbClr val="F2FAF9"/>
                </a:solidFill>
              </a:defRPr>
            </a:pPr>
            <a:r>
              <a:rPr sz="938" b="1">
                <a:solidFill>
                  <a:srgbClr val="F2FAF9"/>
                </a:solidFill>
              </a:rPr>
              <a:t>R$ 78.997.337,49</a:t>
            </a:r>
          </a:p>
        </p:txBody>
      </p:sp>
      <p:sp>
        <p:nvSpPr>
          <p:cNvPr id="131" name="">
            <a:extLst xmlns:a="http://schemas.openxmlformats.org/drawingml/2006/main">
              <a:ext uri="{FF2B5EF4-FFF2-40B4-BE49-F238E27FC236}">
                <a16:creationId xmlns:a16="http://schemas.microsoft.com/office/drawing/2014/main" id="{5D9248D1-BD53-4DFB-AB3D-F7B76E1660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9325" y="58578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1">
                <a:solidFill>
                  <a:srgbClr val="4C9DFF"/>
                </a:solidFill>
              </a:defRPr>
            </a:pPr>
            <a:r>
              <a:rPr sz="938" b="1">
                <a:solidFill>
                  <a:srgbClr val="4C9DFF"/>
                </a:solidFill>
              </a:rPr>
              <a:t>R$ 331.148.221,30</a:t>
            </a:r>
          </a:p>
        </p:txBody>
      </p:sp>
      <p:sp>
        <p:nvSpPr>
          <p:cNvPr id="132" name="">
            <a:extLst xmlns:a="http://schemas.openxmlformats.org/drawingml/2006/main">
              <a:ext uri="{FF2B5EF4-FFF2-40B4-BE49-F238E27FC236}">
                <a16:creationId xmlns:a16="http://schemas.microsoft.com/office/drawing/2014/main" id="{05BD3839-E505-4A68-BBA6-A1E679E3DC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9025" y="58578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1">
                <a:solidFill>
                  <a:srgbClr val="F2FAF9"/>
                </a:solidFill>
              </a:defRPr>
            </a:pPr>
            <a:r>
              <a:rPr sz="938" b="1">
                <a:solidFill>
                  <a:srgbClr val="F2FAF9"/>
                </a:solidFill>
              </a:rPr>
              <a:t>R$ 64.984.864,72</a:t>
            </a:r>
          </a:p>
        </p:txBody>
      </p:sp>
      <p:sp>
        <p:nvSpPr>
          <p:cNvPr id="133" name="">
            <a:extLst xmlns:a="http://schemas.openxmlformats.org/drawingml/2006/main">
              <a:ext uri="{FF2B5EF4-FFF2-40B4-BE49-F238E27FC236}">
                <a16:creationId xmlns:a16="http://schemas.microsoft.com/office/drawing/2014/main" id="{63223B09-4D48-4259-AF33-60614020A3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8725" y="58578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1">
                <a:solidFill>
                  <a:srgbClr val="F2FAF9"/>
                </a:solidFill>
              </a:defRPr>
            </a:pPr>
            <a:r>
              <a:rPr sz="938" b="1">
                <a:solidFill>
                  <a:srgbClr val="F2FAF9"/>
                </a:solidFill>
              </a:rPr>
              <a:t>R$ 329.983.569,68</a:t>
            </a:r>
          </a:p>
        </p:txBody>
      </p:sp>
      <p:sp>
        <p:nvSpPr>
          <p:cNvPr id="134" name="">
            <a:extLst xmlns:a="http://schemas.openxmlformats.org/drawingml/2006/main">
              <a:ext uri="{FF2B5EF4-FFF2-40B4-BE49-F238E27FC236}">
                <a16:creationId xmlns:a16="http://schemas.microsoft.com/office/drawing/2014/main" id="{42733537-7E0D-431D-AE38-DC97DBD76F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58425" y="58578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1">
                <a:solidFill>
                  <a:srgbClr val="F2FAF9"/>
                </a:solidFill>
              </a:defRPr>
            </a:pPr>
            <a:r>
              <a:rPr sz="938" b="1">
                <a:solidFill>
                  <a:srgbClr val="F2FAF9"/>
                </a:solidFill>
              </a:rPr>
              <a:t>R$ 1.562.144,36</a:t>
            </a:r>
          </a:p>
        </p:txBody>
      </p:sp>
    </p:spTree>
    <p:extLst>
      <p:ext uri="{BB962C8B-B14F-4D97-AF65-F5344CB8AC3E}">
        <p14:creationId xmlns:p14="http://schemas.microsoft.com/office/powerpoint/2010/main" val="733633424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040A1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EF6A50D-6BE1-408D-A0B1-D6A0F68787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47D7EC8-4016-4443-A6FE-5AE32D4403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C582F81-2D93-4D5A-9B70-123145037E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5E7880"/>
                </a:solidFill>
              </a:defRPr>
            </a:pPr>
            <a:r>
              <a:rPr sz="900">
                <a:solidFill>
                  <a:srgbClr val="5E7880"/>
                </a:solidFill>
              </a:rPr>
              <a:t>15 / 15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7026AD1-B23C-4CE5-96CE-4555895198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bd1aa19f8024e57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05F5A31-4398-4932-BA2C-9312DE4890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Dados informados do sistema na Projeção Financeira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9212870-0BB1-4C5C-960F-292F3B75D9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Faturamento vs Folha de Pagamento · v1 · CONFIDENCIAL</a:t>
            </a:r>
          </a:p>
        </p:txBody>
      </p:sp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63d387d2f5340f1"/>
          <a:stretch xmlns:a="http://schemas.openxmlformats.org/drawingml/2006/main"/>
        </p:blipFill>
        <p:spPr>
          <a:xfrm xmlns:a="http://schemas.openxmlformats.org/drawingml/2006/main">
            <a:off x="3143250" y="3037351"/>
            <a:ext cx="5905500" cy="783299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29792415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2026-09-16T16:44:10.1890000Z</dcterms:created>
  <dcterms:modified xsi:type="dcterms:W3CDTF">2026-09-16T16:44:10.1890000Z</dcterms:modified>
</coreProperties>
</file>