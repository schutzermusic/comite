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b64fdd80084455a" /><Relationship Type="http://schemas.openxmlformats.org/officeDocument/2006/relationships/extended-properties" Target="/docProps/app.xml" Id="Re23bbfededc1486d" /><Relationship Type="http://schemas.openxmlformats.org/officeDocument/2006/relationships/officeDocument" Target="/ppt/presentation.xml" Id="R3396035ca5a9464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dda1cf2389647f2"/>
  </p:sldMasterIdLst>
  <p:notesMasterIdLst>
    <p:notesMasterId xmlns:r="http://schemas.openxmlformats.org/officeDocument/2006/relationships" r:id="R8d08af68cf6945f4"/>
  </p:notesMasterIdLst>
  <p:sldIdLst>
    <p:sldId xmlns:r="http://schemas.openxmlformats.org/officeDocument/2006/relationships" id="256" r:id="R21bdb13d51084611"/>
    <p:sldId xmlns:r="http://schemas.openxmlformats.org/officeDocument/2006/relationships" id="257" r:id="R312c63fd47854592"/>
    <p:sldId xmlns:r="http://schemas.openxmlformats.org/officeDocument/2006/relationships" id="258" r:id="R2e01fe456d6740dd"/>
    <p:sldId xmlns:r="http://schemas.openxmlformats.org/officeDocument/2006/relationships" id="259" r:id="Re424adcbfd3e4106"/>
    <p:sldId xmlns:r="http://schemas.openxmlformats.org/officeDocument/2006/relationships" id="260" r:id="R2e3ac73b7c214df1"/>
    <p:sldId xmlns:r="http://schemas.openxmlformats.org/officeDocument/2006/relationships" id="261" r:id="Rbb41ecfe11684aff"/>
    <p:sldId xmlns:r="http://schemas.openxmlformats.org/officeDocument/2006/relationships" id="262" r:id="Red3b8d7540f8484f"/>
    <p:sldId xmlns:r="http://schemas.openxmlformats.org/officeDocument/2006/relationships" id="263" r:id="R2eb6cc7266ed4e49"/>
    <p:sldId xmlns:r="http://schemas.openxmlformats.org/officeDocument/2006/relationships" id="264" r:id="R4211b176a0744a8c"/>
    <p:sldId xmlns:r="http://schemas.openxmlformats.org/officeDocument/2006/relationships" id="265" r:id="R81a9e47456f34a02"/>
    <p:sldId xmlns:r="http://schemas.openxmlformats.org/officeDocument/2006/relationships" id="266" r:id="R33c624479bb94fdd"/>
    <p:sldId xmlns:r="http://schemas.openxmlformats.org/officeDocument/2006/relationships" id="267" r:id="R999f7d6b89924e44"/>
    <p:sldId xmlns:r="http://schemas.openxmlformats.org/officeDocument/2006/relationships" id="268" r:id="R1857a9241a644fae"/>
    <p:sldId xmlns:r="http://schemas.openxmlformats.org/officeDocument/2006/relationships" id="269" r:id="Ra9cf6394e3744c3a"/>
    <p:sldId xmlns:r="http://schemas.openxmlformats.org/officeDocument/2006/relationships" id="270" r:id="Rf0abe68ae5ed497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f10b1520be444b1" /><Relationship Type="http://schemas.openxmlformats.org/officeDocument/2006/relationships/slideMaster" Target="/ppt/slideMasters/slideMaster1.xml" Id="Redda1cf2389647f2" /><Relationship Type="http://schemas.openxmlformats.org/officeDocument/2006/relationships/notesMaster" Target="/ppt/notesMasters/notesMaster1.xml" Id="R8d08af68cf6945f4" /><Relationship Type="http://schemas.openxmlformats.org/officeDocument/2006/relationships/presProps" Target="/ppt/presProps.xml" Id="R6f683b6a07e54dc3" /><Relationship Type="http://schemas.openxmlformats.org/officeDocument/2006/relationships/tableStyles" Target="/ppt/tableStyles.xml" Id="R7b07ddffc9b74efc" /><Relationship Type="http://schemas.openxmlformats.org/officeDocument/2006/relationships/slide" Target="/ppt/slides/slide1.xml" Id="R21bdb13d51084611" /><Relationship Type="http://schemas.openxmlformats.org/officeDocument/2006/relationships/slide" Target="/ppt/slides/slide2.xml" Id="R312c63fd47854592" /><Relationship Type="http://schemas.openxmlformats.org/officeDocument/2006/relationships/slide" Target="/ppt/slides/slide3.xml" Id="R2e01fe456d6740dd" /><Relationship Type="http://schemas.openxmlformats.org/officeDocument/2006/relationships/slide" Target="/ppt/slides/slide4.xml" Id="Re424adcbfd3e4106" /><Relationship Type="http://schemas.openxmlformats.org/officeDocument/2006/relationships/slide" Target="/ppt/slides/slide5.xml" Id="R2e3ac73b7c214df1" /><Relationship Type="http://schemas.openxmlformats.org/officeDocument/2006/relationships/slide" Target="/ppt/slides/slide6.xml" Id="Rbb41ecfe11684aff" /><Relationship Type="http://schemas.openxmlformats.org/officeDocument/2006/relationships/slide" Target="/ppt/slides/slide7.xml" Id="Red3b8d7540f8484f" /><Relationship Type="http://schemas.openxmlformats.org/officeDocument/2006/relationships/slide" Target="/ppt/slides/slide8.xml" Id="R2eb6cc7266ed4e49" /><Relationship Type="http://schemas.openxmlformats.org/officeDocument/2006/relationships/slide" Target="/ppt/slides/slide9.xml" Id="R4211b176a0744a8c" /><Relationship Type="http://schemas.openxmlformats.org/officeDocument/2006/relationships/slide" Target="/ppt/slides/slide10.xml" Id="R81a9e47456f34a02" /><Relationship Type="http://schemas.openxmlformats.org/officeDocument/2006/relationships/slide" Target="/ppt/slides/slide11.xml" Id="R33c624479bb94fdd" /><Relationship Type="http://schemas.openxmlformats.org/officeDocument/2006/relationships/slide" Target="/ppt/slides/slide12.xml" Id="R999f7d6b89924e44" /><Relationship Type="http://schemas.openxmlformats.org/officeDocument/2006/relationships/slide" Target="/ppt/slides/slide13.xml" Id="R1857a9241a644fae" /><Relationship Type="http://schemas.openxmlformats.org/officeDocument/2006/relationships/slide" Target="/ppt/slides/slide14.xml" Id="Ra9cf6394e3744c3a" /><Relationship Type="http://schemas.openxmlformats.org/officeDocument/2006/relationships/slide" Target="/ppt/slides/slide15.xml" Id="Rf0abe68ae5ed497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6871d8386ea412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0b8ed6b1b5246b2" /><Relationship Type="http://schemas.openxmlformats.org/officeDocument/2006/relationships/notesMaster" Target="/ppt/notesMasters/notesMaster1.xml" Id="R4839c286263c4e6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e9b6d475d464206" /><Relationship Type="http://schemas.openxmlformats.org/officeDocument/2006/relationships/notesMaster" Target="/ppt/notesMasters/notesMaster1.xml" Id="Rd60c88d6e68a4cb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d89f74147894ced" /><Relationship Type="http://schemas.openxmlformats.org/officeDocument/2006/relationships/notesMaster" Target="/ppt/notesMasters/notesMaster1.xml" Id="Rb1d6bdedf43447d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dda4b2852c74f58" /><Relationship Type="http://schemas.openxmlformats.org/officeDocument/2006/relationships/notesMaster" Target="/ppt/notesMasters/notesMaster1.xml" Id="R0eb447cb5623444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12f5f91fcbe460c" /><Relationship Type="http://schemas.openxmlformats.org/officeDocument/2006/relationships/notesMaster" Target="/ppt/notesMasters/notesMaster1.xml" Id="Rd19acf0c7bd545c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2a02828ddb24ce3" /><Relationship Type="http://schemas.openxmlformats.org/officeDocument/2006/relationships/notesMaster" Target="/ppt/notesMasters/notesMaster1.xml" Id="Re7a114e0e7214fe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19472ed02a14e07" /><Relationship Type="http://schemas.openxmlformats.org/officeDocument/2006/relationships/notesMaster" Target="/ppt/notesMasters/notesMaster1.xml" Id="R1c55665027cb45e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ee9a15eadd54c00" /><Relationship Type="http://schemas.openxmlformats.org/officeDocument/2006/relationships/notesMaster" Target="/ppt/notesMasters/notesMaster1.xml" Id="R479543f2dcf5431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0e2051c2ebe4ba1" /><Relationship Type="http://schemas.openxmlformats.org/officeDocument/2006/relationships/notesMaster" Target="/ppt/notesMasters/notesMaster1.xml" Id="R2640cd80fcc043e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54498f557274e1d" /><Relationship Type="http://schemas.openxmlformats.org/officeDocument/2006/relationships/notesMaster" Target="/ppt/notesMasters/notesMaster1.xml" Id="R26636aa9f68b451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89a4a8b8a6d4a0d" /><Relationship Type="http://schemas.openxmlformats.org/officeDocument/2006/relationships/notesMaster" Target="/ppt/notesMasters/notesMaster1.xml" Id="Rfd95bc5c7e4c461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30df780c23d4fda" /><Relationship Type="http://schemas.openxmlformats.org/officeDocument/2006/relationships/notesMaster" Target="/ppt/notesMasters/notesMaster1.xml" Id="R2c9248040a28498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3a9bc95a85047f5" /><Relationship Type="http://schemas.openxmlformats.org/officeDocument/2006/relationships/notesMaster" Target="/ppt/notesMasters/notesMaster1.xml" Id="R548ad2ada48a418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a0990e2c2964c03" /><Relationship Type="http://schemas.openxmlformats.org/officeDocument/2006/relationships/notesMaster" Target="/ppt/notesMasters/notesMaster1.xml" Id="R58fa87e3bfc041e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c9b6f5086c645ef" /><Relationship Type="http://schemas.openxmlformats.org/officeDocument/2006/relationships/notesMaster" Target="/ppt/notesMasters/notesMaster1.xml" Id="R0bef5d0ba471482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Use o roteiro para combinar o tempo de cada bloco antes de entrar nos números.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- 31 competência(s) com valor realizado e 29 com previsão. Realizado e previsto permanecem identificados separadamente em todas as séries.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Traço contínuo: valores fechados. Traço tracejado: projeção ancorada na última competência realizada.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trajetória acumulada mantém-se positiva em todo o recorte e fecha em R$ 421,6 mi.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Nenhuma competência do recorte fecha com saldo mensal negativo.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Cada série identifica o cliente que compõe o faturamento previsto.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Base contratual usada para limitar e distribuir a projeção.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Seguimos comprometidos com uma execução disciplinada, crescimento sustentável e geração consistente de valor para nossos investidores.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4281b9c49c40e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2b7d0d7d74948b5" /><Relationship Type="http://schemas.openxmlformats.org/officeDocument/2006/relationships/slideLayout" Target="/ppt/slideLayouts/slideLayout1.xml" Id="Rf7d5d78edd1a400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7d5d78edd1a400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de6f4c84ca47ac" /><Relationship Type="http://schemas.openxmlformats.org/officeDocument/2006/relationships/image" Target="/ppt/media/image.png" Id="Rd6401be849ff41bf" /><Relationship Type="http://schemas.openxmlformats.org/officeDocument/2006/relationships/image" Target="/ppt/media/image2.png" Id="Rd890457448034b30" /><Relationship Type="http://schemas.openxmlformats.org/officeDocument/2006/relationships/notesSlide" Target="/ppt/notesSlides/notesSlide1.xml" Id="Rc40efa10c42f4c3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1b9a4251bf4b6b" /><Relationship Type="http://schemas.openxmlformats.org/officeDocument/2006/relationships/image" Target="/ppt/media/image3.png" Id="Rf21ea15da3b34fd4" /><Relationship Type="http://schemas.openxmlformats.org/officeDocument/2006/relationships/notesSlide" Target="/ppt/notesSlides/notesSlide2.xml" Id="R2a2edef0ad5642a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fdbbe9f0f64d6f" /><Relationship Type="http://schemas.openxmlformats.org/officeDocument/2006/relationships/image" Target="/ppt/media/image4.png" Id="R6203edbc7844485a" /><Relationship Type="http://schemas.openxmlformats.org/officeDocument/2006/relationships/image" Target="/ppt/media/image5.png" Id="R5058548a62094a21" /><Relationship Type="http://schemas.openxmlformats.org/officeDocument/2006/relationships/image" Target="/ppt/media/image.svg" Id="R007a3eb685dc4079" /><Relationship Type="http://schemas.openxmlformats.org/officeDocument/2006/relationships/notesSlide" Target="/ppt/notesSlides/notesSlide3.xml" Id="R1d46fc4fffe94b7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57c3deeb9c4fad" /><Relationship Type="http://schemas.openxmlformats.org/officeDocument/2006/relationships/image" Target="/ppt/media/image6.png" Id="R002e425a725e42bc" /><Relationship Type="http://schemas.openxmlformats.org/officeDocument/2006/relationships/image" Target="/ppt/media/image7.png" Id="Re06e84ef25054f0b" /><Relationship Type="http://schemas.openxmlformats.org/officeDocument/2006/relationships/image" Target="/ppt/media/image2.svg" Id="R17ff7d8b27934a77" /><Relationship Type="http://schemas.openxmlformats.org/officeDocument/2006/relationships/notesSlide" Target="/ppt/notesSlides/notesSlide4.xml" Id="Rcf5e7dfa19404d7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aea76dffd9433b" /><Relationship Type="http://schemas.openxmlformats.org/officeDocument/2006/relationships/image" Target="/ppt/media/image8.png" Id="R8537b7aaf5914dc2" /><Relationship Type="http://schemas.openxmlformats.org/officeDocument/2006/relationships/image" Target="/ppt/media/image9.png" Id="R422509a2f4da4e1a" /><Relationship Type="http://schemas.openxmlformats.org/officeDocument/2006/relationships/image" Target="/ppt/media/image3.svg" Id="R06c80f4e61d8442a" /><Relationship Type="http://schemas.openxmlformats.org/officeDocument/2006/relationships/notesSlide" Target="/ppt/notesSlides/notesSlide5.xml" Id="R661be25dc06c40e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7bb83932104379" /><Relationship Type="http://schemas.openxmlformats.org/officeDocument/2006/relationships/image" Target="/ppt/media/image10.png" Id="R832b59373f384edd" /><Relationship Type="http://schemas.openxmlformats.org/officeDocument/2006/relationships/image" Target="/ppt/media/image11.png" Id="R528419ca23904504" /><Relationship Type="http://schemas.openxmlformats.org/officeDocument/2006/relationships/image" Target="/ppt/media/image4.svg" Id="R9b2a6bb8043c4475" /><Relationship Type="http://schemas.openxmlformats.org/officeDocument/2006/relationships/notesSlide" Target="/ppt/notesSlides/notesSlide6.xml" Id="Rd142111c0fbb40c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ee9c9de15f4601" /><Relationship Type="http://schemas.openxmlformats.org/officeDocument/2006/relationships/image" Target="/ppt/media/image12.png" Id="Rd6d96d2e1a224314" /><Relationship Type="http://schemas.openxmlformats.org/officeDocument/2006/relationships/image" Target="/ppt/media/image13.png" Id="R7e3afcca1f6a4596" /><Relationship Type="http://schemas.openxmlformats.org/officeDocument/2006/relationships/image" Target="/ppt/media/image5.svg" Id="Rf3f3d71a8e264098" /><Relationship Type="http://schemas.openxmlformats.org/officeDocument/2006/relationships/notesSlide" Target="/ppt/notesSlides/notesSlide7.xml" Id="Rf88dd4af015d42c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495640a49c41e4" /><Relationship Type="http://schemas.openxmlformats.org/officeDocument/2006/relationships/image" Target="/ppt/media/image14.png" Id="R2f3e9df9ef6d4cbc" /><Relationship Type="http://schemas.openxmlformats.org/officeDocument/2006/relationships/image" Target="/ppt/media/image15.png" Id="R893b4aa3485c49db" /><Relationship Type="http://schemas.openxmlformats.org/officeDocument/2006/relationships/image" Target="/ppt/media/image6.svg" Id="R6c2288ab775d46bb" /><Relationship Type="http://schemas.openxmlformats.org/officeDocument/2006/relationships/notesSlide" Target="/ppt/notesSlides/notesSlide8.xml" Id="R06d95dbc1452402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d1930ae249445a" /><Relationship Type="http://schemas.openxmlformats.org/officeDocument/2006/relationships/image" Target="/ppt/media/image16.png" Id="R8058ea929fa54d65" /><Relationship Type="http://schemas.openxmlformats.org/officeDocument/2006/relationships/notesSlide" Target="/ppt/notesSlides/notesSlide9.xml" Id="R3c20a5da2c694a6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8d90a14ecc47a1" /><Relationship Type="http://schemas.openxmlformats.org/officeDocument/2006/relationships/image" Target="/ppt/media/image17.png" Id="R624abace47924878" /><Relationship Type="http://schemas.openxmlformats.org/officeDocument/2006/relationships/notesSlide" Target="/ppt/notesSlides/notesSlide10.xml" Id="Rfb6902f394704fa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e94431977841ac" /><Relationship Type="http://schemas.openxmlformats.org/officeDocument/2006/relationships/image" Target="/ppt/media/image18.png" Id="Rdff8584c25c744d2" /><Relationship Type="http://schemas.openxmlformats.org/officeDocument/2006/relationships/notesSlide" Target="/ppt/notesSlides/notesSlide11.xml" Id="R1eb078f6e55a42a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7b9babddf24cd1" /><Relationship Type="http://schemas.openxmlformats.org/officeDocument/2006/relationships/image" Target="/ppt/media/image19.png" Id="R358fa47495334af5" /><Relationship Type="http://schemas.openxmlformats.org/officeDocument/2006/relationships/notesSlide" Target="/ppt/notesSlides/notesSlide12.xml" Id="Rd0616beb67df4dd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54b247a6764bef" /><Relationship Type="http://schemas.openxmlformats.org/officeDocument/2006/relationships/image" Target="/ppt/media/image20.png" Id="Rd66591bae16b4f6a" /><Relationship Type="http://schemas.openxmlformats.org/officeDocument/2006/relationships/notesSlide" Target="/ppt/notesSlides/notesSlide13.xml" Id="R87b04975ab804f0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50296359d44892" /><Relationship Type="http://schemas.openxmlformats.org/officeDocument/2006/relationships/image" Target="/ppt/media/image21.png" Id="R1d19af43e2be4e68" /><Relationship Type="http://schemas.openxmlformats.org/officeDocument/2006/relationships/notesSlide" Target="/ppt/notesSlides/notesSlide14.xml" Id="R303a0ef75339441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3f81db5eda4481" /><Relationship Type="http://schemas.openxmlformats.org/officeDocument/2006/relationships/image" Target="/ppt/media/image22.png" Id="R8ee3386ba7994d09" /><Relationship Type="http://schemas.openxmlformats.org/officeDocument/2006/relationships/image" Target="/ppt/media/image23.png" Id="R0088772f853f4553" /><Relationship Type="http://schemas.openxmlformats.org/officeDocument/2006/relationships/notesSlide" Target="/ppt/notesSlides/notesSlide15.xml" Id="Rfe2b0063939047f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3DCC46-64D8-4E8D-9176-48DD0EAA3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434594-7760-40ED-B0B0-A70401147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F26378-3ED8-446C-98FC-38D513539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401be849ff41bf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62285A-7727-4EAA-9F46-2833D0862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0E7A84-5F3C-4E4E-831E-09F726A99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90457448034b30"/>
          <a:stretch xmlns:a="http://schemas.openxmlformats.org/drawingml/2006/main"/>
        </p:blipFill>
        <p:spPr>
          <a:xfrm xmlns:a="http://schemas.openxmlformats.org/drawingml/2006/main">
            <a:off x="609600" y="685800"/>
            <a:ext cx="3303330" cy="4381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BFD303-C836-4145-8FA0-A442E7E5B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762000"/>
            <a:ext cx="1866900" cy="285750"/>
          </a:xfrm>
          <a:prstGeom xmlns:a="http://schemas.openxmlformats.org/drawingml/2006/main" prst="roundRect">
            <a:avLst>
              <a:gd name="adj" fmla="val 4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40966C-6E6F-428E-BD6E-AC1A35734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828675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0874A"/>
                </a:solidFill>
              </a:defRPr>
            </a:pPr>
            <a:r>
              <a:rPr sz="900" b="1">
                <a:solidFill>
                  <a:srgbClr val="00874A"/>
                </a:solidFill>
              </a:rPr>
              <a:t>CONFIDENCIAL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39A7F8-31E3-4529-9593-FE7CB866C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9525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B1A20"/>
                </a:solidFill>
              </a:defRPr>
            </a:pPr>
            <a:r>
              <a:rPr sz="3900" b="1">
                <a:solidFill>
                  <a:srgbClr val="0B1A20"/>
                </a:solidFill>
              </a:rPr>
              <a:t>Relatório de Faturamento vs Folha de Pagamento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B80C5B-07B1-457F-9B7D-0D6F6CABA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PERÍODO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BE5414-2A07-4053-9032-B8B5DF690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jan de 24 — dez de 28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62B725-D6BC-44F7-9BE1-CB85DBF0C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856C88-0443-4D4F-8721-21862C52C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30-07-2026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BDB1A5-DD49-46F1-B0A6-F8302B773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PREPARADO POR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A5BA09-6B6B-42A1-A26A-838DB8B49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Sergio Fagundes</a:t>
            </a:r>
          </a:p>
        </p:txBody>
      </p:sp>
    </p:spTree>
    <p:extLst>
      <p:ext uri="{BB962C8B-B14F-4D97-AF65-F5344CB8AC3E}">
        <p14:creationId xmlns:p14="http://schemas.microsoft.com/office/powerpoint/2010/main" val="505767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26DC063-8D64-49B5-9223-E2D3349B7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9D8CDE-FA59-4340-B6C5-E413B1EB2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10BF3B-AD0D-41D9-BC9B-474A567C3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ROTEIRO DA APRESENTAÇÃO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BEE534-BF66-4ADE-88E6-5A45B9725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F32885-DB2D-4D6F-A426-70D402BBE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1ea15da3b34fd4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8F1D31-CC7E-45EF-8B7E-FF84765E8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E85721-1796-411E-A389-1AFC01EBC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E231B9-35C4-4A63-BCA4-640244C8A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O que esta leitura cobre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94BFEB-C73D-4849-AC9D-DB45BD3CD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2DC0DC-906F-489D-A750-86EF2F5FB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D5B9D7-68B4-471C-AC63-17F1EE2A9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Síntese executiva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BCB5BD-B904-405A-8723-3FF151802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Cobertura, saldo e os sinais que resumem 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FBFF19-DBCC-4416-AD2D-10CFAFDFB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F8D7BE-43A0-4C47-93B7-4284B4CD2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386129-B4FF-44AD-B083-68437D91D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Evolução mensal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4FAE3D-C0B3-4C73-A6E2-5666A8CB4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Receita e folha competência a competência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4C6004-0D61-49B5-B22D-CBEC28767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44EBE2-BC18-4413-9C8B-EBA5DAD74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A97E66-6F04-43C2-BE4C-27B8FC6F0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Curva mensal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28746D-1274-4837-B321-53225640C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Valores de cada competência, sem acumulação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A786E7-3C01-44C6-A319-12DE8CF67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50DFEF-3C8D-457A-8434-6F27868F2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7AB1C4-4ADC-4AED-9FB9-03083A9CD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Curva S acumulada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C69A628-31D8-4D4B-98F0-438C9F108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Trajetória acumulada e zona de previsão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C5C564-AB7C-4788-B139-931324CB1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28DF877-1E5F-430B-ABD7-27AB6A34D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262331F-DC0F-4999-A602-669BA6492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Saldo e acumulado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6C50EE7-B9EE-4AC6-93E3-D1C9AC103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Onde o período gera e onde consome resultado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1134C15-4B60-4FAA-99ED-B35781A35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0C29C80-C9A0-4A04-B608-38CFB9B77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24815D4-5AE0-4216-847E-F4F547B45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Projeção por cliente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FA78042-0D37-4C96-857A-7A75DC902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Composição do faturamento projetado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BCDE74C-DA1A-4DDC-A7D4-F16851E18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1675D15-34F8-4EC2-8214-7138F7CCF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A3CEAB7-8A45-4AD1-B9B3-D291FAE44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Base mensal informada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4565F50-23B0-42B4-B5DF-C718B5EDE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Todos os valores por trás dos gráficos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8D4B163-F915-4026-BFFC-DD947E420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C7B511F-3E59-4F2A-BA6B-53C97EDCF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4F30378-9502-4F59-9A71-ED82A0FDC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Carteira e recebíveis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A15C342-3A37-4AEB-9DB5-1F63133B7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Backlog que sustenta a projeção</a:t>
            </a:r>
          </a:p>
        </p:txBody>
      </p:sp>
    </p:spTree>
    <p:extLst>
      <p:ext uri="{BB962C8B-B14F-4D97-AF65-F5344CB8AC3E}">
        <p14:creationId xmlns:p14="http://schemas.microsoft.com/office/powerpoint/2010/main" val="108560065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42E7C1C6-6270-461C-A643-EC854F716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98930C-3B04-4BF1-A5A7-1CAAA9EAE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C0B343-FE76-4652-BF54-95829DCBB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SÍNTESE EXECUTIVA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31FE18-1F24-4663-8AB3-43D4E4A05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08A5BC-7BA5-4D82-8355-C49275C21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03edbc7844485a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63EEC7-AD7D-4D57-B71E-46EB594C6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55E9AD-8101-47D1-BDE2-4E8C4234D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B2E18A-365B-4C99-9A57-6BEF4AC49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7543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75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B1A20"/>
                </a:solidFill>
              </a:defRPr>
            </a:pPr>
            <a:r>
              <a:rPr sz="2400" b="1">
                <a:solidFill>
                  <a:srgbClr val="0B1A20"/>
                </a:solidFill>
              </a:rPr>
              <a:t>A receita do período cobre 5,44x o custo de folha informado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EEE9A2-1310-4CBD-863D-F6BAF31C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26383F"/>
                </a:solidFill>
              </a:defRPr>
            </a:pPr>
            <a:r>
              <a:rPr sz="1200">
                <a:solidFill>
                  <a:srgbClr val="26383F"/>
                </a:solidFill>
              </a:rPr>
              <a:t>A receita consolidada sustenta a estrutura atual e a carteira prevista amplia a cobertura da folha ao longo do horizonte projetado.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12DDF7-0252-442B-B4FB-622699464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7543800" cy="1390650"/>
          </a:xfrm>
          <a:prstGeom xmlns:a="http://schemas.openxmlformats.org/drawingml/2006/main" prst="roundRect">
            <a:avLst>
              <a:gd name="adj" fmla="val 821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77548F-F456-4ECA-A4F8-E62583C6F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B6CD93-C5BD-4603-A52E-07670AE48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617B33-A8DE-490C-87ED-88827BCFB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E716C9-EDDD-4027-A0FF-464C31CA3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094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8D9EAA-2B82-42D3-AE0C-3EF792798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414F4E-C1DA-4ECE-8171-83F2D2A7A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09EDF4-46FF-421B-AB1A-49A9BC24F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874A"/>
                </a:solidFill>
              </a:defRPr>
            </a:pPr>
            <a:r>
              <a:rPr sz="1950" b="1">
                <a:solidFill>
                  <a:srgbClr val="00874A"/>
                </a:solidFill>
              </a:rPr>
              <a:t>R$ 191,6 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89A293-1E8C-4796-B5DA-B33A42B54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31 competência(s)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EBE519-E090-43A7-A223-BB220C500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1269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53586A-35A5-4EBA-8CB3-2922B171A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6138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CE0187-E6E5-458D-B7D1-5BED9209E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C306EB-DDC0-4EF7-BBFB-5B603502C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394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C253635-F0C2-43C5-89F9-4D36BECFC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D4ED8"/>
                </a:solidFill>
              </a:defRPr>
            </a:pPr>
            <a:r>
              <a:rPr sz="1950" b="1">
                <a:solidFill>
                  <a:srgbClr val="1D4ED8"/>
                </a:solidFill>
              </a:rPr>
              <a:t>R$ 325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187676-D7C6-496E-9BD1-D2C78598A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63% da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C04A3C9-4292-4B07-8F49-C7494AF7B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5313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69E116-A178-426B-A382-889D60B59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0181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B8B1A9A-C200-4D34-AF12-DA4CFC271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8386017-95FF-409E-BF47-FA14414BD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438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TOTAL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2629144-BEBB-49F4-839D-074689727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B45309"/>
                </a:solidFill>
              </a:defRPr>
            </a:pPr>
            <a:r>
              <a:rPr sz="1950" b="1">
                <a:solidFill>
                  <a:srgbClr val="B45309"/>
                </a:solidFill>
              </a:rPr>
              <a:t>R$ 95 mi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B57BD40-7195-41D0-9F4A-6FF391722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fechada + projetada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65E60AD-9CE2-426E-8387-F1E7F7FD9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356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57D0493-D39F-470B-84D9-720CE90CC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4225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7589D42-BF10-444C-99FC-0E9752864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CEDD976-8FFD-4A4E-8E1E-273283A9C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7481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 ACUMULADO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BB3D197-1EF4-4771-9EBC-6878202BE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874A"/>
                </a:solidFill>
              </a:defRPr>
            </a:pPr>
            <a:r>
              <a:rPr sz="1950" b="1">
                <a:solidFill>
                  <a:srgbClr val="00874A"/>
                </a:solidFill>
              </a:rPr>
              <a:t>R$ 421,6 mi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39D1937-3BB0-4DCC-8D50-EB28DF43C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no fecho do recorte</a:t>
            </a:r>
          </a:p>
        </p:txBody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58548a62094a21">
            <a:extLst>
              <a:ext uri="{96DAC541-7B7A-43D3-8B79-37D633B846F1}">
                <asvg:svgBlip xmlns:asvg="http://schemas.microsoft.com/office/drawing/2016/SVG/main" r:embed="R007a3eb685dc407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724900" y="1428750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A1D240D-C6E3-40F3-B1C4-945CA87D9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338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COBERTURA RECEITA / FOLHA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7F63400-8AC0-4E16-904C-DB822B1D8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4335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Marca central do arco = ponto de equilíbrio (1,00x). +444 p.p. em relação ao equilíbrio.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25651A9-D30D-4354-BF1D-EDDBC0296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1676400"/>
          </a:xfrm>
          <a:prstGeom xmlns:a="http://schemas.openxmlformats.org/drawingml/2006/main" prst="roundRect">
            <a:avLst>
              <a:gd name="adj" fmla="val 6818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6229066-60F7-45C3-8A2C-23C1AFBCC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7377EE0-D3F0-4FAB-B9D0-3E5045F71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7150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742939E-6E26-4EB9-AD98-A3368219B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22A3C94-53C4-4FD0-90DB-62961B270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4979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42ABA7C-5C25-49DC-A4ED-07AD5CFD6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435552D-136C-4454-A612-DDF45633F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COBERTURA RECEITA / FOLHA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65BF4BC-A0AA-467B-9F81-3742C3FE4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ECF8658-72BD-41E2-BC34-34824172B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CF50E33-2149-49D0-9E9A-51D532CE3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5,44x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A762639-3E37-4D81-B00A-1F322388C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Razão entre a receita total e a folha total do recorte informado.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23724C4-6453-4707-89A4-0A8E6879A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8519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5367C7F-B667-49B5-91EC-D231525A1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73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C98D27A-6952-4B6B-A91D-67BC8CF6F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4A94EA0-78E3-4481-BBAE-826BF352F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6644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 ACUMULADO NO FECHO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6DEB182-0605-4930-A3BE-8A84EB19D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6758F44-FBF8-4335-B74E-8650900FE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905AF88-9BF2-491B-B8A0-21828E72E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R$ 421,6 mi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6D588A1-9E83-4519-958C-FF64117AB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Diferença acumulada entre receita e folha ao fim de 60 competências.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CC5F786-4AB3-4DBA-9CF9-D1297F828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9813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4317F2F-B944-4E44-A944-037919CD7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7566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934406D-AB8B-4ED3-81F1-A29EFD311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36AD070-DF31-4307-9F3B-0D9D03A0D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MÊS MAIS APERTADO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B714689-A341-46E7-AA24-789791CE2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EB31105-045D-4418-881E-9194C606D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B45309"/>
                </a:solidFill>
              </a:defRPr>
            </a:pPr>
            <a:r>
              <a:rPr sz="675" b="1">
                <a:solidFill>
                  <a:srgbClr val="B45309"/>
                </a:solidFill>
              </a:rPr>
              <a:t>MONITORAR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4CE77A2-D81C-4B4E-B5E3-C4DCB21C3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B45309"/>
                </a:solidFill>
              </a:defRPr>
            </a:pPr>
            <a:r>
              <a:rPr sz="1425" b="1">
                <a:solidFill>
                  <a:srgbClr val="B45309"/>
                </a:solidFill>
              </a:rPr>
              <a:t>fev de 26 · 1,39x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9D2F0E5-8C61-4888-85B9-A4CE4445B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Menor cobertura mensal do recorte.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A1B764FE-DAC3-49DE-B2B0-1EE0F9FCC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106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CC38AD4-4A19-4AC4-87D8-718C48E1C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8860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6685A76A-C2DD-4CA7-BB34-CAD4A69F6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FBC7B076-E8B9-4C89-AC26-BC8A05606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231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PICO DE RECEITA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05132BCA-6A04-43FD-BD53-C29EABED6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1CFEBC4-7B91-4784-A882-244B2A174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9452388-0D2F-4013-8B43-2E56B7758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dez de 28 · R$ 15 mi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6857E418-BA6C-4EA3-95BE-4B440F723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Maior receita mensal (realizada + prevista) do recorte.</a:t>
            </a:r>
          </a:p>
        </p:txBody>
      </p:sp>
    </p:spTree>
    <p:extLst>
      <p:ext uri="{BB962C8B-B14F-4D97-AF65-F5344CB8AC3E}">
        <p14:creationId xmlns:p14="http://schemas.microsoft.com/office/powerpoint/2010/main" val="167651155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60E4CF9-4A9F-4EE7-8879-32DBE46DC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1FE50C-4B41-49D8-B352-B1552918E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6C1027-0919-4745-99C7-01D6701DE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EVOLUÇÃO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543087-EA00-4E6A-8AA9-2F1A8C871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BD99D7-30C4-4ADA-8092-F4119BE74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2e425a725e42bc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3C6496-7760-4586-9533-7B6277C23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AE3ADD-A9E2-4214-B3CA-EA34634D2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B362CE-39B8-49AD-9826-249221EE7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Receita e folha, competência a competência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123CD1-386C-469A-B59D-B1AC8FE1C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31 competência(s) com valor realizado e 29 com previsão. Realizado e previsto permanecem identificados separadamente em todas as séries.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EF1738-C9C5-42C6-8DFC-C8B001FC0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6e84ef25054f0b">
            <a:extLst>
              <a:ext uri="{96DAC541-7B7A-43D3-8B79-37D633B846F1}">
                <asvg:svgBlip xmlns:asvg="http://schemas.microsoft.com/office/drawing/2016/SVG/main" r:embed="R17ff7d8b27934a7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77CCE4-C93D-497E-91F8-48D2AF2C2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DBC418-FCF0-4E9B-85D7-D6E730BD4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24100E-74D6-41BB-BAE4-D01FB7130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1D4E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B2BB12-C555-4A99-98D1-62AC6D2DF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904268-1BB3-4763-AC75-DFF2FB563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8DBFFB-C231-44FB-A1D7-53D65014C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8958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fechada + encargos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64C1B2-B320-4791-81A9-88BEB4C65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B4530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ACCF49-60DE-4F52-865C-2E7FC95C5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projetada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EE6544-9F2B-4630-8E91-D53AA5992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6D7C1D2-F81D-449E-BB7E-F2D836ADB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RECEITA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765770-E44B-4BD3-8543-0483DFE09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dez de 28 · R$ 15 mi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FFD64D2-6248-41E1-8477-B0934A053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FOLHA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893EBD8-68A2-4147-8802-56DFEF37E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R$ 3,4 mi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9ABDBD3-7894-4C72-9D0B-A71DCBDCE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MÊS MAIS APERTADO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FE07624-57C2-4922-8D60-67AFF595D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1,39x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B5EF7D-C835-4810-88F8-5BDFABE48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SALDO MENSAL MÉDIO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912B48-0314-47A6-8138-A8DF00FA6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R$ 7 mi</a:t>
            </a:r>
          </a:p>
        </p:txBody>
      </p:sp>
    </p:spTree>
    <p:extLst>
      <p:ext uri="{BB962C8B-B14F-4D97-AF65-F5344CB8AC3E}">
        <p14:creationId xmlns:p14="http://schemas.microsoft.com/office/powerpoint/2010/main" val="117798701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BE281AA-0D2C-43EC-934B-F74372E59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2FFAE1-D272-4D98-B77D-C5B02FC1B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7F4870-05FE-496F-87AC-EBF4482F6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CURVA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8B3BDF-EFC3-4926-887F-F9F3A5424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05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77CFC3-5CFA-44C7-AFFF-4CEB5F78E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37b7aaf5914dc2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515AE2-E4B5-440F-B50D-5EA7475FA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27340A-19B8-4F48-92EE-5CC456B9D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DC9309-4D7E-40C0-B13A-CFCBD4432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Valores de cada competência, sem acumulação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45E0C7-FB78-42EB-8502-270E13ABD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leitura mês a mês da receita e da folha: onde cada uma sobe, onde recua e a partir de quando passam a ser projeção.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F5388B-DA49-49FD-ADEE-2EEBD099F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2509a2f4da4e1a">
            <a:extLst>
              <a:ext uri="{96DAC541-7B7A-43D3-8B79-37D633B846F1}">
                <asvg:svgBlip xmlns:asvg="http://schemas.microsoft.com/office/drawing/2016/SVG/main" r:embed="R06c80f4e61d8442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23154B-BE8D-402A-81DF-A0D09926F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FE9D1E-4AFB-45BC-8C56-AEFE11811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857ABA-079D-405B-9D63-BB9007FF6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2EBE9E-50F9-44EC-A4A0-293B2F609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99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FAF21A-779B-42DC-9AE5-44C2E9128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6672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DAE621-E0D4-419F-8226-9D7D8D389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87B480-9F8F-4BF0-82EB-9DE480888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6672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fechada + encargos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0BFFEF-D6A4-4C9A-B22C-304BAAC1C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0A3D323-107E-4BB8-9A02-1978B73C7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3F5CC8-9440-4AD7-AECA-B17D9ED6D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672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projetada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6CB3A0-AF85-46D3-BBFD-FBB3A3966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Traço contínuo: valores fechados. Traço tracejado: projeção, ancorada na última competência realizada.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26CC58-37BF-4801-9614-6705787F5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8E805A-F5BA-4CCF-9A79-EEAFBF050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8854D56-F4C3-4C9E-808B-16A745247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dez de 28 · R$ 15 mi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0BC6575-16B5-41FD-84A0-5A4F9277B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FOLHA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5A6FB25-693F-4C89-82DE-EBF72480C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R$ 3,4 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B639307-18E6-4E3E-B607-3E2B2B79D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REALIZADAS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CEDE08C-85FF-4756-87FB-88E537753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31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D9952F7-1170-475C-B8E3-F1BA62509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PROJETADAS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7DE4BE7-A1DB-4B77-B9C5-E4DD54FDA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92613379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E0B0CB1-E716-46D2-8193-BB622DDEC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218501-5CCF-47E5-9473-9EBCC8953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411C07-0284-4314-9DF5-3685D8709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CURVA S ACUMULADA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4D2D21-0005-44AB-A9D4-B720326E6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06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E33D4C-A21C-4C3A-B073-1971E9857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2b59373f384edd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6878C8-7A54-4B43-9AE8-8AD3F80EA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A48C60-DB49-495F-B013-F700CC53E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F28AEC-2932-40AA-A987-8BD4FE5D6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A trajetória acumulada do período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B51A57-603E-49B3-8C88-778DCCBA1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trajetória acumulada mantém-se positiva em todo o recorte e fecha em R$ 421,6 mi.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FB2657-545F-4772-B43B-7F57F122A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8419ca23904504">
            <a:extLst>
              <a:ext uri="{96DAC541-7B7A-43D3-8B79-37D633B846F1}">
                <asvg:svgBlip xmlns:asvg="http://schemas.microsoft.com/office/drawing/2016/SVG/main" r:embed="R9b2a6bb8043c447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1A2507-1DF4-4756-8792-AADFE40ED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29ABED-6211-45EB-8871-854AD905F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acumulado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34B6C4-3A02-4F85-8BD2-B42BE1D6C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E8CD36-6564-4577-A213-467FA8C55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acumulada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AFDAFF-975A-4D6F-8C7C-23AD53F9E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090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F88EF90-BA0F-4642-AE3B-C7EEE28A4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865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6B9964-736F-4888-955A-4C8F9B3F1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8215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acumulado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A7F10A-E375-4E59-A5C4-34F63C388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DE642D-A84F-4C66-9732-32185F435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RECEITA ACUMULADA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DD1D07-B286-4816-AE36-9376465A5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R$ 516,6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5B9D12-B0B2-4416-AAAD-615C6A27A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FOLHA ACUMULADA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E29EC9D-A54B-445D-A215-F46777AC9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R$ 95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8BB0832-ACF8-422F-936D-398CDF417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SALDO NO FECHO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5FE317A-4FA8-499D-B25B-0F9948414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874A"/>
                </a:solidFill>
              </a:defRPr>
            </a:pPr>
            <a:r>
              <a:rPr sz="1350" b="1">
                <a:solidFill>
                  <a:srgbClr val="00874A"/>
                </a:solidFill>
              </a:rPr>
              <a:t>R$ 421,6 mi</a:t>
            </a:r>
          </a:p>
        </p:txBody>
      </p:sp>
    </p:spTree>
    <p:extLst>
      <p:ext uri="{BB962C8B-B14F-4D97-AF65-F5344CB8AC3E}">
        <p14:creationId xmlns:p14="http://schemas.microsoft.com/office/powerpoint/2010/main" val="145421166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96FB2B1-8E13-49C3-BA7F-66BD40669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7D1FD9-7FB9-4542-9A99-AAB5CE397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A2061F-5238-4348-8658-7397B6B01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SALDO MENSAL E ACUMULADO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60C6CF-DBD8-4964-B3D9-D6FD0AD56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07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283491-4E27-4A90-A822-4753B01B1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d96d2e1a224314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33DD87-7576-47C3-9A04-8E2B4C639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C82C53-6AC0-464A-9CBE-1F129E0B2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97EF51-216C-44C1-91CD-1DBABBE1F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Onde o período gera e onde consome resultado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FBF4E6-84F3-49CA-9D7B-441F98033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Nenhuma competência do recorte fecha com saldo mensal negativo.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18D8C8-D220-4691-9667-C54E3DD10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3afcca1f6a4596">
            <a:extLst>
              <a:ext uri="{96DAC541-7B7A-43D3-8B79-37D633B846F1}">
                <asvg:svgBlip xmlns:asvg="http://schemas.microsoft.com/office/drawing/2016/SVG/main" r:embed="Rf3f3d71a8e26409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95F1D3-CE89-461C-875C-59AEC5C71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666A95-0B31-483D-9D39-A630BDA6D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do mês (positivo)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499961-C1A3-43B4-838B-B89DB5D69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995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1A9708-8107-420B-852B-EC4D56910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do mês (negativo)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2147E0-371C-4445-9776-046807C7F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99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560710-3AB5-42E5-B374-43FEA93B2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2115" y="4667250"/>
            <a:ext cx="2514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acumulado — eixo direito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A179C7-7C8B-4892-83BB-F39A0A8B9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Colunas: saldo do mês (eixo esquerdo). Linha: saldo acumulado (eixo direito).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96CD1D-A220-4D54-8E43-A44107F9D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1BDA23-91F1-438C-BA4F-04633A69C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MELHOR MÊS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DE5076-72A8-46A6-9152-258EC2512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874A"/>
                </a:solidFill>
              </a:defRPr>
            </a:pPr>
            <a:r>
              <a:rPr sz="1350" b="1">
                <a:solidFill>
                  <a:srgbClr val="00874A"/>
                </a:solidFill>
              </a:rPr>
              <a:t>dez de 28 · R$ 13,3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6627E0-E663-4F34-B3DD-35D2135D9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PIOR MÊS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F9D8291-6E8A-4EF4-8112-85085F7BD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83F"/>
                </a:solidFill>
              </a:defRPr>
            </a:pPr>
            <a:r>
              <a:rPr sz="1350" b="1">
                <a:solidFill>
                  <a:srgbClr val="26383F"/>
                </a:solidFill>
              </a:rPr>
              <a:t>dez de 25 · R$ 940,3 mil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E1887A5-993D-4125-91C5-18540A5FF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NO RECORTE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4DFF7D-1818-48F0-B98E-0F3842B3A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60</a:t>
            </a:r>
          </a:p>
        </p:txBody>
      </p:sp>
    </p:spTree>
    <p:extLst>
      <p:ext uri="{BB962C8B-B14F-4D97-AF65-F5344CB8AC3E}">
        <p14:creationId xmlns:p14="http://schemas.microsoft.com/office/powerpoint/2010/main" val="61720205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3F6AF1D-E213-4387-A77B-89C2FC8BF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FDB9C4-03CD-428A-A883-1E43AE439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3042AB-6FE5-4B64-9B4A-79931F547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PROJEÇÃO POR CLIENTE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6EAAE3-C4A1-4357-8A67-9900D91D3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08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405D36-032D-4B84-8C92-83165BAFF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3e9df9ef6d4cbc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3BCEDA-52FC-4586-8946-46002DAE1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087DEC-B1CF-4AAE-9CCE-D4541DDE6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8D4986-D0D9-4B14-A628-42AAC219D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Quem compõe o faturamento projetado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8302FD-713E-495F-94AA-ED60FFBCF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composição mensal reflete o cronograma contratual e a evolução prevista da carteira de clientes.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01AB8D-9209-4E15-9620-556B1EE7F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4457700"/>
          </a:xfrm>
          <a:prstGeom xmlns:a="http://schemas.openxmlformats.org/drawingml/2006/main" prst="roundRect">
            <a:avLst>
              <a:gd name="adj" fmla="val 256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3b4aa3485c49db">
            <a:extLst>
              <a:ext uri="{96DAC541-7B7A-43D3-8B79-37D633B846F1}">
                <asvg:svgBlip xmlns:asvg="http://schemas.microsoft.com/office/drawing/2016/SVG/main" r:embed="R6c2288ab775d46b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7909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C23EDA-A968-4006-9E9B-AAC60A8DD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35D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CC64D2-A2FD-4A89-A7C4-500DDFA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600700"/>
            <a:ext cx="121158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AXIA Energia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204506-C29D-48E7-98A5-89293ED12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17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5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FDEA9F-BA85-45E2-A1FC-C4DCF3CB3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9830" y="5600700"/>
            <a:ext cx="9944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Petrobras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9E1119-3CE8-4144-AFD9-854F9E5E4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424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00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E1DF08-4C06-435F-9FE7-3DF043A7B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2365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Enel Green Power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E9E433-81A0-431A-AF0D-7D1AAEE2D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F94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AC347B-4751-43F6-A9BB-4A9B46D39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1630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Belém Bioenergia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0C0A6F6-F94E-4947-9B69-F1606724B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77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34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87E096-0568-4497-AFC2-ABE8834B9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895" y="560070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Flessak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255E6BB-768D-478D-B689-648ED104B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58E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319BE6-70AF-4E37-AF33-E9CAD8A2A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60070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CEMIG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89AC7A0-3AD6-4C12-9739-2F6FED04B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4D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BDFB64E-1A42-4A8A-95EC-6A78FEB1F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600700"/>
            <a:ext cx="7772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Harbin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FF84ECF-8E85-43EE-BC46-C6E928BC8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57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5B86244-81AA-40FC-A2F8-0144D27D7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810250"/>
            <a:ext cx="1283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ArcelorMittal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7AA4F22-7D76-4DE4-8160-326768CD7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409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E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68EBBAC-0810-4569-89E8-697BA87DB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2220" y="581025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Andritz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D0E7BDB-577B-4E19-B907-61AF38088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164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39D89E9-9654-4A0A-A017-D78485A84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81025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Âmbar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DA2363A-AEB8-40A3-BD59-A2175EE42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7F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2F4CF53-F9D9-4379-AF7C-FB542EB10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810250"/>
            <a:ext cx="13563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Hydro Alunorte</a:t>
            </a:r>
          </a:p>
        </p:txBody>
      </p:sp>
    </p:spTree>
    <p:extLst>
      <p:ext uri="{BB962C8B-B14F-4D97-AF65-F5344CB8AC3E}">
        <p14:creationId xmlns:p14="http://schemas.microsoft.com/office/powerpoint/2010/main" val="109554570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F08F6D7C-9026-4AD3-AA98-4184E4692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DF159E-F26B-4AE8-93B9-C73EAF624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FB1B6B-DD50-40AA-A542-C07678A1C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8A575A-2A8C-4518-BF5F-78D466ECE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09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4E2CE1-3962-4D99-A28B-7E62ECCBF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58ea929fa54d65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3B160A-DAAB-4650-9B63-8FE1BDA51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0B610B-AEB9-4DDD-AADD-210E85F63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F108BB-2424-42DB-9837-362B4BBC6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Todos os valores por trás dos gráficos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EA18C4-492A-4D2A-AC9F-9F49EB5F1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Dados informados do sistema na Projeção Financeira. As competências projetadas seguem na sequência cronológica, destacadas em cor.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661EEA-89D9-4AD8-8784-579A482F6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97A43A-B2F0-434A-942B-6901FF2A7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72E2AD-515E-4ECF-8540-3385BE574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0CF8F6-AC1C-4785-9771-6723056F0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75E4A0-D1EE-4703-B8A8-D45EAA562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075932-BBF1-4450-BCD1-6D74E6651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1EC289-BA23-44B7-84F8-4C6D12394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BE73A8-FA8E-483C-A5B6-66836035A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4ABB4C-C4D4-42CD-9F27-EAE983D7E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3C8B8D-84A3-4FE2-A4D6-96EB32256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R$ 6.789.213,81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5F2EE13-D0D7-49EF-8B7A-5C0164569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R$ 890.704,19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72B461-4EEA-4A22-825B-8FAFF4513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R$ 5.898.509,62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0363F17-EAD2-4965-BB89-500550F05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R$ 5.898.509,62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5475F90-AFC6-4907-BC43-E3EF8B2F9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87C668F-50B0-40F0-BCBD-8D6166B7C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B51F465-CF3F-430C-81D3-28175E540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17F5F52-1F09-40E4-88BD-09320387A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R$ 3.817.372,69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8819F7-C819-4454-A6FD-9847DB5DF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R$ 1.020.426,58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C3863AC-A698-4677-ACFB-F0C091487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R$ 2.796.946,11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1BE0262-C877-4230-9CA4-3D47BBF30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R$ 8.695.455,73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E2E793B-6F47-4D1A-9B28-DFE8011B9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0A1CD9E-BC63-49A8-8A31-C6EA59842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15ADB9A-AF02-4A70-A6B0-71AD4DC70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R$ 4.732.792,38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65DE0D4-498E-4BCB-ADAB-DA139B001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R$ 1.185.267,32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8645A5C-72A9-4423-8D13-99C1BE825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R$ 3.547.525,06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1413EB3-1704-4C9F-84B0-0AFC63A88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R$ 12.242.980,79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6152C55-9E9C-4B69-9775-F633B0AE9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36AC748-2DB3-4AF2-9CB3-10634A416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2057AFD-7F33-480B-BC2A-3F99EE4D4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BC6770F-9FE0-4D47-B48A-B11B2AEF9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R$ 7.231.990,50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9C6029D-8A0F-4683-9D42-BF7B2D9E0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R$ 1.174.044,87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B878092-FE7E-4F79-91C6-0059662FC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R$ 6.057.945,63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DB69996-FD53-44E7-BCB0-4CF724D12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R$ 18.300.926,42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C4FBF7B-F783-4D2C-B8A7-03A0851FA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7717E91-E366-4877-8C6D-9CA3906D4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24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8E72950-8BC8-4047-B249-E9F9A7C33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R$ 5.506.503,71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9A123E6-3D50-4006-BD7B-27B0A4D4A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R$ 1.091.167,43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2CBD3BF-519C-4DCE-8991-05F942277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R$ 4.415.336,28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F996851-6788-4019-8D96-D7FBF55E1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R$ 22.716.262,70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6F26160-804A-4EEF-8A41-A4A4588D7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324E928-A625-4239-97A2-C123D66F0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CEC4A9F-DA90-4F04-A133-E5DE2DC9C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240B90D-596F-49FE-AFCB-87CA03256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R$ 4.380.902,39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69AE6BC-8AED-4737-A7BD-DDAC0C97D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R$ 1.133.609,80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68D1F1E-A4F4-4B09-B725-CE1612679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R$ 3.247.292,59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14B5ADB-5709-4108-A7CB-3253791EF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R$ 25.963.555,29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E9CA75A-0196-4A7E-94E3-19EEB0A5A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991684A-3045-473E-9EFF-F7FAE923A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9FE9041-6D59-413C-A646-B75869DD8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R$ 6.510.910,49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F10B6FE-8BCE-47B9-8DED-A29992760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R$ 1.113.424,01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7893DAC-6E30-4D0A-B1DB-6133C28A2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R$ 5.397.486,48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2E0FE01-4898-4726-8E71-9C15245C6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R$ 31.361.041,77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D28820D-8E8B-4081-BDEF-98CA9D267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D6686A60-1447-44E4-BDBD-9083C23C1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146694F-D039-405E-9B9A-31EA99135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24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0365DF2-F672-412B-A851-3186D4ECC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R$ 5.421.686,74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367F782-EB9D-4EFA-8F5A-9D1E9E0A2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R$ 1.040.357,05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1C3D4E73-DE08-4165-A26C-5CF30F27F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R$ 4.381.329,69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24EE112C-1869-405E-B237-C5CE39B6F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R$ 35.742.371,46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91ACBAF-66C1-4CC0-B318-5CFA15A8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C6C63C2C-DDF6-4355-91FA-BEDF0F7DA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24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6A33C99C-EF3B-4FE3-BFC4-AF013E82E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R$ 5.682.241,80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B4156437-6B9B-43DE-B6E1-58761B7CF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R$ 859.008,24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CA29B72E-5F51-40D5-91AF-5997901ED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R$ 4.823.233,56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DED332B4-2DCA-4451-8858-F1570602B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R$ 40.565.605,02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9790EDE-9572-4A60-9390-AB2CD44FD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AB657A49-3649-4E16-960E-5EAC2A49A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2B88FDE-833E-4E52-98BB-0ACA27054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24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C99CCC30-F3EF-4A5D-9753-18D4BE9EA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R$ 8.541.056,13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B6F75BB-1D4B-4894-AAEB-4CC7FEF60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R$ 897.448,27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0ED2E36A-DA85-4689-ACDA-94580370F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R$ 7.643.607,86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D1C5594F-410A-48C7-88A9-98953D44D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R$ 48.209.212,88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4B0A11F6-6112-4B9A-8227-2F9E97005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5821A22F-CE05-486F-B88E-3E15C5705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24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55052CFE-C997-4A36-AC7D-844130966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R$ 7.608.873,04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9E62ACB1-F681-4EF0-AD4E-B2C1ED345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R$ 1.021.448,72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3118E47A-AE29-4CD9-ABE2-0B1CA29B1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R$ 6.587.424,32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68062CC1-DCFE-448C-B001-693D11083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R$ 54.796.637,20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533A4C12-0481-49CF-882E-EC3AA2849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39DC9EC2-B98A-40C3-ADA4-A2EF604C2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2AAF9C9F-9101-41C8-8836-56721C749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24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6E0E2CD0-7AB0-4256-ABF4-D89B45978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R$ 12.158.119,93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8BDA44D0-D5FA-45AC-AB52-A7AC07053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R$ 953.973,58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93951EFB-E1FC-414F-9903-DDE3615E7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R$ 11.204.146,35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8D2EE5F7-496F-419D-9BBE-03F9E6008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R$ 66.000.783,55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FCD4A686-E43D-474B-9551-9CAF9EC25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87EC346D-7621-4874-99F7-594FAAA66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25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857CA9A9-8433-4B9B-AFC9-40D30556C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R$ 6.481.505,36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518641DB-A418-4129-A761-5ACAD220A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R$ 1.331.022,91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AAF02FCD-2F64-4C33-A0AD-61FC8CFA9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R$ 5.150.482,45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BA84A0D4-D263-4063-BD23-DDA518275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R$ 71.151.266,00</a:t>
            </a:r>
          </a:p>
        </p:txBody>
      </p:sp>
    </p:spTree>
    <p:extLst>
      <p:ext uri="{BB962C8B-B14F-4D97-AF65-F5344CB8AC3E}">
        <p14:creationId xmlns:p14="http://schemas.microsoft.com/office/powerpoint/2010/main" val="154879934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F81C2F6A-4575-4ACA-BC8C-038ACCF95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3094F1-210A-4225-87ED-210B1CC52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CBF1FD-8862-453B-8B7E-A7907EACC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A243E7-53FA-46F7-9521-E84760C2D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10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5CEBBF-BED0-44E3-876A-466746F99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4abace47924878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DB9AF0-88F8-4AE1-A152-1E91FC481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FF4DB7-E90F-451A-BD59-92F5C383B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C80B11-ED4F-4DE7-A537-F491638E8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CF30BC-E301-405E-BE13-23F800251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2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921C50-D566-4D42-8CC9-750DD4AD7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9822A9-5361-4DF6-A518-99193C03E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E92FA6-867F-403D-BA51-CC690B36A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8F04AD-CFC1-4728-8413-7D4D00815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383412-65A4-4014-B11E-2631828F6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393CBF-99D9-4F2B-BD22-D7A9CBF74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CD10B0-5F57-4D19-8325-61C170A53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C608BD-5EBA-4BC3-AB2B-2F9B2BE7B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BBCDEE-0898-4144-92A0-D0F9D40DA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D38DBC-8132-4BF5-96D5-569B46A73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35F230-630E-47E1-A4E2-41115307C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R$ 7.218.837,49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DEC2A7D-D9B3-4A78-9E10-3AFEA4B47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R$ 1.310.101,05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0184AB-45BA-4BC1-967E-BBBE2350F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R$ 5.908.736,44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4CA0E4-0714-4A45-B4A0-6EC12A1E7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R$ 77.060.002,44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91775C-E4E2-45F3-A3D6-A4783733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B7B0393-3EE2-4B56-B235-3D818C5D4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5C6A127-0788-4C68-9DB5-AA77CC02A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R$ 7.554.012,04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1A2FCA-4E28-49B4-A37F-7BFBBC705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R$ 1.354.501,90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8576444-BFF7-40F1-AC5B-93F162A63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R$ 6.199.510,14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07F599B-EE3B-4287-BA1F-711801F8A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R$ 83.259.512,58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4E09508-F8DD-422B-BE86-0D923B0ED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338893D-2962-4306-95C7-E98FD18C2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89F87F1-2393-42ED-80D7-AC09AA6EB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1BC056E-429A-4101-8427-DF86AEB33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R$ 4.739.459,41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4D97EB0-9D1E-4556-9C86-5C90793E9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R$ 1.531.002,29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10BA106-8C31-4EFF-A9B5-EE5AA1579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R$ 3.208.457,12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BB2B7C6-6367-41AD-8F75-6A9E9C229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R$ 86.467.969,70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8807137-9CED-4E51-9E68-17FFFB239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5E6D3A7-E486-4969-AE36-3D1276BD6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8D3C4CD-3EB1-40AD-B44B-EAEAFECDC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R$ 6.235.104,42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54A27BC-27C0-40EA-9764-CE0E17672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R$ 1.761.893,50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E276679-B6A6-49D7-9E06-33E519D6B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R$ 4.473.210,92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5E9AD13-9DBF-42BE-9FB8-683DCCD21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R$ 90.941.180,62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33FAE3D-70CF-4483-B9D0-CB7A73CE8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F357323-6F83-4E3D-92BC-38AF4D5E7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E136199-3235-4E39-AA55-5684E8BD8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3D29A50-8C27-45D1-94AC-D410AAE4E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R$ 3.511.692,47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D8FD781-3938-469C-8E7F-74BAB274F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R$ 1.523.207,92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85303E0-A74A-4FD8-9300-46F9BD1A1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R$ 1.988.484,55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6396E41-3F0B-4CB3-B891-48D96E776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R$ 92.929.665,17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C6AC26A-4400-4B0D-9FC6-678092BA3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F4A7FA6-154F-4738-B74B-56D1FD4D4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25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1B2909F-F5E8-436D-8C01-D447F2A01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R$ 3.267.455,46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A3B498C-4291-4D79-9234-E7B6B24C1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R$ 1.574.251,96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1C27FB3-1F3C-4BD6-820B-439D2B059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R$ 1.693.203,50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51268E2-A99B-4386-AA4E-2326C1681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R$ 94.622.868,67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32CB479-7FF4-4AAD-BCBF-949D7B55D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C15518D-9696-4662-B973-34EB0D356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5DA7484-4150-4D04-A0CE-6E946595A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51A8C2D-02CD-478C-B438-9101C1673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R$ 4.042.135,73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AF3A50B-53CC-48F5-B6D8-6A2CD6759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R$ 1.597.750,18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CE96572-9F3E-4C83-AD36-19093459B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R$ 2.444.385,55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33DF414-C6F6-45C3-9B40-C381952FC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R$ 97.067.254,22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39A3B04-D3C9-422D-B2EB-91964A391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0BBDCA1-70B9-4BA9-B7BD-BE63EA85F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25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1248CBE5-5518-4499-953D-B18312C94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R$ 5.879.203,03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CED6A71-9DEC-4759-8E30-183D0D064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R$ 1.644.127,33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7B54040B-9BD9-43E0-961F-5079E6740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R$ 4.235.075,70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7AEFF6D6-BE45-469B-A745-BB9F4C1AD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R$ 101.302.329,92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81A77B3-1FB3-4E2C-AB14-FA99D0251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853110C8-C8CB-49E0-BB01-C2EDDCEB5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CD88E854-02E3-49F5-A940-2353169B8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25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9EF4D73-3153-400C-8C22-A2B04BA85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R$ 4.431.996,15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1CF2A08-3FE1-4E82-9BCD-5D8B7ABCD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R$ 1.728.097,81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8A1C9CCD-C70A-45B1-9315-0F1A89D90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R$ 2.703.898,34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8BEEEB4-B677-4B34-9393-DA3B5DF5D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R$ 104.006.228,26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5E00BCD2-6FD8-4A33-A349-C03801290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B9DC38D8-6F31-47A1-91BF-84E762FD9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25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E6EA3A89-8D56-4651-95E4-E0BE9BACF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R$ 10.858.257,81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F9674F8-0AB5-40A4-9FB1-1A6C90198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R$ 1.877.160,31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11036454-C827-42D6-9A24-58BA817A9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R$ 8.981.097,50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1B57E883-D6E7-4775-A023-1066FBD81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R$ 112.987.325,76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F28FAD23-5B27-46B3-AE58-23676D138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F2F3D416-0DF6-4B46-BAF6-52E883608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7B5B1DDB-29D9-48EE-AE07-490B24765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6A649B7F-D609-45D4-8444-B6736849C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R$ 2.904.942,16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8318426D-5838-42E4-9EC7-5A05125D7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R$ 1.964.681,62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4CD1B277-4DE6-4975-8C35-6772F152B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R$ 940.260,54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2B43DA9F-9833-43CB-9F4F-9F9B18DD2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R$ 113.927.586,30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8437D68B-D791-4503-9E1D-BCBB64CA3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911C70BB-FA98-4C89-8051-3A7CC7792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26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25BB827D-95B1-4E52-B51E-693F42ABD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R$ 10.366.331,04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97EF6281-6A5D-4F13-A708-9C9FFD76D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R$ 3.208.000,00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EABFCA21-9404-43E6-BC7A-4E45C0A98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R$ 7.158.331,04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74F570AA-62D8-48FD-95C6-382B443A7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R$ 121.085.917,34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F34C44A7-A1F5-442F-8C91-DBDC4DB51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6A31F9C7-1F36-4BDF-B93B-F1C7C67B9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AE8BF288-00B6-47E2-9C59-0552F45B2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02C864D9-399A-4268-869A-C3B9615A1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R$ 4.700.897,81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5A9B618A-402A-47E6-9C40-AD50CF01C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R$ 3.389.000,00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E90C7646-F539-48F2-8847-FDFE41AC6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R$ 1.311.897,81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F360367C-2FA3-441F-92A1-194ACE9EC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R$ 122.397.815,15</a:t>
            </a:r>
          </a:p>
        </p:txBody>
      </p:sp>
    </p:spTree>
    <p:extLst>
      <p:ext uri="{BB962C8B-B14F-4D97-AF65-F5344CB8AC3E}">
        <p14:creationId xmlns:p14="http://schemas.microsoft.com/office/powerpoint/2010/main" val="208149267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9628419B-5B80-44B8-A402-00A7683D9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D54CE2-EF97-4A0F-9065-F8A4CE091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A9C088-0191-49C8-A443-58FC0DE8F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8F6F08-2C40-4EC4-9552-27710E77D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11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D0B254-067B-4557-821C-886C85ADA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f8584c25c744d2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60D31B-A24F-4EF6-A893-582C2FA12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BA8346-FFAF-4554-A4AA-60895A0E9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6C7ED0-6381-4DB8-9E40-8BBB67BD6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2C9D56-E8F9-439A-A44F-7CE3A2656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3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BCE623-01CC-497F-B99C-F6C78CDFE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DC6F44-37BB-4748-9F52-AFE140D32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BD73FF-E658-47BF-97E2-6BF7F772A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B2A6E1-8086-461A-9E33-332C6E23E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6DB78E-39FB-4D7C-9A5B-522A3B57F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F22C6F-7DFD-43B4-961D-B9B3A3B70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B21273-68C4-42DA-9F02-3C88F08D4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C44EBE-1298-4DEC-B9A9-B632E0EBD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C3385D-D352-41BB-8AC9-A8ACB5418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001787-6564-43D8-8C18-BBBA08E67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R$ 5.650.881,81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FB6B66-508D-4A93-A64C-8C35D7307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R$ 3.266.000,00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CBDCAA-8AE6-4E28-AA63-EE1C52E9E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R$ 2.384.881,81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71250A1-B907-4421-BFBA-EDDB1E877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R$ 124.782.696,96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A9A6C4C-E444-4C64-ACA1-6F53D3075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7AC8D05-7F10-42FA-9494-F2884C016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2276616-A85A-4601-8EFA-163396B5C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C652E3A-6E24-4B7F-999B-C14E4B057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R$ 5.897.524,13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1780DF0-6AF7-46F1-BAA0-9F44930CB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R$ 3.360.000,00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17E379-217C-43A9-8F91-BF4615CF4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R$ 2.537.524,13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94D6AE8-35BC-4826-9BC1-AEBDEC2C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R$ 127.320.221,09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2D2BA03-98FA-43C2-93DF-DFB99D123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A446601-D223-4D87-AA07-8820C22D6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E0A449F-1325-4D33-B399-C0F754D88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R$ 7.355.196,27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23D6037-78F1-4B7A-AE20-9841F24DF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R$ 2.953.000,00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616A79-DC15-4F78-B642-F79CE91B9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R$ 4.402.196,27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1033407-2979-4BD1-9022-67EC63209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R$ 131.722.417,36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7EE1D26-DD37-43DA-BB21-4BEC75FE5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022B738-40AF-417B-9F51-8A2F3BAD4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840CE68-105D-446A-BD35-D8A3CB67D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A60E0C7-C717-4801-82F8-618686A5D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R$ 7.178.434,69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31113B5-DCCD-412F-A0F1-65C318014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R$ 3.108.000,00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B643294-25F6-49F5-8381-1ABC2B07F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R$ 4.070.434,69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391167D-820B-458F-B645-9AFD428C5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R$ 135.792.852,05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FD45A3A-8437-466B-A70B-5FBC32BBA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CFC5EC6-E816-4A13-A926-5555775A7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C604366-E83C-491F-943C-B38031992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R$ 4.978.967,55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0E86A23-DD61-4524-828E-DF2540FE8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—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0BE2264-8B37-470E-A3A8-F71939B08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R$ 4.978.967,55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83A2929-AE14-4736-8567-92A4AFA12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R$ 140.771.819,60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2234256-E77E-4E5D-B2F0-9E9C98D45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24263"/>
            <a:ext cx="10801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D4ED8"/>
                </a:solidFill>
              </a:defRPr>
            </a:pPr>
            <a:r>
              <a:rPr sz="825" b="1">
                <a:solidFill>
                  <a:srgbClr val="1D4ED8"/>
                </a:solidFill>
              </a:rPr>
              <a:t>PROJEÇÃO — COMPETÊNCIAS AINDA NÃO FECHADAS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244C9F8-3D10-4275-9185-4A89A453A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326B1A4-0BC6-4349-91F4-A3C34DDE6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142ED87-03E1-4B0B-A4D3-F733BE00F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502C946-896A-4FE6-936B-473B5B6AA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FE5D3C6-E15D-470A-AA1F-7120BBD47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R$ 11.459.330,09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24B3352-7480-46A9-BD18-D0DBF2568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R$ 1.512.430,00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749D2FB-97E6-48D2-9067-E25990853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R$ 9.946.900,09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75D7FC9-27A5-4619-A05F-275E03913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R$ 150.718.719,69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3AD5F2C-5346-4BBB-9A54-FC60D025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ADEFF89-CEB4-40D4-81A6-C5AC0EE51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8956F16-24EE-4735-A1F0-6F9C85248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R$ 5.617.810,24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1F29D8D-5033-4E5D-AA31-50BB155A2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R$ 1.387.850,00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4E6FBBD-D6CB-4F70-B8EE-1166BDB7B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R$ 4.229.960,24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8041E55-ADDD-4416-98DA-3BDE3064E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R$ 154.948.679,93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B4ADBC6-C550-492E-A4FB-51BC9F328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C76E5625-FB96-4CEA-80E9-CCCC9AC99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14A238D8-DBE6-4C59-BBE5-75F6C6821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26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B302F01-0A0A-4B2F-B671-7D39FBE26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R$ 10.000.000,00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8B251CEC-77CA-4D4C-ADE0-54E627E03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R$ 1.634.720,00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DABCD97-FBF3-4CD4-802F-27196AB57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R$ 8.365.280,00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F02D7A39-F248-420E-92BB-698681481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R$ 163.313.959,93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8D57464-3E39-42D8-AE49-B5DACBC39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F52D96C5-7FDE-469F-8E0A-A0E3AE252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26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7C0431B4-D8DC-4F65-ACCA-F8F7F4480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R$ 10.725.000,00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FD736791-532E-42AA-A8B6-36983A53F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R$ 1.728.940,00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840CF534-550B-4109-8FEE-8728FF31C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R$ 8.996.060,00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17793393-540B-469D-98EB-B68074BD5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R$ 172.310.019,93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4445C104-F1D0-4FD1-BFD1-2B746A2BA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7AD15161-569E-4D07-9DDD-DC65AFFF2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B748B911-8E67-4EE6-B831-3DEAB66D3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26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FD9B1171-5BB0-4A51-8058-1CBA40FC7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R$ 10.502.461,80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75286965-E4B0-486E-A3E9-0DAA32F9C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R$ 1.596.380,00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A8023057-C03F-4B8C-A11D-CF4CCE865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R$ 8.906.081,80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B8CE0ACD-81F2-4494-9002-77B575C4C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R$ 181.216.101,73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2D54B0CF-26D5-4696-ACA9-5B06ABB86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C791A09B-EE02-4AC4-84DA-FF59B40B4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27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263496E7-3BA7-44D4-A1BD-3175F57EB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R$ 12.200.000,00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363F512F-222C-43FF-A364-46998F8B1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R$ 1.682.510,00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21B5B85C-37C9-4408-932F-8143E7EE6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R$ 10.517.490,00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6D04D864-30E4-44C5-B5A4-CB1FC08B3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R$ 191.733.591,73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DAC743F6-4D8C-4E8C-BCAC-BB977BA59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FACBE9EC-BFD0-4E94-B4DB-878D8FC9B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F25B6CA8-5EE7-45B1-9CD8-00E6650D8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9C807242-9AAB-4A29-A9CF-8A1EAFE15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R$ 11.800.000,00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397851E5-9F81-4CCF-874C-E22920D8C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R$ 1.574.260,00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8A240195-B56B-4FBF-B318-26DD78041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R$ 10.225.740,00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6CA5A0B6-7797-4CC1-8C42-27A42D7BF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R$ 201.959.331,73</a:t>
            </a:r>
          </a:p>
        </p:txBody>
      </p:sp>
    </p:spTree>
    <p:extLst>
      <p:ext uri="{BB962C8B-B14F-4D97-AF65-F5344CB8AC3E}">
        <p14:creationId xmlns:p14="http://schemas.microsoft.com/office/powerpoint/2010/main" val="109831852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47A631DC-B460-4B57-AF50-DAE979469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BA86EE-03A7-499D-B0E3-FAE96702D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45DF9D-B87E-4E50-A747-7BDBF900B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5B0B28-4D22-426F-982F-352426DEC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808D17-B525-45ED-BD86-1B91913CE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8fa47495334af5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4FF01E-01D1-4DDF-9C72-19FF86E76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B3CBCD-D915-47CB-AB15-87D843AA0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25453A-7D75-4C87-8C13-A628BF561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94DAF3-AAA8-4DD3-A0B3-6CFA0E808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4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7306D8-F681-48BC-9C9E-1F5A1CEDA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A50216-6B4B-4B10-8A11-D8C56DB1F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1A3B0B-91CA-4ED1-8614-413852301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098FE5-4CE2-4458-BFC4-C5C2186F5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451562-3BAC-4B50-9C74-D48262549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8187A4-30AF-4CD3-8AA3-E8495BD3D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B3F196-F152-4A81-B8D8-4D399F80A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EDE386-AF9E-4C3B-ABBC-8F70EA10D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917713-2BF1-430B-8DED-BF324EA45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FCFABB-D055-4AF4-BA91-5C20A3D93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R$ 11.200.000,00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B892C3-E0D3-4C4C-86AF-577C83DEE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R$ 1.493.870,00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593744-6509-44D2-8F66-C6DFAA8FF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R$ 9.706.130,00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1CBE6A-61BF-45C7-A72F-3182F4CFC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R$ 211.665.461,73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148596B-8C56-46DA-B144-242C5BAF3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03BC3F-A690-47EC-ACFF-064C1F9D0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34A6C4D-87E0-4A96-81FE-AA668B385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E2BB044-D986-4A75-BE05-27528410A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5D71267-4CAC-4060-BEB6-52EB563CC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R$ 1.421.650,00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BBC3FBF-64EC-4896-86B0-30FDC41D4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R$ 9.078.350,00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AC99D0B-13A7-436A-A7BF-D773E818E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R$ 220.743.811,73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B500C9D-7929-4D83-863B-BA476CEA0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EE983A5-9A9F-4156-8F7E-06423DD30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379FBB6-8114-4437-8AC7-14938A630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R$ 10.100.000,00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018FB89-F1D4-4EE6-AAA5-28298D8DB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R$ 1.356.420,00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D1D46C6-7A8C-4B94-B890-F91724EEB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R$ 8.743.580,00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6FDA7FF-819F-4B7A-B374-29935DDC9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R$ 229.487.391,73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F939486-93A1-4DD8-AEA0-6CE2B82C0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AE47E87-54E8-41C3-B22C-060BD7F5E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84F8313-B1B6-489C-9CE4-0F5304572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27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1ED2F58-ABB5-4995-906C-606E10B7D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FF0842B-4B50-41C2-9011-B6D3585CB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R$ 1.318.760,00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436CC81-1F27-4D6C-B51A-82D1E8CFA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R$ 8.181.240,00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6A90704-94E1-4556-B2F4-DB8B0B624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R$ 237.668.631,73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C7B14B3-9C9A-4A61-A6D0-D65401E5E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E354930-0BD2-4B40-A601-936510FBD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AD177E2-1FB1-47BC-96D5-59F9AD21A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R$ 9.200.000,00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20C1F98-5C79-4660-9E72-7582B7055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R$ 1.342.590,00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3E238B8-3C75-446D-BA82-AE5EC928E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R$ 7.857.410,00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47673E7-86D4-4C85-AB02-23C757B09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R$ 245.526.041,73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5AAE8B5-69C9-48F2-A4DD-DBE817E12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B8EA8AC-C25A-4D37-A7BB-0ECC54D12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372FC52-CD58-4F33-94B4-D4E550A71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27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1AE0C7D-850F-4B6E-8DE2-32431F57D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R$ 9.600.000,00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34AE6AB-B408-461D-A465-B3284F260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R$ 1.397.840,00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ABB6E82-0D37-4CF2-BE94-DA5215911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R$ 8.202.160,00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F858E5A-2DD4-4801-B772-31576166B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R$ 253.728.201,73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302DE11-672A-4F5A-B9D1-8312887AA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62A00B7-A733-48F5-A19C-37F7E88DB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27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8E6D331-FC18-4CCD-B412-0245D3154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R$ 10.500.000,00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C9415A3-4520-407A-B39E-A0D7C4241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R$ 1.468.230,00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49653B4-210A-4C6C-8CAA-4F1A83AD2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R$ 9.031.770,00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7F9865E-D495-4650-A84B-F12E11224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R$ 262.759.971,73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7908A56-35E2-4177-B22A-3513D8182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3852944-8D6A-46DC-825A-CEFA32180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302673B-99C3-4FB4-A60A-D821AFFF9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27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BF80F60-89CB-4FA3-A4FF-694DFF814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R$ 11.500.000,00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E1E59391-0CD1-4DF5-885E-9C2376240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R$ 1.559.670,00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0EB7C49-F31C-4082-B5D9-DDBF0F54A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R$ 9.940.330,00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EE2E6652-46BB-4ACE-B461-7BE54FAF6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R$ 272.700.301,73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020A59DA-E31C-4831-8036-D978EE87A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FF635A89-5D0F-48EE-B3D8-2490E593D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27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895CE60-CC48-4C29-9392-544169F17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R$ 12.800.000,00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19A47F98-8724-4D53-A2BA-95B0EAFFA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R$ 1.671.480,00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0F8669BE-8E62-4852-A13C-E7A7C6B8E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R$ 11.128.520,00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6F12CB7-7301-4B5E-8792-B9B1AC30A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R$ 283.828.821,73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911F3AB-34F0-4F63-BA3E-2B7AAE714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E351F9C9-6574-4C45-A55D-3362A814F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1770881D-A1C3-467C-86D0-75B2AE9D8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27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F3ED419E-6FE3-4345-96FB-9554D415C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R$ 14.050.000,00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D92AEDA-BF11-4CDD-8218-885F28CD2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R$ 1.739.250,00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BE8F31BD-0B4B-4B96-A04B-4BC5E0F34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R$ 12.310.750,00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63DAF966-D016-4C89-889D-1F7048E94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R$ 296.139.571,73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7506DC8C-1A4D-436E-B9EE-640D4A1F9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992BE503-2D80-4A31-A16C-705F96910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28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1DFF8053-0497-4094-BA58-2D6BAA2DF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R$ 13.750.000,00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56F1259E-2445-4140-B88A-B9C7AD261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R$ 1.696.840,00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E9925D2D-DEAD-4EAE-895F-845FE4B92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R$ 12.053.160,00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D724D2DA-F35E-4EB0-8CB7-A64083349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R$ 308.192.731,73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12BE1B46-9A26-4B8D-B876-80B70A2BE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0EC12886-6FF1-4DA7-8E00-202E57F6A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01B18DB2-3F76-4DE7-A474-AD987FE06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28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EE176992-1E6F-4579-BA4D-100E5BB80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R$ 13.000.000,00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54F19EBC-BE28-4587-AD8C-A846CFFD9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R$ 1.612.370,00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DF0B35C5-1D7F-4CF8-AFB5-495446F65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R$ 11.387.630,00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07B58C79-C96C-4F1C-8385-E61D3935F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R$ 319.580.361,73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827C5ADB-CF43-4B6B-B998-F7130C840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CB52F414-DCC3-476C-AE0E-D49DD665B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28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BCBFD0AE-D7D6-4C33-99F0-CF8C61F03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R$ 12.300.000,00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CB2157B4-4E02-4A69-A31D-368112CC6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R$ 1.529.680,00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29031ABF-B2EB-46DD-A04E-55C9302B5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R$ 10.770.320,00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778E5938-456A-4100-B94C-54E80999C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R$ 330.350.681,73</a:t>
            </a:r>
          </a:p>
        </p:txBody>
      </p:sp>
    </p:spTree>
    <p:extLst>
      <p:ext uri="{BB962C8B-B14F-4D97-AF65-F5344CB8AC3E}">
        <p14:creationId xmlns:p14="http://schemas.microsoft.com/office/powerpoint/2010/main" val="63479531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843206E6-38F2-4FE2-ADB6-29EFF667D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2D372E-F63C-4609-92B8-8AC4FB2DA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2083C8-86C6-4EEC-BCE9-0C01ADB47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1E1B93-5CB4-4AA5-B08F-63BBDDB7A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F14E19-1BF7-4E1C-B454-5151B2998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6591bae16b4f6a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3FAE1D-E53E-4974-8E08-FEBEB46BB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A17E91-2144-4611-BA2C-EC3DE97CC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6C988D-1E8A-4A01-8C9E-12FBC3B33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DB1558-9EEB-46A7-98C6-7C18EF64D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5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324A13-AB1C-4704-9949-D55A6D083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69C4FA-75A9-4B94-B720-117EF1144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B0A1CB-03E1-4915-B558-D6C364F29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0E37F0-9D22-4DB6-ABF6-462CA6E13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7316AF-138D-4E3F-A42F-11F7CC6C4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7B16D2-04A6-4629-93E7-B1CE31E01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1A2198-EF60-4D9E-AA4C-B47F699E3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024A8D-BF51-4B46-97DC-9FF58F10E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25E097-7B31-45D4-91CF-5A7D1EC34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3A9F35-5EF3-4F16-A89F-FEA4A3801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5F8720-EF02-44DC-A32A-9D0CDAA4F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R$ 11.500.000,00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31FC1B5-E514-4292-B80B-AD17755B6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R$ 1.447.340,00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287C08-3988-4989-9CF8-E9DAE826D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R$ 10.052.660,00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856A8E6-E509-41FD-9F92-05E8ED82A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R$ 340.403.341,73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B09521-2FE3-4CC9-AB0E-046CB3015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6A95E2D-7194-4A88-9D2F-C0CC343F8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ECC13CE-ACD3-4E93-AA6A-256366F65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R$ 10.800.000,00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DD9D662-9CD6-46EB-AC1A-2F93D5595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R$ 1.378.920,00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5EDA923-9391-4361-93D2-2B87B0C33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R$ 9.421.080,00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C4DDEF5-A9D0-4D41-ACFE-7FE2192B5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R$ 349.824.421,73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4907160-3DC8-47EF-BA3C-4C2535910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9855057-6A26-4340-818C-DB0FACFFB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E1329D4-E62C-440D-BFBA-985266C75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66CF49E-FD10-4EB2-8758-4F2864C06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R$ 9.800.000,00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91D71C5-B447-4F97-9508-6CF8BD525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R$ 1.326.410,00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24EBED1-838C-4384-B87F-C47925216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R$ 8.473.590,00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A0DF3C5-A981-4ECF-8E92-5F8566723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R$ 358.298.011,73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62D3A0D-270B-48A6-BCC8-6A8B2AAA7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B59D507-4B27-4174-8E88-1651255FD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1C3A869-A711-452C-BEDB-A593123CA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78BEAA3-5DEB-49E4-BB65-45D6C1A3B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R$ 1.349.870,00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2534AE3-1C26-4816-87B6-7A52A0601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R$ 8.150.130,00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8A1E7CC-48EC-449A-B75E-F83BB8383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R$ 366.448.141,73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8DB9B76-F746-4472-B9C0-485D9EF43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D62F202-F495-4145-967C-8F416194C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3621019-2CC7-4029-AE4E-6BD97A577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7E5D203-F6F2-434C-9043-7A4DBAB4D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R$ 10.000.000,00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BF1C508-D078-4779-BAF4-134E32CFB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R$ 1.408.630,00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C0439AE-C2CA-4BEA-9D69-C76C843D8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R$ 8.591.370,00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23AC868-B2F2-4FF6-A9B3-5B17CF2A8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R$ 375.039.511,73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F2420AB-2DEC-4DE7-BAA6-1FB826362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6B7380B-5975-4EA3-AC67-8553A5955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28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51D87B5-61C8-4DFC-8266-0D0858646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R$ 11.300.000,00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83ADDC2-1BA9-43C0-BA66-6A6985198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R$ 1.482.760,00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3E566BF-0B1C-4182-80BF-7C37BFEF6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R$ 9.817.240,00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CF93AD5-2FD2-4B55-8783-C79EB9FBE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R$ 384.856.751,73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3C94FAB-ADB8-468C-B0F5-D011E962A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F901F26-3FDF-4093-894F-4D1A45546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0A2559D-AD88-40A7-BE65-DF5DD5333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28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0B599EF-9A3C-4F7F-9918-3993D3368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R$ 12.600.000,00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2772D81-CC7B-4355-B963-D1A3B017F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R$ 1.578.140,00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A3BD98B-614C-4D26-ADB7-EBF3FE4C9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R$ 11.021.860,00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607294A-38A5-4F3F-B8E5-CCFD0F675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R$ 395.878.611,73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55F98FA-5E12-42A3-A3D7-EDD2D3232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3310DE4-6E33-48FB-961A-2A9EED03C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28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0F5FE11-B37D-430A-985C-F650F15D4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R$ 14.200.000,00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85D3F7FA-99FB-424A-B6F7-00331BFDA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R$ 1.689.630,00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B12F18F-DBE5-4D9F-B0B9-9AC1DA32D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R$ 12.510.370,00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D33B11F3-65AC-4811-A250-C28D6722E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R$ 408.388.981,73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3216E58-4B39-4707-A628-DBFD70386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DA314023-94BB-42ED-8305-01708A7FC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7E4D4C13-FAF6-4CB9-A409-D9D547858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CAF9C1C8-2DD3-4DC8-B3F8-302ADBF76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R$ 15.000.000,00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6C7F5F81-DFED-4D58-BB0E-88F35CA9D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R$ 1.742.180,00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9FAA5D13-BFBE-4CC4-AEEF-BC3627AF5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R$ 13.257.820,00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327F7EDC-E356-4EC3-86D1-94F0D7286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R$ 421.646.801,73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2B4CF35A-BA7B-4932-9C1A-C04728223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AE96F92-FC04-4FEB-A882-A2DE05304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Subtotal realizado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BFE44A17-8506-4EAF-9F3C-A8BF44D8D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R$ 191.634.498,44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383425AF-C3E5-4EA2-9AE7-84BE1261C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R$ 50.862.678,84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E33C8B18-18CD-4A6F-B9A7-78817573C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R$ 140.771.819,60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72184C06-B990-417A-B14D-39423E40A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—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EB91A138-DBCD-496E-AD74-26C788E1E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ABD7F78E-9E3E-4E9C-8304-FF8C8BA80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Subtotal projetado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E30EBCA8-CA22-4B49-BB3B-68DB461AB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4ED8"/>
                </a:solidFill>
              </a:defRPr>
            </a:pPr>
            <a:r>
              <a:rPr sz="1050" b="1">
                <a:solidFill>
                  <a:srgbClr val="1D4ED8"/>
                </a:solidFill>
              </a:rPr>
              <a:t>R$ 325.004.602,13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0984CFCE-9244-4329-B8FC-BA188E46B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4ED8"/>
                </a:solidFill>
              </a:defRPr>
            </a:pPr>
            <a:r>
              <a:rPr sz="1050" b="1">
                <a:solidFill>
                  <a:srgbClr val="1D4ED8"/>
                </a:solidFill>
              </a:rPr>
              <a:t>R$ 44.129.620,00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8A062AE0-731B-4B50-946D-A4B42A1DD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R$ 280.874.982,13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9C44AF7F-019E-4E80-BDEE-8BFFA1D35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—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42E23B85-06FB-443A-94BE-96E83154A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6BD7C2DC-E5F7-446B-B293-4D1AC043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71A6B066-C2BE-4C83-BE4A-376370ABE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Total do recorte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4CD08056-5A6D-432C-AD65-021CAF117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R$ 516.639.100,57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442181FC-925B-47A1-AD44-883DD6208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R$ 94.992.298,84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BF458C14-41D8-46FB-B07F-413C49E4B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R$ 421.646.801,73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AF5FFBB7-A23F-4C16-B49E-1FF068948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R$ 421.646.801,73</a:t>
            </a:r>
          </a:p>
        </p:txBody>
      </p:sp>
    </p:spTree>
    <p:extLst>
      <p:ext uri="{BB962C8B-B14F-4D97-AF65-F5344CB8AC3E}">
        <p14:creationId xmlns:p14="http://schemas.microsoft.com/office/powerpoint/2010/main" val="138660234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972BD5C4-82E4-40BD-80CC-1B90715C8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B3042B-CB4F-4B9B-B8FB-5C0256B52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6436F5-C0E5-4701-8141-94DCD9F7D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CARTEIRA E RECEBÍVEIS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12670E-466E-4A81-8F95-A654E8A1E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4674A5-1832-4C94-BAAE-2E4D5DD71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19af43e2be4e68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4A77AA-B372-4D27-A2F5-B236168B4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7B7EEC-8275-43B5-A8AA-117A55A6D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22F671-00CD-482D-8A9B-91B20A8E3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Backlog que sustenta a projeção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BE3F4C-37A5-48F6-97AA-79430032E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Carteira, faturamento, backlog e parcelas projetadas por cliente.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A72C56-52D6-47FA-89CD-7064FF904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7BE3C8-281B-4A58-9283-12D7CC496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D106C8-5A33-4149-914D-21779EE53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52600"/>
            <a:ext cx="1733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CLIENTE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8F4C2C-1818-42D5-9430-4E7FE4BC3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1752600"/>
            <a:ext cx="1085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3978F9-0C0B-4106-A2DA-245E446FC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CARTEIRA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51EDD2-C04F-460D-A9B0-76FC01D6A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3C8DA9-3709-47F1-B716-64286F32F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BACKLOG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C5A112-4E21-4C6D-9137-3415FA587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ATÉ 2028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BE34CE-DB4B-4649-B16A-58D82A6B9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PÓS-2028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19FD0E-748A-4F00-B8DA-D1A378761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40A641-3845-4DB4-9E9E-F9087084D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859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AXIA Energia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65A4F0-20E1-4BE9-B406-A47EF2E2A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20859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F74166-CE70-420A-9C1B-BE29F8B85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R$ 42.544.856,72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9F99BA6-6619-454B-A2C5-907CCCE68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R$ 13.587.630,96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751CF08-CD90-4EC5-871C-6F19D7534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R$ 28.957.225,76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C222A14-B86B-4C23-8B0E-ABF662446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R$ 28.957.225,76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F7487F0-8F51-414F-8EFF-4341F3ADD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C90B5B8-B746-4712-BC2F-9F3533C63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BAB387-F7EB-4563-A7FC-F04D083C0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98E60AE-948C-4B82-B2EA-565363D1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4288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Petrobras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6F5CC2D-80D2-4EC2-B079-78C50EC1A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24288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FC055D0-BA5B-4861-9DF3-6BE2C617C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R$ 126.739.271,47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5CCBD6B-53B1-4C96-A39A-AE8DA70E4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R$ 1.506.178,20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4C91D91-DE4D-4812-BADD-A5663FF78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R$ 125.233.093,27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8A8D80F-E6CC-4244-8505-E47B47D78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R$ 123.670.948,92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3C56CFE-8A3A-4F48-BDE2-F2177E629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R$ 1.562.144,35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64F18C2-A9C1-4EB0-A6F0-53B4C92D1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99E7B2F-D8AE-4001-B3F8-0DB155993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7717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Enel Green Power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22F869D-9491-472E-B48A-73F723639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27717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460FEF9-6DDD-432A-B18D-03EE52CFC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R$ 74.695.374,05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A5E30A1-C27E-4D1A-AE4A-F9BF62DB2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R$ 46.633.200,10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00001F8-9012-4D28-A2CA-A7162310B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R$ 28.062.173,95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96D479D-4B32-4486-9087-EC8DF4E88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R$ 28.062.173,95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8B7FBD9-FFE9-491E-86E0-7B052E06E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23C3B75-0C8D-4C90-950C-5B4ACE5F9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2CAE031-99CE-4C28-B769-E76F87292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4555C18-25E7-480B-BEC9-8EEEF1E90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1146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CEMIG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8FCDD4B-79D3-46E5-AF46-083CE1E4C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1146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29EAB4E-C01B-435D-91F5-F8ECC8267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R$ 157.646.971,08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5CF3CAD-6EDC-46B0-AA1C-C236D42E0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R$ 15.287.450,14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8A1A442-6DDB-41FA-A6C2-F5939935C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R$ 142.359.520,94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E5608BC-B39E-41A4-A451-4312C4367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R$ 142.359.520,94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4D0A1E7-612F-472A-A086-99D86A9D3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9B7BF23-3E81-4BA4-B2E2-D1BEBCF81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A1A0EDA-71FA-44B7-BA21-9027B5A5A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4575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Âmbar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6E1A1BB-81D4-42FB-877C-A2CBDCBFE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4575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067B8EC-4268-4EAB-AFFE-5767D9EEA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R$ 883.317,21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C662571-A6F3-437D-B8DC-B283599F3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R$ 794.985,49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0CA19B2-786E-4201-91D5-489B69A18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R$ 88.331,72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C977A3B-B97F-4EB7-916D-F4636E6DA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R$ 485.824,46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42A1073-AE28-4079-8C33-7E48CA51F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6001F6E-E5BE-4BDB-A02A-173AA237C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1B7FB80-B842-47C7-ADE1-D80672D79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3C0D57B-CCF9-493E-A7D3-EE9BD2CC3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8004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Hydro Alunorte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84E770B-89D8-4383-925E-8837DC0B5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8004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EE4E87C-7395-45B8-B590-48EF3BB43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R$ 4.965.143,38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9A426C4-8D5D-4511-8D1B-636515BCE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R$ 828.439,34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B157817-9BE8-4CDB-958E-5EED8BDFF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R$ 4.136.704,04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D62F9C83-9FBC-4CF6-9C7E-FA4AF9603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R$ 4.136.704,04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C0276A48-A146-4483-BE14-362296B14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AF424A55-41B7-4EA3-8635-8E47251F3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648A1416-B844-4073-810B-6E09D01C3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433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Belém Bioenergia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0A6610C-C3B3-4FFB-B84C-AB2A8CBCB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41433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8289030-BBF7-4741-981A-89E9EBE83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R$ 1.445.844,71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9F04B56B-E461-4A8A-BB1F-A03400079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R$ 279.135,36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919D6EF7-C65E-4CA7-A098-D3AABEC31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R$ 1.166.709,35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8E3116AE-40D5-4C96-A23B-3330A69EC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R$ 1.166.709,35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386FCB66-5F14-40DF-B64A-9F31AEBBF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EC5EAC30-4580-47A5-8103-2FD3259D5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C1D3A6DE-A32C-4080-BC90-BF6B0A0BE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67D4DDF0-C6C1-4CB3-83A1-E90480CF0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862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Flessak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4E2597E6-5568-4EBA-B418-B1B261E51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44862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F17C8CCB-7A43-40B8-ABB0-D5E8D48AD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R$ 803.178,97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DD125F94-19BE-4F88-BE20-E87F79460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R$ 80.317,90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A3806F4C-30C2-4832-AC19-7B235C0CD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R$ 722.861,07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EE8C51F9-F65D-4598-9102-71A7BA875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R$ 722.861,06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7D094299-BE69-47A5-8EA1-A0CD8E15E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R$ 0,01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A40745C1-E494-4FFF-B8C9-861B0CB41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EA717C89-D43F-434E-AA8B-C678A1E1E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291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Harbin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2C73FB12-04EF-4482-9067-6CF761489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48291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DFD23941-E132-4C3D-AA88-24DA32EE2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914F502F-A700-4EA6-8800-1093C6297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0EF6E06A-8862-4579-8CEA-B129C8EB4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R$ 80.000,00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053CEF2B-74CA-4FFF-B466-609656543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16F0A857-43B3-4A72-9E45-3E2E2C8C9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02BFC8AF-2255-45FE-9346-AA85B243A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482DFB83-1488-4B91-8E5E-9BE9E7C2B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4D0A6071-6A7F-4745-A657-604A959AE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720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ArcelorMittal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9DF31B4E-A415-4667-B444-94AAA0C44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51720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12EA2F1E-8640-46F7-828C-BD5596417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033D5BBE-BA51-4373-9F1B-8C16DB50A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D3590421-4F1F-4D90-8E9D-743D5B175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R$ 261.601,20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351404A2-45BB-4B60-BE98-B830B996A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4DEDBB77-CF7C-4B7D-B715-3DF5EA5C1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A7672773-76D0-45CA-BEDA-0BB2F422F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22434DB4-468E-44EB-877C-4750CE924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149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Andritz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E486271C-8558-4B25-A9B1-472CB2124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55149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09CA54EA-0BF9-4EE1-B8E8-A6B0E8164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4F021719-4217-4C67-A1B0-3159352C3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5C820C0A-CFA1-4D95-8004-C6493FDA4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R$ 80.000,00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5C2A74D7-1CAE-4B5D-BE72-E9D036146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7AC92ADD-AF47-40D8-BF0F-0EFE850BB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7751C266-51A8-4B7D-A372-DC6D3AA2D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B806718B-1FE1-4C37-9D49-678F3C3FE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8E502018-C324-4E3B-9077-1DF64FB25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578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Total da carteira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86679D74-E124-4C4D-9F37-C415E0C42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58578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11 cliente(s)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707E9444-3FBC-41F2-AC0D-B700B0728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R$ 410.145.558,79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16ECE593-836C-48EB-8D3B-BCCD74079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R$ 78.997.337,49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E77261F2-751D-4206-BD37-FEABAADC7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1D4ED8"/>
                </a:solidFill>
              </a:defRPr>
            </a:pPr>
            <a:r>
              <a:rPr sz="938" b="1">
                <a:solidFill>
                  <a:srgbClr val="1D4ED8"/>
                </a:solidFill>
              </a:rPr>
              <a:t>R$ 331.148.221,30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A2A1408C-37F1-480E-935E-AE964D068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R$ 329.983.569,68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D7F62AA2-627F-4F69-90A4-AF497A8F1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R$ 1.562.144,36</a:t>
            </a:r>
          </a:p>
        </p:txBody>
      </p:sp>
    </p:spTree>
    <p:extLst>
      <p:ext uri="{BB962C8B-B14F-4D97-AF65-F5344CB8AC3E}">
        <p14:creationId xmlns:p14="http://schemas.microsoft.com/office/powerpoint/2010/main" val="145867040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7F1201-595B-4837-8DA6-38C26180E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5480F1-7F05-4D02-A807-1A5315389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52035F-7045-4A74-BFCF-B32BF4F57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15 / 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604D03-D234-4B64-A492-B4A2A82A9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e3386ba7994d09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DE03CF-D11F-48C8-9573-A1470813B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C338F6-6EB5-4403-8F7B-C41DDE664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88772f853f4553"/>
          <a:stretch xmlns:a="http://schemas.openxmlformats.org/drawingml/2006/main"/>
        </p:blipFill>
        <p:spPr>
          <a:xfrm xmlns:a="http://schemas.openxmlformats.org/drawingml/2006/main">
            <a:off x="3143250" y="3037351"/>
            <a:ext cx="5905500" cy="7832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35575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2026-09-17T22:40:14.5080000Z</dcterms:created>
  <dcterms:modified xsi:type="dcterms:W3CDTF">2026-09-17T22:40:14.5080000Z</dcterms:modified>
</coreProperties>
</file>