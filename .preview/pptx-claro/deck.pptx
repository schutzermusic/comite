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d22df6589fb4819" /><Relationship Type="http://schemas.openxmlformats.org/officeDocument/2006/relationships/extended-properties" Target="/docProps/app.xml" Id="R4403a50790b94cb3" /><Relationship Type="http://schemas.openxmlformats.org/officeDocument/2006/relationships/officeDocument" Target="/ppt/presentation.xml" Id="R5f6a999023104f8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edf50fe52b647b1"/>
  </p:sldMasterIdLst>
  <p:notesMasterIdLst>
    <p:notesMasterId xmlns:r="http://schemas.openxmlformats.org/officeDocument/2006/relationships" r:id="R8021d22cb82a4568"/>
  </p:notesMasterIdLst>
  <p:sldIdLst>
    <p:sldId xmlns:r="http://schemas.openxmlformats.org/officeDocument/2006/relationships" id="256" r:id="R813cb368b91148c5"/>
    <p:sldId xmlns:r="http://schemas.openxmlformats.org/officeDocument/2006/relationships" id="257" r:id="R0b9d57fd78564268"/>
    <p:sldId xmlns:r="http://schemas.openxmlformats.org/officeDocument/2006/relationships" id="258" r:id="Rd35b8bed096d464a"/>
    <p:sldId xmlns:r="http://schemas.openxmlformats.org/officeDocument/2006/relationships" id="259" r:id="R0ea68fa069934a0e"/>
    <p:sldId xmlns:r="http://schemas.openxmlformats.org/officeDocument/2006/relationships" id="260" r:id="R3b5c6e9510a342a1"/>
    <p:sldId xmlns:r="http://schemas.openxmlformats.org/officeDocument/2006/relationships" id="261" r:id="R39e105b98c684af8"/>
    <p:sldId xmlns:r="http://schemas.openxmlformats.org/officeDocument/2006/relationships" id="262" r:id="Rf9d84b8cc9f54c34"/>
    <p:sldId xmlns:r="http://schemas.openxmlformats.org/officeDocument/2006/relationships" id="263" r:id="R64a3fbc8214d458f"/>
    <p:sldId xmlns:r="http://schemas.openxmlformats.org/officeDocument/2006/relationships" id="264" r:id="R68c7e2e569a740c7"/>
    <p:sldId xmlns:r="http://schemas.openxmlformats.org/officeDocument/2006/relationships" id="265" r:id="R52b2d7de851a422b"/>
    <p:sldId xmlns:r="http://schemas.openxmlformats.org/officeDocument/2006/relationships" id="266" r:id="R38c1e6c8e7364e6f"/>
    <p:sldId xmlns:r="http://schemas.openxmlformats.org/officeDocument/2006/relationships" id="267" r:id="R3b15dc44c7134ef9"/>
    <p:sldId xmlns:r="http://schemas.openxmlformats.org/officeDocument/2006/relationships" id="268" r:id="Rb18a31cc42ff4118"/>
    <p:sldId xmlns:r="http://schemas.openxmlformats.org/officeDocument/2006/relationships" id="269" r:id="R932f3e12610b45ba"/>
    <p:sldId xmlns:r="http://schemas.openxmlformats.org/officeDocument/2006/relationships" id="270" r:id="Recb3bac9bd5e411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fefa0804be04f80" /><Relationship Type="http://schemas.openxmlformats.org/officeDocument/2006/relationships/slideMaster" Target="/ppt/slideMasters/slideMaster1.xml" Id="R3edf50fe52b647b1" /><Relationship Type="http://schemas.openxmlformats.org/officeDocument/2006/relationships/notesMaster" Target="/ppt/notesMasters/notesMaster1.xml" Id="R8021d22cb82a4568" /><Relationship Type="http://schemas.openxmlformats.org/officeDocument/2006/relationships/presProps" Target="/ppt/presProps.xml" Id="R2c206b62d5c74f18" /><Relationship Type="http://schemas.openxmlformats.org/officeDocument/2006/relationships/tableStyles" Target="/ppt/tableStyles.xml" Id="R565cb36f30ae48ab" /><Relationship Type="http://schemas.openxmlformats.org/officeDocument/2006/relationships/slide" Target="/ppt/slides/slide1.xml" Id="R813cb368b91148c5" /><Relationship Type="http://schemas.openxmlformats.org/officeDocument/2006/relationships/slide" Target="/ppt/slides/slide2.xml" Id="R0b9d57fd78564268" /><Relationship Type="http://schemas.openxmlformats.org/officeDocument/2006/relationships/slide" Target="/ppt/slides/slide3.xml" Id="Rd35b8bed096d464a" /><Relationship Type="http://schemas.openxmlformats.org/officeDocument/2006/relationships/slide" Target="/ppt/slides/slide4.xml" Id="R0ea68fa069934a0e" /><Relationship Type="http://schemas.openxmlformats.org/officeDocument/2006/relationships/slide" Target="/ppt/slides/slide5.xml" Id="R3b5c6e9510a342a1" /><Relationship Type="http://schemas.openxmlformats.org/officeDocument/2006/relationships/slide" Target="/ppt/slides/slide6.xml" Id="R39e105b98c684af8" /><Relationship Type="http://schemas.openxmlformats.org/officeDocument/2006/relationships/slide" Target="/ppt/slides/slide7.xml" Id="Rf9d84b8cc9f54c34" /><Relationship Type="http://schemas.openxmlformats.org/officeDocument/2006/relationships/slide" Target="/ppt/slides/slide8.xml" Id="R64a3fbc8214d458f" /><Relationship Type="http://schemas.openxmlformats.org/officeDocument/2006/relationships/slide" Target="/ppt/slides/slide9.xml" Id="R68c7e2e569a740c7" /><Relationship Type="http://schemas.openxmlformats.org/officeDocument/2006/relationships/slide" Target="/ppt/slides/slide10.xml" Id="R52b2d7de851a422b" /><Relationship Type="http://schemas.openxmlformats.org/officeDocument/2006/relationships/slide" Target="/ppt/slides/slide11.xml" Id="R38c1e6c8e7364e6f" /><Relationship Type="http://schemas.openxmlformats.org/officeDocument/2006/relationships/slide" Target="/ppt/slides/slide12.xml" Id="R3b15dc44c7134ef9" /><Relationship Type="http://schemas.openxmlformats.org/officeDocument/2006/relationships/slide" Target="/ppt/slides/slide13.xml" Id="Rb18a31cc42ff4118" /><Relationship Type="http://schemas.openxmlformats.org/officeDocument/2006/relationships/slide" Target="/ppt/slides/slide14.xml" Id="R932f3e12610b45ba" /><Relationship Type="http://schemas.openxmlformats.org/officeDocument/2006/relationships/slide" Target="/ppt/slides/slide15.xml" Id="Recb3bac9bd5e411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77f08fada8e41b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fbe615fbd8041ce" /><Relationship Type="http://schemas.openxmlformats.org/officeDocument/2006/relationships/notesMaster" Target="/ppt/notesMasters/notesMaster1.xml" Id="Re97fca48ac09435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062cd5607f4415b" /><Relationship Type="http://schemas.openxmlformats.org/officeDocument/2006/relationships/notesMaster" Target="/ppt/notesMasters/notesMaster1.xml" Id="R392b6b5c356c4dd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1825f2197c8418b" /><Relationship Type="http://schemas.openxmlformats.org/officeDocument/2006/relationships/notesMaster" Target="/ppt/notesMasters/notesMaster1.xml" Id="R9f69452e4b574c0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b59cdfda6294bd8" /><Relationship Type="http://schemas.openxmlformats.org/officeDocument/2006/relationships/notesMaster" Target="/ppt/notesMasters/notesMaster1.xml" Id="Rf86fc7d4a62c422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31ece9ec2114ae4" /><Relationship Type="http://schemas.openxmlformats.org/officeDocument/2006/relationships/notesMaster" Target="/ppt/notesMasters/notesMaster1.xml" Id="Rf350692d91b14fc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8fc9bdc0d474d3e" /><Relationship Type="http://schemas.openxmlformats.org/officeDocument/2006/relationships/notesMaster" Target="/ppt/notesMasters/notesMaster1.xml" Id="R499b6e23dfd949a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d762a4ce06b4e4a" /><Relationship Type="http://schemas.openxmlformats.org/officeDocument/2006/relationships/notesMaster" Target="/ppt/notesMasters/notesMaster1.xml" Id="Rab91650e01544e7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af08e83ea954a10" /><Relationship Type="http://schemas.openxmlformats.org/officeDocument/2006/relationships/notesMaster" Target="/ppt/notesMasters/notesMaster1.xml" Id="R688a9e8e098e4bf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226d4e0183e4325" /><Relationship Type="http://schemas.openxmlformats.org/officeDocument/2006/relationships/notesMaster" Target="/ppt/notesMasters/notesMaster1.xml" Id="Ra3ce527f6801493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35b8bae557c4a8b" /><Relationship Type="http://schemas.openxmlformats.org/officeDocument/2006/relationships/notesMaster" Target="/ppt/notesMasters/notesMaster1.xml" Id="Rf6b09ee308d1452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039fe6987494f81" /><Relationship Type="http://schemas.openxmlformats.org/officeDocument/2006/relationships/notesMaster" Target="/ppt/notesMasters/notesMaster1.xml" Id="Rc70508341d59453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a74202e89474cc6" /><Relationship Type="http://schemas.openxmlformats.org/officeDocument/2006/relationships/notesMaster" Target="/ppt/notesMasters/notesMaster1.xml" Id="R1e42d20c2ded459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f9d619a87f94b68" /><Relationship Type="http://schemas.openxmlformats.org/officeDocument/2006/relationships/notesMaster" Target="/ppt/notesMasters/notesMaster1.xml" Id="Rcbfecef4b0a54a7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20c662f73c04316" /><Relationship Type="http://schemas.openxmlformats.org/officeDocument/2006/relationships/notesMaster" Target="/ppt/notesMasters/notesMaster1.xml" Id="Re37d8aeb0e354f9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de0a6a8af304574" /><Relationship Type="http://schemas.openxmlformats.org/officeDocument/2006/relationships/notesMaster" Target="/ppt/notesMasters/notesMaster1.xml" Id="Rfbd9803a5ce642a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Use o roteiro para combinar o tempo de cada bloco antes de entrar nos números.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- 31 competência(s) com valor realizado e 29 com previsão. Realizado e previsto permanecem identificados separadamente em todas as séries.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Traço contínuo: valores fechados. Traço tracejado: projeção ancorada na última competência realizada.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trajetória acumulada mantém-se positiva em todo o recorte e fecha em R$ 421,6 mi.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Nenhuma competência do recorte fecha com saldo mensal negativo.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Cada série identifica o cliente que compõe o faturamento previsto.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Base contratual usada para limitar e distribuir a projeção.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Seguimos comprometidos com uma execução disciplinada, crescimento sustentável e geração consistente de valor para nossos investidores.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68ab1cf62c44b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e5f40ffd5d44fa7" /><Relationship Type="http://schemas.openxmlformats.org/officeDocument/2006/relationships/slideLayout" Target="/ppt/slideLayouts/slideLayout1.xml" Id="Rd4b339f4e10a442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4b339f4e10a442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d0252701b14e68" /><Relationship Type="http://schemas.openxmlformats.org/officeDocument/2006/relationships/image" Target="/ppt/media/image.png" Id="R15303bc2ac664db6" /><Relationship Type="http://schemas.openxmlformats.org/officeDocument/2006/relationships/image" Target="/ppt/media/image2.png" Id="Re8d5b99d850d4163" /><Relationship Type="http://schemas.openxmlformats.org/officeDocument/2006/relationships/notesSlide" Target="/ppt/notesSlides/notesSlide1.xml" Id="R99befc56eeca4f4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1c8a70b1854a68" /><Relationship Type="http://schemas.openxmlformats.org/officeDocument/2006/relationships/image" Target="/ppt/media/image3.png" Id="R5cba2d562f5e476f" /><Relationship Type="http://schemas.openxmlformats.org/officeDocument/2006/relationships/notesSlide" Target="/ppt/notesSlides/notesSlide2.xml" Id="Rfcbd586f159147f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613428fa764987" /><Relationship Type="http://schemas.openxmlformats.org/officeDocument/2006/relationships/image" Target="/ppt/media/image4.png" Id="Rbd93da5840994c36" /><Relationship Type="http://schemas.openxmlformats.org/officeDocument/2006/relationships/image" Target="/ppt/media/image5.png" Id="R3ff47409b1c242e4" /><Relationship Type="http://schemas.openxmlformats.org/officeDocument/2006/relationships/image" Target="/ppt/media/image.svg" Id="R00522dacbc504dd0" /><Relationship Type="http://schemas.openxmlformats.org/officeDocument/2006/relationships/notesSlide" Target="/ppt/notesSlides/notesSlide3.xml" Id="Rb38a5b6c1c914b2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14ed8f4d7340b2" /><Relationship Type="http://schemas.openxmlformats.org/officeDocument/2006/relationships/image" Target="/ppt/media/image6.png" Id="R40b60d906fb340f3" /><Relationship Type="http://schemas.openxmlformats.org/officeDocument/2006/relationships/image" Target="/ppt/media/image7.png" Id="R4439cec6a83e45a1" /><Relationship Type="http://schemas.openxmlformats.org/officeDocument/2006/relationships/image" Target="/ppt/media/image2.svg" Id="Rc7315ff1d07d479e" /><Relationship Type="http://schemas.openxmlformats.org/officeDocument/2006/relationships/notesSlide" Target="/ppt/notesSlides/notesSlide4.xml" Id="Ra3ed9e411175415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47565ed64f4711" /><Relationship Type="http://schemas.openxmlformats.org/officeDocument/2006/relationships/image" Target="/ppt/media/image8.png" Id="R7e59b49da478475d" /><Relationship Type="http://schemas.openxmlformats.org/officeDocument/2006/relationships/image" Target="/ppt/media/image9.png" Id="Rf6fb6497aa6e42a9" /><Relationship Type="http://schemas.openxmlformats.org/officeDocument/2006/relationships/image" Target="/ppt/media/image3.svg" Id="R15cd7b33f26f4856" /><Relationship Type="http://schemas.openxmlformats.org/officeDocument/2006/relationships/notesSlide" Target="/ppt/notesSlides/notesSlide5.xml" Id="Ra0b3ea81da97488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6d3166476c4906" /><Relationship Type="http://schemas.openxmlformats.org/officeDocument/2006/relationships/image" Target="/ppt/media/image10.png" Id="R1dd98af84d4e4be5" /><Relationship Type="http://schemas.openxmlformats.org/officeDocument/2006/relationships/image" Target="/ppt/media/image11.png" Id="Rd78ffe52f578414a" /><Relationship Type="http://schemas.openxmlformats.org/officeDocument/2006/relationships/image" Target="/ppt/media/image4.svg" Id="Rca6a1dfd32bb43cc" /><Relationship Type="http://schemas.openxmlformats.org/officeDocument/2006/relationships/notesSlide" Target="/ppt/notesSlides/notesSlide6.xml" Id="R82321a54723941f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a9387893634d55" /><Relationship Type="http://schemas.openxmlformats.org/officeDocument/2006/relationships/image" Target="/ppt/media/image12.png" Id="Rdde3acc07b624209" /><Relationship Type="http://schemas.openxmlformats.org/officeDocument/2006/relationships/image" Target="/ppt/media/image13.png" Id="Rcab0e3bd133c400e" /><Relationship Type="http://schemas.openxmlformats.org/officeDocument/2006/relationships/image" Target="/ppt/media/image5.svg" Id="R70a787ea23c643ca" /><Relationship Type="http://schemas.openxmlformats.org/officeDocument/2006/relationships/notesSlide" Target="/ppt/notesSlides/notesSlide7.xml" Id="Rd5ba1241aa4f4aa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e2fd5f81694b5f" /><Relationship Type="http://schemas.openxmlformats.org/officeDocument/2006/relationships/image" Target="/ppt/media/image14.png" Id="R2d9919789907455e" /><Relationship Type="http://schemas.openxmlformats.org/officeDocument/2006/relationships/image" Target="/ppt/media/image15.png" Id="R253bd83c98ed4873" /><Relationship Type="http://schemas.openxmlformats.org/officeDocument/2006/relationships/image" Target="/ppt/media/image6.svg" Id="R49638c0a88e2440a" /><Relationship Type="http://schemas.openxmlformats.org/officeDocument/2006/relationships/notesSlide" Target="/ppt/notesSlides/notesSlide8.xml" Id="Rb93ba20186764b2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370ceda54c4386" /><Relationship Type="http://schemas.openxmlformats.org/officeDocument/2006/relationships/image" Target="/ppt/media/image16.png" Id="R4e9410b5bef847c3" /><Relationship Type="http://schemas.openxmlformats.org/officeDocument/2006/relationships/notesSlide" Target="/ppt/notesSlides/notesSlide9.xml" Id="R4070f4a9ba89452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dbf2c254cb4c86" /><Relationship Type="http://schemas.openxmlformats.org/officeDocument/2006/relationships/image" Target="/ppt/media/image17.png" Id="Rf2acfe0c6fcc40bf" /><Relationship Type="http://schemas.openxmlformats.org/officeDocument/2006/relationships/notesSlide" Target="/ppt/notesSlides/notesSlide10.xml" Id="R6376e20f8e7f4c3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9fadc0c6b14492" /><Relationship Type="http://schemas.openxmlformats.org/officeDocument/2006/relationships/image" Target="/ppt/media/image18.png" Id="R14be2bb7b886468a" /><Relationship Type="http://schemas.openxmlformats.org/officeDocument/2006/relationships/notesSlide" Target="/ppt/notesSlides/notesSlide11.xml" Id="R8f2014d9475342f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3d136aea674c62" /><Relationship Type="http://schemas.openxmlformats.org/officeDocument/2006/relationships/image" Target="/ppt/media/image19.png" Id="Rd22f19c721874499" /><Relationship Type="http://schemas.openxmlformats.org/officeDocument/2006/relationships/notesSlide" Target="/ppt/notesSlides/notesSlide12.xml" Id="R04ae52a29515487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5f9489f44e42fa" /><Relationship Type="http://schemas.openxmlformats.org/officeDocument/2006/relationships/image" Target="/ppt/media/image20.png" Id="R8057c0f2a1fc429d" /><Relationship Type="http://schemas.openxmlformats.org/officeDocument/2006/relationships/notesSlide" Target="/ppt/notesSlides/notesSlide13.xml" Id="R5dfd9c9658234a2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0fef75337e4324" /><Relationship Type="http://schemas.openxmlformats.org/officeDocument/2006/relationships/image" Target="/ppt/media/image21.png" Id="R5f0d1e210a16401d" /><Relationship Type="http://schemas.openxmlformats.org/officeDocument/2006/relationships/notesSlide" Target="/ppt/notesSlides/notesSlide14.xml" Id="Ra66e287bed764dd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aa47edd8f44bde" /><Relationship Type="http://schemas.openxmlformats.org/officeDocument/2006/relationships/image" Target="/ppt/media/image22.png" Id="Rf6bdf99f43eb44ce" /><Relationship Type="http://schemas.openxmlformats.org/officeDocument/2006/relationships/image" Target="/ppt/media/image23.png" Id="R1fcae4f925b6449f" /><Relationship Type="http://schemas.openxmlformats.org/officeDocument/2006/relationships/notesSlide" Target="/ppt/notesSlides/notesSlide15.xml" Id="Rc977b566de3040e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151B4C-916D-4B08-B072-E9D13454F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559128-9027-4B49-98DF-21C25F533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B84458-6C28-406C-8DAF-B5E27748E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303bc2ac664db6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E6A6F5-15CE-4668-8A1E-C43DAE964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D83843-0D3F-431D-A59C-C1496EAF8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d5b99d850d4163"/>
          <a:stretch xmlns:a="http://schemas.openxmlformats.org/drawingml/2006/main"/>
        </p:blipFill>
        <p:spPr>
          <a:xfrm xmlns:a="http://schemas.openxmlformats.org/drawingml/2006/main">
            <a:off x="609600" y="685800"/>
            <a:ext cx="3303330" cy="4381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F1B012-39BC-477D-9D48-D3404FC31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762000"/>
            <a:ext cx="1866900" cy="285750"/>
          </a:xfrm>
          <a:prstGeom xmlns:a="http://schemas.openxmlformats.org/drawingml/2006/main" prst="roundRect">
            <a:avLst>
              <a:gd name="adj" fmla="val 4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CBD8D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1874FC-16F6-45A1-8EE5-9FCA7B0F8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828675"/>
            <a:ext cx="1866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0874A"/>
                </a:solidFill>
              </a:defRPr>
            </a:pPr>
            <a:r>
              <a:rPr sz="900" b="1">
                <a:solidFill>
                  <a:srgbClr val="00874A"/>
                </a:solidFill>
              </a:rPr>
              <a:t>CONFIDENCIAL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D0FF9F-7579-4EEF-8935-8B229FAC0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9525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0B1A20"/>
                </a:solidFill>
              </a:defRPr>
            </a:pPr>
            <a:r>
              <a:rPr sz="3900" b="1">
                <a:solidFill>
                  <a:srgbClr val="0B1A20"/>
                </a:solidFill>
              </a:rPr>
              <a:t>Relatório de Faturamento vs Folha de Pagamento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DDC128-ABFA-4BC2-B956-75908B854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PERÍODO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3CB898-3AF6-47FE-B535-47A373EB9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383F"/>
                </a:solidFill>
              </a:defRPr>
            </a:pPr>
            <a:r>
              <a:rPr sz="1275" b="1">
                <a:solidFill>
                  <a:srgbClr val="26383F"/>
                </a:solidFill>
              </a:rPr>
              <a:t>jan de 24 — dez de 28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0934B4-AC9D-496B-BA0A-A2C266AEC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DATA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ACE8BA-9F59-4171-AE2A-5E22413FC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383F"/>
                </a:solidFill>
              </a:defRPr>
            </a:pPr>
            <a:r>
              <a:rPr sz="1275" b="1">
                <a:solidFill>
                  <a:srgbClr val="26383F"/>
                </a:solidFill>
              </a:rPr>
              <a:t>30-07-2026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7888E8-5009-4EAA-9C52-90103657D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PREPARADO POR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F007EF-EFC6-417B-9FAA-725CCBA3E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383F"/>
                </a:solidFill>
              </a:defRPr>
            </a:pPr>
            <a:r>
              <a:rPr sz="1275" b="1">
                <a:solidFill>
                  <a:srgbClr val="26383F"/>
                </a:solidFill>
              </a:rPr>
              <a:t>Sergio Fagundes</a:t>
            </a:r>
          </a:p>
        </p:txBody>
      </p:sp>
    </p:spTree>
    <p:extLst>
      <p:ext uri="{BB962C8B-B14F-4D97-AF65-F5344CB8AC3E}">
        <p14:creationId xmlns:p14="http://schemas.microsoft.com/office/powerpoint/2010/main" val="214500694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7C6C58D-CFE9-41DA-8BE6-3A84B3F39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895D3D-2219-42A1-974D-A82A6A23F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1B67E0-35B5-4415-8C85-75CC03C6A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ROTEIRO DA APRESENTAÇÃO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EC9132-0E81-4FF4-A176-ECD197071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C00AF3-6F39-4B16-9E2D-6E796D9BF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ba2d562f5e476f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B0C963-E7A4-4D0E-89CD-D8265934D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2204CD-D08A-48D3-8B2B-C60470D40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FAE7DD-4B60-480B-85A4-DAA2B7AFE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O que esta leitura cobre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F6CB69-8CF5-4C0E-9E78-BACCCF414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5CCFA5-8C72-4325-8D00-5C38AB6C3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C016E9-274F-47B2-B93A-D78E0C26B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Síntese executiva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E69FB6-B5B4-4806-8174-87533089B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Cobertura, saldo e os sinais que resumem o período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762E85-0A97-4C68-887B-701FC5D06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CE04A1-1CCB-45A5-A011-6308C5FB5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8C5468-F495-447C-98C9-ED40C5F61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Evolução mensal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462C99-EB76-470A-B324-6D425E890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Receita e folha competência a competência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FC35D4-9124-4327-8FD3-24F27C926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86C80D-4633-4CB7-9264-27A7582C6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EC5A5D-EA8A-4F59-BB8E-A1CA25C3B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Curva mensal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CD86B8C-62D9-4512-A6F5-9B3D167E4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Valores de cada competência, sem acumulação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CA6738A-7582-4FA3-AF31-9B31A11B4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FAE10EB-10CF-4642-9687-6ACA285DF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47D4646-C490-4C8D-B617-8E9BA25B7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Curva S acumulada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8C447EA-24F5-4827-BA2B-16F065DC3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Trajetória acumulada e zona de previsão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6570B3D-35F6-4172-892C-4F8C97BF4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60F4489-436A-4419-89CB-31AA50B11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6D3F9F6-F52B-4B1F-868A-884950ACB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Saldo e acumulado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609C564-10DE-4C90-8A60-AFB696F76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Onde o período gera e onde consome resultado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6A656F0-2ECD-4661-A63D-243889375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C6B8C98-2FA7-427C-A426-43E8D5E24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5521DBB-A1A0-4ACE-BADD-DDD0976E6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Projeção por cliente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B2E1B7B-6FFD-4151-89B1-54E990A6C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Composição do faturamento projetado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201EDAE-0E0C-4E28-BECD-042F075C7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CDC4A96-9860-47F3-9E26-46B9CE1D2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B0A5DC1-BC07-4713-877C-72089AC4F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Base mensal informada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1004018-EE5A-414B-B287-2C477AF38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Todos os valores por trás dos gráficos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58B7C02-ACC1-4773-ABAF-CD1EC6D62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0AB269A-E589-403E-AC89-0A66AA8B2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FE0B8A9-48F7-43CA-BBCF-108579723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Carteira e recebíveis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53CD99A-6518-4163-938B-B763279E8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Backlog que sustenta a projeção</a:t>
            </a:r>
          </a:p>
        </p:txBody>
      </p:sp>
    </p:spTree>
    <p:extLst>
      <p:ext uri="{BB962C8B-B14F-4D97-AF65-F5344CB8AC3E}">
        <p14:creationId xmlns:p14="http://schemas.microsoft.com/office/powerpoint/2010/main" val="135320365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29F6E9F9-54AF-4C79-8ECF-8EFE40DAE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CEC557-0103-4C36-9778-4FBED60E7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E274CA-8F67-4759-9A4C-86B153F3F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SÍNTESE EXECUTIVA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91F08A-A837-4A95-B529-891BB9F20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9D2755-6DE0-4C23-8DF2-F6F13C587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93da5840994c36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5A2D97-F7DA-4AB4-B8BF-6F73F042E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814651-B8CD-43D1-819F-D88E468EC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BA8FF0-D670-4150-B587-6870AE849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7543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75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B1A20"/>
                </a:solidFill>
              </a:defRPr>
            </a:pPr>
            <a:r>
              <a:rPr sz="2400" b="1">
                <a:solidFill>
                  <a:srgbClr val="0B1A20"/>
                </a:solidFill>
              </a:rPr>
              <a:t>A receita do período cobre 5,44x o custo de folha informado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AB21C9-0C25-4CFD-A4FB-F4E02A735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723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26383F"/>
                </a:solidFill>
              </a:defRPr>
            </a:pPr>
            <a:r>
              <a:rPr sz="1200">
                <a:solidFill>
                  <a:srgbClr val="26383F"/>
                </a:solidFill>
              </a:rPr>
              <a:t>A receita consolidada sustenta a estrutura atual e a carteira prevista amplia a cobertura da folha ao longo do horizonte projetado.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65C880-514B-4F8A-9224-7B1255BE2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7543800" cy="1390650"/>
          </a:xfrm>
          <a:prstGeom xmlns:a="http://schemas.openxmlformats.org/drawingml/2006/main" prst="roundRect">
            <a:avLst>
              <a:gd name="adj" fmla="val 821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CBD8D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21CFA3-7786-4D25-AA3F-1406CCC64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CBDA06-E0E0-4619-AC4B-E08B55C7F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74C38B-89FF-4716-A6BF-02ED9C736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7B5C2B-EF39-4C2B-A7E9-71E30BDC8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094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830019-E4E0-4137-9702-EE2421552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169714-BEB9-4FC5-9409-A8B6F59CE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 REALIZADO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B3CF52-BAE8-43FC-98E9-69156BF94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874A"/>
                </a:solidFill>
              </a:defRPr>
            </a:pPr>
            <a:r>
              <a:rPr sz="1950" b="1">
                <a:solidFill>
                  <a:srgbClr val="00874A"/>
                </a:solidFill>
              </a:rPr>
              <a:t>R$ 191,6 mi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6F8ADD4-5689-43E5-A9E2-A690F9129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31 competência(s)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9A4B2B-004A-4AA3-A7D7-CF296F534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1269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9EB030-1F3B-4683-B63E-26999C4FD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6138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7C59F63-9CD4-4A47-A611-45B4D8CBF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92C6BA-6962-4A5E-A50C-79555924C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9394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 PREVISTO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785CDB0-02C6-46A7-812B-D4B99E99C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D4ED8"/>
                </a:solidFill>
              </a:defRPr>
            </a:pPr>
            <a:r>
              <a:rPr sz="1950" b="1">
                <a:solidFill>
                  <a:srgbClr val="1D4ED8"/>
                </a:solidFill>
              </a:rPr>
              <a:t>R$ 325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42BC276-9C73-4E18-8569-A082E44C9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63% da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99083B9-567B-48E6-9D3F-FDC4F6DCD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5313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F6B2DB-64B5-4A02-82AF-4E66D78A1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0181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9B46313-06C0-42FC-B348-ED4AE15F7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410AF45-5FC9-480D-92A1-2E2DDD3FA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3438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TOTAL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CBAC8C6-923F-4B6E-8AC3-2DA9864BC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B45309"/>
                </a:solidFill>
              </a:defRPr>
            </a:pPr>
            <a:r>
              <a:rPr sz="1950" b="1">
                <a:solidFill>
                  <a:srgbClr val="B45309"/>
                </a:solidFill>
              </a:rPr>
              <a:t>R$ 95 mi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A5073A2-2BCA-4BE2-95D2-17990A51D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fechada + projetada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13CC274-EE15-452D-B108-55BB650C9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356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31166FE-C045-4447-8407-C9974F6F5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4225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AD736F8-9797-43C3-8ABD-1F425D7B1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D09DC59-5E84-4AD4-B451-739C56921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7481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 ACUMULADO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8874DB8-A8ED-4D63-833A-5BE468F25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874A"/>
                </a:solidFill>
              </a:defRPr>
            </a:pPr>
            <a:r>
              <a:rPr sz="1950" b="1">
                <a:solidFill>
                  <a:srgbClr val="00874A"/>
                </a:solidFill>
              </a:rPr>
              <a:t>R$ 421,6 mi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1008AF1-5356-4BC4-8D5C-06DA5F687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no fecho do recorte</a:t>
            </a:r>
          </a:p>
        </p:txBody>
      </p:sp>
      <p:pic>
        <p:nvPicPr>
          <p:cNvPr id="1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f47409b1c242e4">
            <a:extLst>
              <a:ext uri="{96DAC541-7B7A-43D3-8B79-37D633B846F1}">
                <asvg:svgBlip xmlns:asvg="http://schemas.microsoft.com/office/drawing/2016/SVG/main" r:embed="R00522dacbc504dd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724900" y="1428750"/>
            <a:ext cx="2286000" cy="2286000"/>
          </a:xfrm>
          <a:prstGeom xmlns:a="http://schemas.openxmlformats.org/drawingml/2006/main" prst="rect">
            <a:avLst/>
          </a:prstGeom>
        </p:spPr>
      </p:pic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2D36B3B-FA0D-49C2-8D1C-D1E2B7EDE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3380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COBERTURA RECEITA / FOLHA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83C03C8-C233-4D51-84CB-9EF92E88F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43350"/>
            <a:ext cx="297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Marca central do arco = ponto de equilíbrio (1,00x). +444 p.p. em relação ao equilíbrio.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C3C2285-CD64-4803-A709-BDD5FB755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1676400"/>
          </a:xfrm>
          <a:prstGeom xmlns:a="http://schemas.openxmlformats.org/drawingml/2006/main" prst="roundRect">
            <a:avLst>
              <a:gd name="adj" fmla="val 6818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CBD8DE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3D83306-8620-4798-9DD3-D2CA4D336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C3DD15F-0F97-4648-8770-B2DD2C806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87150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FCB3FF9-8811-436B-AE68-4D3463B45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79206DB-0D0C-45D8-B3B2-3C67715FA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4979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ACD6837-239C-449E-AB2E-493770073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B8E4EDD-72E5-4418-B7D3-68E496440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COBERTURA RECEITA / FOLHA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51A9192-9F3B-4763-9D60-99036FFFA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0874A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5147183-85D1-462C-B6D8-A50288F39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874A"/>
                </a:solidFill>
              </a:defRPr>
            </a:pPr>
            <a:r>
              <a:rPr sz="675" b="1">
                <a:solidFill>
                  <a:srgbClr val="00874A"/>
                </a:solidFill>
              </a:rPr>
              <a:t>SINAL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50469B6-A39C-41E6-AD4A-7417BBE8C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874A"/>
                </a:solidFill>
              </a:defRPr>
            </a:pPr>
            <a:r>
              <a:rPr sz="1425" b="1">
                <a:solidFill>
                  <a:srgbClr val="00874A"/>
                </a:solidFill>
              </a:rPr>
              <a:t>5,44x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7451DE9-94A1-448D-B8FA-19689765C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Razão entre a receita total e a folha total do recorte informado.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396CDC0-A65E-4E66-B9E4-4ABEE4A19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8519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4505831-2994-4164-AF62-B655EEC3A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73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DEEC46C-7F1B-4A01-9039-C18DB1242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7338BF3-D817-48C0-839A-FE8FB627B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6644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 ACUMULADO NO FECHO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FF36942-F4C6-48E5-AAB9-CE582677C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0874A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909DB6C-BE5F-4EF7-A29A-9719E4E7D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874A"/>
                </a:solidFill>
              </a:defRPr>
            </a:pPr>
            <a:r>
              <a:rPr sz="675" b="1">
                <a:solidFill>
                  <a:srgbClr val="00874A"/>
                </a:solidFill>
              </a:rPr>
              <a:t>SINAL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B5E8E8B-7C10-4B25-80D7-313E92954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874A"/>
                </a:solidFill>
              </a:defRPr>
            </a:pPr>
            <a:r>
              <a:rPr sz="1425" b="1">
                <a:solidFill>
                  <a:srgbClr val="00874A"/>
                </a:solidFill>
              </a:rPr>
              <a:t>R$ 421,6 mi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2501475-8DD0-403F-8F3E-001B92F90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Diferença acumulada entre receita e folha ao fim de 60 competências.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D62A450-F6C2-4E45-8551-5BF7AA18E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9813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EE06700-CF31-4673-BAD7-7244DD914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7566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73AA165-74A1-4C8A-988F-7B0FB1022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23F98D9-EFF7-437B-9C7D-F9F7E2A56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7938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MÊS MAIS APERTADO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72AE47B-3E11-45EA-803C-BA2E6A31F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2733BB9-C78D-41D2-8C6A-30D28B594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B45309"/>
                </a:solidFill>
              </a:defRPr>
            </a:pPr>
            <a:r>
              <a:rPr sz="675" b="1">
                <a:solidFill>
                  <a:srgbClr val="B45309"/>
                </a:solidFill>
              </a:rPr>
              <a:t>MONITORAR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BF379564-13B4-4CAF-98E7-2458B9161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B45309"/>
                </a:solidFill>
              </a:defRPr>
            </a:pPr>
            <a:r>
              <a:rPr sz="1425" b="1">
                <a:solidFill>
                  <a:srgbClr val="B45309"/>
                </a:solidFill>
              </a:rPr>
              <a:t>fev de 26 · 1,39x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BEDB7B02-88A6-43A9-ACD5-B185E2131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Menor cobertura mensal do recorte.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3816790-79C7-4B92-B8C4-EAFB7141D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106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EB7E5280-B753-4FA2-8A8A-05FCBA470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8860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34E7B358-29BC-4E25-8C89-DF605E98C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4D3A42F1-923D-41E5-B76B-E2E8AD7D9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231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PICO DE RECEITA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29ED3A16-12EE-43A7-9C02-3CCAC3A84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0874A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CD5CE49D-BDE5-4040-ABA6-D96C39EC9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874A"/>
                </a:solidFill>
              </a:defRPr>
            </a:pPr>
            <a:r>
              <a:rPr sz="675" b="1">
                <a:solidFill>
                  <a:srgbClr val="00874A"/>
                </a:solidFill>
              </a:rPr>
              <a:t>SINAL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BC909CE-98D9-4A94-9426-4E652308F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874A"/>
                </a:solidFill>
              </a:defRPr>
            </a:pPr>
            <a:r>
              <a:rPr sz="1425" b="1">
                <a:solidFill>
                  <a:srgbClr val="00874A"/>
                </a:solidFill>
              </a:rPr>
              <a:t>dez de 28 · R$ 15 mi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49C68CEE-9F2C-425F-8DCE-0ABBF2B84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Maior receita mensal (realizada + prevista) do recorte.</a:t>
            </a:r>
          </a:p>
        </p:txBody>
      </p:sp>
    </p:spTree>
    <p:extLst>
      <p:ext uri="{BB962C8B-B14F-4D97-AF65-F5344CB8AC3E}">
        <p14:creationId xmlns:p14="http://schemas.microsoft.com/office/powerpoint/2010/main" val="185312371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B5AB058-2D60-495A-9075-1483FB52C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67D8D7-7BF9-4ACD-A65D-3E9209B97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A421F0-9D30-4E1F-A1C3-DE0BAA7A9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EVOLUÇÃO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B47AF5-C672-4F65-82FF-714DD4C11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6E80BD-1519-4145-AC96-F2A4C3951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b60d906fb340f3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317C3A-D172-4224-9EDA-CF834797C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401B83-D23F-4BE3-9401-B5E3C3F23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5CB53A-B058-49CF-92AA-6EC707788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Receita e folha, competência a competência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02F046-87BA-4427-81B9-1F947FB88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31 competência(s) com valor realizado e 29 com previsão. Realizado e previsto permanecem identificados separadamente em todas as séries.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F4E770-AE29-463A-9760-AABEE223A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39cec6a83e45a1">
            <a:extLst>
              <a:ext uri="{96DAC541-7B7A-43D3-8B79-37D633B846F1}">
                <asvg:svgBlip xmlns:asvg="http://schemas.microsoft.com/office/drawing/2016/SVG/main" r:embed="Rc7315ff1d07d479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C55697-6919-4578-A0F9-023AE7BAE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5436EC-2CA6-42BE-BC08-AF8CF5ADD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8C0797-6493-4392-90E4-71940FE1A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1D4E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1F5E86-45B9-4E7C-9AA3-0F3427249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previsto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48FC37-CDB0-4FC0-A0C1-8007A70F5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8B964C-5599-4C7B-9FC4-8903C0AD4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8958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fechada + encargos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7C1986-79EE-4E82-967D-3794C6BD3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B4530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1DCFB3-7775-4365-BC22-031D4DC65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projetada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15DE35-2B8B-4157-B365-B5F3F18D7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A029EA-6CB2-4B51-9427-6573C0A1C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RECEITA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C2DF54-0F45-46F3-A769-E13202CE4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dez de 28 · R$ 15 mi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97F88E-CBF0-423F-9B5F-E31220EBD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FOLHA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AB2DFB7-0DE2-457E-8958-A1A5ED594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fev de 26 · R$ 3,4 mi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C848BD3-9A44-4B0C-B964-CE5B85525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MÊS MAIS APERTADO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F972FD6-084C-473E-A5BE-9A7E09748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fev de 26 · 1,39x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A4FDACB-3650-42A4-9E5B-D6D404FFA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SALDO MENSAL MÉDIO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0658A1C-D867-4D42-86E9-DDE371B04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R$ 7 mi</a:t>
            </a:r>
          </a:p>
        </p:txBody>
      </p:sp>
    </p:spTree>
    <p:extLst>
      <p:ext uri="{BB962C8B-B14F-4D97-AF65-F5344CB8AC3E}">
        <p14:creationId xmlns:p14="http://schemas.microsoft.com/office/powerpoint/2010/main" val="202818497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C72257B-1777-4B41-88D1-F9FB3E67C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46ED07-91B6-48F7-8031-66F529CCD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2FBF15-7B97-4FB2-9C53-AFC550379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CURVA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2C4382-E196-4A0D-A696-8505B3FBF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05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501033-F56F-4811-8D1B-26150E140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59b49da478475d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31B5AD-3EAE-4081-9322-43AAFB9D3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3E509A-1023-4AE9-B3A5-1A79664CF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B3A302-80AE-4982-A26C-330BE10DC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Valores de cada competência, sem acumulação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47F614-496A-4D37-9B6C-C172686C5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A leitura mês a mês da receita e da folha: onde cada uma sobe, onde recua e a partir de quando passam a ser projeção.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C682C0-CE67-4353-B505-0740A35CE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fb6497aa6e42a9">
            <a:extLst>
              <a:ext uri="{96DAC541-7B7A-43D3-8B79-37D633B846F1}">
                <asvg:svgBlip xmlns:asvg="http://schemas.microsoft.com/office/drawing/2016/SVG/main" r:embed="R15cd7b33f26f485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87FAE8-4718-4C35-A51B-3F101F12C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267892-A692-4DA7-8F25-95CA4C730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294577-10B3-43CA-980D-7EFB9F583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E2DB4B-2D9B-494D-BABB-CC895BA1F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799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C6FAE2-3827-451C-A40A-14F488D18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6672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previsto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AC5E16-5930-473E-90FC-070BC63C3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0C8854-EC83-4982-A8D2-04A8D23F3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6672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fechada + encargos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B6B344-10F1-4B32-BB22-B2B5750AE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D42EC6-B1E7-40C5-A533-A6AC8DB8C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71E44D7-A93B-4342-BD16-910CB3C83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6672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projetada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D368A5E-35BE-4CA9-B3E1-A38A35C5A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Traço contínuo: valores fechados. Traço tracejado: projeção, ancorada na última competência realizada.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1375A8A-E273-4965-9E34-115D3A5C5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08A9D35-3625-4975-A760-BFDF7359E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FBB39E3-E252-4E2E-92BA-BCA088171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dez de 28 · R$ 15 mi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2A66AE9-AB18-4473-BD53-790BD3F2A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FOLHA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2E3C55E-6B3A-42BA-B867-644E8BF5B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fev de 26 · R$ 3,4 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AD68135-1037-4F1C-9986-276ED47EE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COMPETÊNCIAS REALIZADAS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4D5AD1A-F207-41CD-921D-B0F6262AE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31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2B05E2E-0A1C-4B87-9B76-19007C212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COMPETÊNCIAS PROJETADAS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D8F0B75-5DFB-4F8E-B277-EA6732A26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4067076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56D5271-F7A9-4746-A821-64D3649E6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E4831E-80EA-4218-AFD0-AC1273FA1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2205D1-AC14-4A70-8209-D05F218AC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CURVA S ACUMULADA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15F30F-C053-4CA1-8AED-BFF591529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06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0A5827-819B-4467-B30A-E0E598838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d98af84d4e4be5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CD5397-4BC0-4AAD-8807-E3A0877A1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D5FEFE-2B94-41AA-99EB-47EB5F129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39944F-604C-4FED-BF82-CB9B8BC9C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A trajetória acumulada do período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701C24-C4A1-47F8-9377-2144B84CC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A trajetória acumulada mantém-se positiva em todo o recorte e fecha em R$ 421,6 mi.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923B1D-947A-40D7-B1E7-AFE283796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8ffe52f578414a">
            <a:extLst>
              <a:ext uri="{96DAC541-7B7A-43D3-8B79-37D633B846F1}">
                <asvg:svgBlip xmlns:asvg="http://schemas.microsoft.com/office/drawing/2016/SVG/main" r:embed="Rca6a1dfd32bb43c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63E02F-C206-4742-BF93-3148B3D8E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C32A4A-9D7A-4A2A-95C8-A314D17EC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acumulado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46477E-3A1E-44DE-BB3D-11FC4D2BC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AD429F-2BFF-4E51-A3FC-983C532E8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acumulada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EF7E6A-49A5-40AA-8BAB-B7F2EF36E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090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6890EE-AB5E-40C1-BDE3-5E3585E7E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865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100ED1-8DC8-48A1-9CC8-65C0804BC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8215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acumulado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19A827-BFE3-4D6B-8535-C953597C0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C4668E0-6576-4B0A-A844-8A1A9E30B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RECEITA ACUMULADA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C28531-FA36-4C3E-A2E8-8CAC1F44F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R$ 516,6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54C5A7-EE39-44C0-BE2C-2BB03502D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FOLHA ACUMULADA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8E2BFA-2E36-4D69-8C1F-8AC2985A2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R$ 95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1E638E3-5387-4C8A-9401-85D9D5576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SALDO NO FECHO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3EB9811-F4F0-48F2-B0D2-92D036A25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874A"/>
                </a:solidFill>
              </a:defRPr>
            </a:pPr>
            <a:r>
              <a:rPr sz="1350" b="1">
                <a:solidFill>
                  <a:srgbClr val="00874A"/>
                </a:solidFill>
              </a:rPr>
              <a:t>R$ 421,6 mi</a:t>
            </a:r>
          </a:p>
        </p:txBody>
      </p:sp>
    </p:spTree>
    <p:extLst>
      <p:ext uri="{BB962C8B-B14F-4D97-AF65-F5344CB8AC3E}">
        <p14:creationId xmlns:p14="http://schemas.microsoft.com/office/powerpoint/2010/main" val="44725218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A8DAE51-4310-4F1A-95F8-4E30AA9D0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246E01-F250-41CF-ABF3-95E84F994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DCAA8E-5901-4D53-B3BE-EA6EA3F0B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SALDO MENSAL E ACUMULADO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257E90-34E7-407C-BD72-112A2F1DD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07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7E0742-8BD6-4633-A474-09F53C565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e3acc07b624209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DCC674-DEAC-4539-A30A-ED68AE014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928175-F022-4A49-B060-631726075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0FB740-25C2-45E2-B3F5-CD6CA346F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Onde o período gera e onde consome resultado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2EC94C-9EB2-4307-9A1E-F40117EC7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Nenhuma competência do recorte fecha com saldo mensal negativo.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6EC1BF-2CDE-497C-B9FD-7F8678454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b0e3bd133c400e">
            <a:extLst>
              <a:ext uri="{96DAC541-7B7A-43D3-8B79-37D633B846F1}">
                <asvg:svgBlip xmlns:asvg="http://schemas.microsoft.com/office/drawing/2016/SVG/main" r:embed="R70a787ea23c643c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562D26-6807-44ED-A879-ECDC475F8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131675-626F-4FE4-9171-96316F95F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do mês (positivo)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2FB4F9-F5A4-4706-82C7-57FDEBD92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995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233D1E-BBF6-4C83-B3A8-67D179FA5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do mês (negativo)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901B0D-A87F-4B3C-A262-A9262CCB1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99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D3F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85E59B-6000-4C33-93F6-7918E1F89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2115" y="4667250"/>
            <a:ext cx="2514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acumulado — eixo direito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3A7315-3AD4-4AC7-A7AC-12E38AD6E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Colunas: saldo do mês (eixo esquerdo). Linha: saldo acumulado (eixo direito).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E858DF8-B32B-43A4-879D-C5B1B5899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AA10CB3-3337-4C1D-9216-0BFC2FC6B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MELHOR MÊS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A0DC919-A7B3-4F97-BCB7-F7B0FABA4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874A"/>
                </a:solidFill>
              </a:defRPr>
            </a:pPr>
            <a:r>
              <a:rPr sz="1350" b="1">
                <a:solidFill>
                  <a:srgbClr val="00874A"/>
                </a:solidFill>
              </a:rPr>
              <a:t>dez de 28 · R$ 13,3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EA3FA2-5419-4ED8-BF46-4D36EC674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PIOR MÊS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4893727-2791-41DA-BCB1-8469F9E33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83F"/>
                </a:solidFill>
              </a:defRPr>
            </a:pPr>
            <a:r>
              <a:rPr sz="1350" b="1">
                <a:solidFill>
                  <a:srgbClr val="26383F"/>
                </a:solidFill>
              </a:rPr>
              <a:t>dez de 25 · R$ 940,3 mil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9002466-60B5-4574-A2B9-CA7DE110A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COMPETÊNCIAS NO RECORTE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252DF0-0426-48F2-BFC5-607D71E8A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60</a:t>
            </a:r>
          </a:p>
        </p:txBody>
      </p:sp>
    </p:spTree>
    <p:extLst>
      <p:ext uri="{BB962C8B-B14F-4D97-AF65-F5344CB8AC3E}">
        <p14:creationId xmlns:p14="http://schemas.microsoft.com/office/powerpoint/2010/main" val="196653766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08C1440-CAC5-4E39-9D6A-1426D3580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EA3CEF-76F0-49F7-A88A-52EA5CD2C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AB68BB-09D2-481B-A04B-D00FDB3A5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PROJEÇÃO POR CLIENTE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BF6F0E-6897-41D7-8E61-F5A31AFE1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08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7C90A1-E7F7-46D4-9D5E-DE9CE3DD6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9919789907455e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4FC7EB-D574-4BB4-88AD-39E0BC904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753305-6D51-480A-ACC4-C876D3D48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E76842-9308-4BEB-A5FA-AC1258257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Quem compõe o faturamento projetado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15DEB7-2574-4B6C-B95E-C80585531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A composição mensal reflete o cronograma contratual e a evolução prevista da carteira de clientes.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D4D9CE-F6E0-41F4-9BB6-9B7C9A2D4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4457700"/>
          </a:xfrm>
          <a:prstGeom xmlns:a="http://schemas.openxmlformats.org/drawingml/2006/main" prst="roundRect">
            <a:avLst>
              <a:gd name="adj" fmla="val 256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3bd83c98ed4873">
            <a:extLst>
              <a:ext uri="{96DAC541-7B7A-43D3-8B79-37D633B846F1}">
                <asvg:svgBlip xmlns:asvg="http://schemas.microsoft.com/office/drawing/2016/SVG/main" r:embed="R49638c0a88e2440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7909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48C8DC-DC3D-4274-843E-485ECA72C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35D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25CE02-AAC9-4334-833A-BA2D3CBDD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600700"/>
            <a:ext cx="121158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AXIA Energia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A729B2-542A-4533-8AFB-BC7EBE283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17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5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B824E1-70D1-460E-AF63-C9F70A21D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9830" y="5600700"/>
            <a:ext cx="99441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Petrobras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8B4ECC-F504-4A80-9F6E-2196CA35A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424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00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ABB4FF-D58E-4E18-9978-24FDD9E2B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2365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Enel Green Power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5F2E8EF-3FEE-4D7B-8DAD-FB4843EF6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5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F94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218C2F-A327-42B2-90A7-CAE975A95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1630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Belém Bioenergia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5CD736-2984-486D-883B-9F2AB5009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77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34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3EB5103-200B-4FE2-A669-3AABE895D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0895" y="560070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Flessak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63DB737-9FCB-426A-88B7-F5170AC04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58E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A418F4D-4225-41DC-A0D5-AA7D00053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60070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CEMIG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4B9881C-26B2-4087-BE4C-215B15C6F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4D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7043CA9-EA2A-4E44-8C74-A35CE2694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5600700"/>
            <a:ext cx="7772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Harbin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37E7BD6-BE7A-455D-99AA-F68C59675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570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5BACF06-53FD-4A32-8535-345922987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810250"/>
            <a:ext cx="1283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ArcelorMittal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93FF5F-45F3-4AF8-9CBE-0640C7A8B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409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6E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B9BAB6D-5D9B-4674-A971-FA33C2A77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2220" y="581025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Andritz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CE9D3D6-51EC-4252-8CAA-53EBD8095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164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8ABDD49-33FA-4528-874A-DB5846934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81025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Âmbar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90C3161-B9D9-47D5-887B-E73100E25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7F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160B915-7F53-463C-AA09-46BE5545C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810250"/>
            <a:ext cx="13563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Hydro Alunorte</a:t>
            </a:r>
          </a:p>
        </p:txBody>
      </p:sp>
    </p:spTree>
    <p:extLst>
      <p:ext uri="{BB962C8B-B14F-4D97-AF65-F5344CB8AC3E}">
        <p14:creationId xmlns:p14="http://schemas.microsoft.com/office/powerpoint/2010/main" val="95029060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068F8B72-768D-4EC5-BD09-D2DCADC17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8E9CEC-E624-44C0-B494-C14134328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F1A214-751B-4A07-9B78-1950C2C7D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BF7D33-4261-42C9-8823-130FF55CA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09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0A04EC-87B5-4B02-9A48-B9690BFA7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9410b5bef847c3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39D6FF-19A6-46D2-B3E7-1BEA182B1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DABC67-D253-4671-A5CE-388893176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316C6D-5BEE-4C40-BAB1-6C2034F5E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Todos os valores por trás dos gráficos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7E43FD-A215-48CA-A415-B992A9ABF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Dados informados do sistema na Projeção Financeira. As competências projetadas seguem na sequência cronológica, destacadas em cor.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F8EE77-C264-4D74-94CF-962417F25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9ACA0E-5F57-4631-8FEB-36D2B6D2A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FF9FF1-5F40-4E04-B25A-ACD9E4812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3AA491-0887-4C17-A6E0-A5D5B931F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5DB6BB-496A-48EA-8D46-37CAEAD2A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7FA1AA-4C0F-4CE5-9FFC-1CF58DAE6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652EC1-0B51-40D0-9137-4C7274BB0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441D01-0550-454A-B13D-928ED2A5C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E82D4A-FE7D-4588-9C02-22EB921D2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E64F3D4-84E5-49FA-AD13-FE0E2F96B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R$ 6.789.213,81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93F2814-54D5-4D7B-924A-3671B2AF3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R$ 890.704,19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B0AFD5-E68F-4B1A-8D2F-065E72A5A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R$ 5.898.509,62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8BE549E-F78B-43E9-8439-FB8D03096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R$ 5.898.509,62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71E76CD-FD37-4BA2-8B0A-0AFF25ACB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3BBBA6B-24FC-4DE6-B00D-41643C876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BA0715B-D967-4E08-ADF1-499A55717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53CC817-8BD0-4A13-88D5-CF0A1D07C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R$ 3.817.372,69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9D0F3D6-AC43-45CD-8F3F-926C3BB66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R$ 1.020.426,58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09C13AB-41E8-41D1-B757-7182EC107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R$ 2.796.946,11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509F138-B6D1-4AAC-8FCC-C05100799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R$ 8.695.455,73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5F35BA2-754E-479F-B9F2-72CB6F668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93AAD75-5344-44B3-9D3D-D1F9E3AE6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436982D-83B8-4D95-A913-CBAD7E58C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R$ 4.732.792,38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3C1C25A-499B-4827-AF54-73E7B7539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R$ 1.185.267,32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28827A5-4405-4875-BAFD-6CF3CB6A8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R$ 3.547.525,06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05C1850-4BDD-48A7-83B0-E8A54F14C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R$ 12.242.980,79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5E0BB4B-598C-4099-B900-1D2250CDE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9EFF91E-0708-4447-8F88-39E593F3B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26B2F23-2AF1-4061-A5EC-B80F91A86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0BAEAF0-A895-4534-AE99-83CADAABC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R$ 7.231.990,50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C003111-4616-487A-91B4-951A38C3F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R$ 1.174.044,87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ABC0037-587B-4FE3-8709-C2A5CB264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R$ 6.057.945,63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54CB95B-5FDA-4DAB-92BE-2669340EB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R$ 18.300.926,42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9180005-863E-4B16-AC99-262C04771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B778868-7966-46D1-8C62-7A1E995CA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24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9A41BB6-80BC-4FC5-9D5B-48D30E758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R$ 5.506.503,71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EF54F85-7F21-476B-8F1C-23C0B08FC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R$ 1.091.167,43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C9D76A5-248A-4031-A3E1-F3B5FEAE0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R$ 4.415.336,28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36BEAB5-3043-4FC8-9E46-1D43D636D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R$ 22.716.262,70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8B39FD5-1D03-48AD-98C5-54727D71B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C5A21FE-E5F1-4CF6-8324-993C5970C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0AEFBC4-B07E-4C4B-9B2D-74A09BBB5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68CE153-DFF1-4862-9E6B-F081097A0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R$ 4.380.902,39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993FDB6-166B-47A4-8922-6D51F323A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R$ 1.133.609,80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131DF07-9589-4BD9-A50E-36758842C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R$ 3.247.292,59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B2C2393-70BC-4E1D-A758-006C632E4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R$ 25.963.555,29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DC75906-B7D1-4899-B4E0-E9FB1E997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7FCB201-6B47-413D-BEFF-9BF0F57DD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24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731354F-7C25-4C48-ACCD-883253966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R$ 6.510.910,49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CFDD0D2-A378-45AD-BB47-0E0C5D3F0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R$ 1.113.424,01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DF3EEC7-8002-4262-9E67-838548FFF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R$ 5.397.486,48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061F2CD-37DB-4174-A888-E48CFB8F9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R$ 31.361.041,77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1615867-6432-404F-969F-503774967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164DBFC-8927-4A83-BC66-03782AF7B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FAA1336-EF5E-48B9-A822-ECACED420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24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9461973D-3B37-4F30-8EE4-3530145A7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R$ 5.421.686,74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EE024127-09EF-42A8-A834-CEF3885E5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R$ 1.040.357,05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136B58E-D9CE-4239-8537-7C08162D8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R$ 4.381.329,69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D8CD70D-224E-43C5-8756-8B49B0975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R$ 35.742.371,46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7783607E-249B-446D-B1FB-9FAD6FDDF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5C1A92C5-2E4A-4F26-80CC-4E3E44388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24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4D57FED-72C9-4AEB-859A-8B1DD1E29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R$ 5.682.241,80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24BDD379-8E53-4DF6-9830-7AB939BA5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R$ 859.008,24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E07BC171-0833-4147-B3FE-01797C6FC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R$ 4.823.233,56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59A6D7D9-3A58-4E43-A9A2-A7EE993CA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R$ 40.565.605,02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0CFFF54A-DD49-44B7-B48E-674C01790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82CE27A0-9727-46CE-B4C0-FFF9E0BD8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39EA76E8-47DA-4C36-B292-BE7E5195B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24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6DD7FE0A-A38E-41CD-8AC6-76428CFD2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R$ 8.541.056,13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D1D675D4-A914-402A-93B6-CF031C275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R$ 897.448,27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A8E22E62-C567-45D8-B499-823A8C126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R$ 7.643.607,86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916E4894-5DC0-4B4E-8504-C7D7B25F7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R$ 48.209.212,88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2CA8C504-256F-4427-BFFD-1BBE2D67A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0202F84B-D85F-462C-A707-FC8A3FC61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24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5A49854E-B02B-4FC9-A7BD-38C03D4AE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R$ 7.608.873,04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583DB901-31F5-40F5-9008-4A21870BA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R$ 1.021.448,72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52597444-508B-4DBB-BAEB-AFD19D965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R$ 6.587.424,32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6DDE882A-0791-49CF-BEA8-0F071EB32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R$ 54.796.637,20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3B9292A3-1C93-4D1E-BA0B-398A1B7A5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4438F3A2-0D87-48B2-8304-1BB4B9303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DFE2D1F4-FD7E-4FB2-8E00-9335B9EE4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24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533BBD1D-038F-4186-AE01-8AE9C23D7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R$ 12.158.119,93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C4E60D0F-1733-4824-8F77-7BCED9009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R$ 953.973,58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4F7CCF5E-5387-4DBD-9A8C-99307AE8F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R$ 11.204.146,35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3F4052AD-E613-4613-B1F3-424A1AE3C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R$ 66.000.783,55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7435445F-BB47-4111-9E14-7D92E8F8B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21C89E2C-CFDC-4FB7-AA12-502C0566E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25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12F6EE3A-E830-4E6C-BA70-E412F6C3F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R$ 6.481.505,36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62FCEEB3-C61B-4806-8CCF-076F7EA54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R$ 1.331.022,91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10F6C27A-015B-4ECF-A1D1-CADBCC490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R$ 5.150.482,45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F8F9B6F6-8248-4142-84A6-27FE42E83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R$ 71.151.266,00</a:t>
            </a:r>
          </a:p>
        </p:txBody>
      </p:sp>
    </p:spTree>
    <p:extLst>
      <p:ext uri="{BB962C8B-B14F-4D97-AF65-F5344CB8AC3E}">
        <p14:creationId xmlns:p14="http://schemas.microsoft.com/office/powerpoint/2010/main" val="149176196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262B123C-287D-4F98-817B-60D58B018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4741E8-D5CE-40BA-B708-C600B0E6A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9FF0AC-B630-478E-956F-409E9EB67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C53EBB-255C-42E6-A76B-8FB45AF0B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10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B80A86-0C28-448B-815C-25FD7D5E5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acfe0c6fcc40bf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52B490-882D-4D03-B332-BB492172F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6D0CB2-AF9A-4409-81D6-012D243FA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D90615-7C9F-4A01-923D-10B3A10B8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FBE1E0-34FB-4C0B-ACDF-70DEE150E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2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0B4F8D-1562-4759-8927-EBC83F8C4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16EABD-64FC-4751-A0E5-3FAE6612A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00C9D4-D1DE-4D40-8CEB-690C2F360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33C203-1059-4B09-A9B1-17E47E084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A186B6-FE23-4BFE-A872-F7267E990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9FE294-59F4-4D03-82AD-2647DA96C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EE73FD-008C-49AF-B3C9-15F50862A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0B11CC-B4A8-47F7-8C8C-308F62344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EDF1E06-7BCB-4882-8C60-6A2C58BBE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C09B98-3389-4E16-B323-945DE9CC0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C3B703-9B13-4F36-8D14-7DB1FFF29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R$ 7.218.837,49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7D680F6-D933-4D6D-907F-9B68E2255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R$ 1.310.101,05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05BECA-5912-4ED6-871B-CE016558B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R$ 5.908.736,44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809498C-52D6-42B9-9395-C09273861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R$ 77.060.002,44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808D737-161D-4CA4-BF8D-337EEC1D9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2558F06-9828-46F5-80C0-B9E66CC73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DD6BA3F-512A-443F-890F-FA1D3CAB9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R$ 7.554.012,04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ADC4B01-8826-4A38-A697-14A09881B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R$ 1.354.501,90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2D7CFC2-FD0C-48C4-AC4D-88ADE4047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R$ 6.199.510,14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F3DB2FC-3DE2-4D6A-9D36-9D72BD35D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R$ 83.259.512,58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74BBB2C-A023-4CDD-9A05-AEA7245CC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3192DF2-C96E-4182-A68A-F529229DC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74CDFC5-1016-48DA-B981-2D91F5A25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9E467DB-5577-4264-BB7B-F723E4968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R$ 4.739.459,41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8E330BB-781C-4E51-8121-1608FDD28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R$ 1.531.002,29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706B2AF-2DB9-4267-8E97-2E24F77F8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R$ 3.208.457,12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E30DC7A-6514-463F-9B55-1D34CCCD0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R$ 86.467.969,70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2380B5A-5D2B-48DD-82C1-9571086FD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A8C1AA3-E790-485B-AFD1-F35C3FD14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AC92349-8708-4DC0-B052-A80E44A3E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R$ 6.235.104,42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2361CBB-0777-450A-B637-E01800D1A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R$ 1.761.893,50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05E6A99-309F-4CB3-909E-D3F1A8F1B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R$ 4.473.210,92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6F98019-BCDE-4EAF-A025-4312D8919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R$ 90.941.180,62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FA993CA-8CCD-44AF-A0AC-8F7CB1D4B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5A730B3-F506-43B9-B2CE-67DD05922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350F9E3-9F71-4A60-BF61-F624B4ABF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EF750AB-CE69-4EA7-92DC-C3DB6033B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R$ 3.511.692,47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D0167CE-9AC5-40D8-B74C-534468A89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R$ 1.523.207,92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9A09300-C855-45E5-8424-4837EA502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R$ 1.988.484,55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70BA64B-1C28-46FC-9438-9FBBC94AF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R$ 92.929.665,17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337B20F-636E-4832-A9A8-1FBFA549F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BA77DA4-2EB5-4B7E-9465-4A1532BD4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25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52E6FD7-AFFF-4845-BB1E-26A10054D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R$ 3.267.455,46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17DC840-DB51-400D-801C-68055EEA0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R$ 1.574.251,96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EDB9427-22C9-4373-85F7-363DA4A76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R$ 1.693.203,50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11A9A5A-F713-467D-9C22-D57498AD9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R$ 94.622.868,67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B05A821-66FA-4AFB-BA77-90453F18B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9748378-47FD-48C3-9AE8-F3C1EC59C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4F5AE3A-51E3-496C-823A-61B01E26D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25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9A8A7AB-805E-4394-AB56-3515F64D1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R$ 4.042.135,73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604F0B8E-1136-4EDE-A343-005744303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R$ 1.597.750,18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1B8A6F4-D933-4A59-8CC7-2C400721D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R$ 2.444.385,55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93876FA-DDA8-42D5-9483-AF3C1D00A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R$ 97.067.254,22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6C8517CD-38D9-4907-A4B6-4B3F52673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46AAF24-3992-46FC-9309-0DB8AEBDF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25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EB7CF210-4B39-4AFE-AF37-DA8F82037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R$ 5.879.203,03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92C49B14-5084-43E2-957B-AFF8A5C2D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R$ 1.644.127,33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E87F807-75AE-4B0B-A5B1-12BF713D6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R$ 4.235.075,70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1E6C1000-0CA4-4998-8499-D1782FDDC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R$ 101.302.329,92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6449038B-4D12-47DC-B1FC-E2B62EB71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9528FC8C-9CB1-4BF0-91DD-6CF0244C7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136048E0-D3CD-42C9-B48F-EE14464E1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25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DA55D80E-2715-4419-9F45-F556F0621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R$ 4.431.996,15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0BBCD386-6B6F-4CC3-B928-D43A84297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R$ 1.728.097,81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B718FEC5-6C89-46E7-9A81-F8C106DC5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R$ 2.703.898,34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8E0255F6-043A-4115-AADC-9C4E7BF0A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R$ 104.006.228,26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E73BCB9D-9154-42EF-8802-FBE13802A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EF14E8A5-DB1D-4F83-83DA-00C41B5BF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25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2878E661-0033-481F-85E8-92F510A74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R$ 10.858.257,81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C9CF3D87-04C8-4A11-8078-5419FC0CC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R$ 1.877.160,31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FC4C67A1-216E-4BC8-9D42-3A1C374FD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R$ 8.981.097,50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92793574-E391-45BC-94B2-86462FF64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R$ 112.987.325,76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78176A0A-40FD-4BD5-B082-2093A98D2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CE0FF441-0137-4B9A-ACCA-52F894C2A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79AD3154-16F1-4DA8-942E-2D1048B8D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D34E3B56-DEA4-4825-986D-46E4DA454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R$ 2.904.942,16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811285CC-F34F-4DAA-89FC-48052EA3A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R$ 1.964.681,62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41D4946B-1F11-4A4D-9B74-4E6056142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R$ 940.260,54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641CC430-2F77-445A-8710-4272EC566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R$ 113.927.586,30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9FB29380-0C34-431C-BB21-31BDCF827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6E4F6C67-9992-442C-B637-7DA7694F0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26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A6597394-8AB6-4779-ACF2-5FF0A10A8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R$ 10.366.331,04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B4325E46-FE4C-4F17-85AE-A05888192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R$ 3.208.000,00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1A7281AA-51E4-46BE-9C42-56A4BEA41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R$ 7.158.331,04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B820C9C0-850D-4651-A82B-96507AD5E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R$ 121.085.917,34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8E81E97C-DA34-44EF-BDB6-C08314947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B41DC8C0-9935-4183-B7E5-180B5A4DB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E5A2D89D-347C-4D60-8FF3-41AEDA6F2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E443EFB6-1FCA-4642-9C75-44C4DB946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R$ 4.700.897,81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AD86A4C0-243E-424F-ACC5-EC5204DB5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R$ 3.389.000,00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371FBD8E-1640-4870-B39B-41F0E2B3A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R$ 1.311.897,81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2F88632F-A899-4AB9-8729-F4713961B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R$ 122.397.815,15</a:t>
            </a:r>
          </a:p>
        </p:txBody>
      </p:sp>
    </p:spTree>
    <p:extLst>
      <p:ext uri="{BB962C8B-B14F-4D97-AF65-F5344CB8AC3E}">
        <p14:creationId xmlns:p14="http://schemas.microsoft.com/office/powerpoint/2010/main" val="127531759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3347A343-0B97-470F-A102-9B813B691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9A0619-5964-422E-9CCA-B2A05C36D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E58BCE-8161-4853-B353-E4F60117F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960F46-6176-4576-A7BA-4DB74C9A0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11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573936-83E9-4561-94D1-C23E48ECB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be2bb7b886468a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C905EA-E8AF-427F-BF59-898E225DF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364D6C-E7DA-44B0-B4E3-8C1E6EF28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BB3BD3-576F-4EE7-9A69-FE849114D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ADE64B-228E-45C6-B27C-2C9828063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3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4AA688-33D8-42E5-BCB5-C22C6748D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F449F1-A21E-4633-A426-F6669C1A8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48E717-3F53-4360-A81B-7A8CBBD2C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F9BCA0-3102-4117-AE44-75EA07EA1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15C2D7-FFB9-4BD9-A3CB-248F79767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B2A683-CB60-46CA-9C8B-0619D87F0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B7B674-4041-4DBF-8ED7-33A740C2A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D14C54-69EF-4E6E-A2FA-126A58645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886521-0F20-4BC7-B08C-8889BFEA0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E15F44-E639-4D39-B39A-493931BB2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R$ 5.650.881,81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6CABEFF-A55A-4FEE-8D86-576467B26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R$ 3.266.000,00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68AD652-840B-41DD-AB13-B5BF25794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R$ 2.384.881,81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C893EF3-A8D8-4AF8-85D3-4CB5ACE39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R$ 124.782.696,96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A218317-A022-4C6B-864A-EB6C081DB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65248FE-DE20-4A4D-91C5-6E15FBA63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E5129D0-E2E8-495D-B9D6-1930583DC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2DF9D6-2718-46B8-B2AD-AECFAD51D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R$ 5.897.524,13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428BD50-A6A8-4F8C-988A-8EAE2B18B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R$ 3.360.000,00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F354553-E27A-4C5B-BBC4-E7FE93E2F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R$ 2.537.524,13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3C2A981-8C91-470B-8919-6800FA797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R$ 127.320.221,09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FE52273-9C45-4126-90A5-EAA4489A2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DA4CB4C-4422-445D-B530-43E1D1A85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4EDF8CF-4825-47C4-92E1-0F890928A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R$ 7.355.196,27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D68A9BB-C0EF-4314-9AAD-B41534CF9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R$ 2.953.000,00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350EAE7-15F1-487F-9388-8D6199871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R$ 4.402.196,27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D98EF44-EB36-4A6F-9D95-F65353875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R$ 131.722.417,36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24C47B6-03D1-492F-B997-79DA221D4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9519B44-7ECC-4DE8-89CB-BB77E64CE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5541F93-6EEC-4DFA-A9A5-DA3B2EC0C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FD33DA0-CAEC-4229-A81E-EA4B2C773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R$ 7.178.434,69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68A0FDE-FA7D-4F64-B9EC-6AF11BC6F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R$ 3.108.000,00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B8CCB3A-E19A-40AE-9E30-ACBDA12FE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R$ 4.070.434,69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46903DF-C557-4EB8-8094-ECA76B958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R$ 135.792.852,05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F8775E7-1637-4EC6-959B-43FE38DDA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186B2CB-158C-4FC0-ABED-9A6D2D057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A976588-BF93-48FA-8F52-7C50124E5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R$ 4.978.967,55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8C48479-9E55-4342-9A89-6452B4EC9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—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D038C3D-2E01-4AD0-BE32-B0294444A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R$ 4.978.967,55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FC4968A-34AD-47CD-A3B5-267D61E2F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R$ 140.771.819,60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B26C87D-54D9-4092-8D9A-91B8038AC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24263"/>
            <a:ext cx="10801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D4ED8"/>
                </a:solidFill>
              </a:defRPr>
            </a:pPr>
            <a:r>
              <a:rPr sz="825" b="1">
                <a:solidFill>
                  <a:srgbClr val="1D4ED8"/>
                </a:solidFill>
              </a:rPr>
              <a:t>PROJEÇÃO — COMPETÊNCIAS AINDA NÃO FECHADAS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1107502-B135-4FB7-B5A6-21BDAFBE3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C1C7E19-AA3F-4F9B-A238-432E2DE4B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1607616-8D1A-4164-AB4F-3DD6C38DD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E7FBF8F-9660-4618-9CC3-BB419C066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4AD38AA-EFB7-41A6-9763-644BE7485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R$ 11.459.330,09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F4972CD-21D5-4A73-91C0-DB3B20077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R$ 1.512.430,00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67DBED0-FC9F-4D23-A062-8375EC720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R$ 9.946.900,09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367764E-DEBC-477E-A48A-C8A3429A7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R$ 150.718.719,69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91235FD-CDFE-44C0-80EE-01C1CA794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5856711-7B20-4309-8D53-F684BF8FE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26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4C3C256-2F20-46CF-91F8-67C30D6E7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R$ 5.617.810,24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75303A5-5DDA-4492-A394-44F6D0543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R$ 1.387.850,00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3B84D87-EFA2-4AFE-84EC-E05C8509A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R$ 4.229.960,24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9468C84-F6F1-4113-B725-CEF6B4081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R$ 154.948.679,93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E435CF3-0746-4771-8F04-426A0E97E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7FFD9A96-A246-46D1-9714-3D12F2DBF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8B113B71-11F6-41C6-B2F7-3AC3EB2CA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26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3A4CF71-7C07-4800-AECD-C3A1FBEDA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R$ 10.000.000,00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21E1707C-6918-4794-885A-20DAFEC82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R$ 1.634.720,00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3B5F3D4-67B5-4822-B023-966374966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R$ 8.365.280,00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51057596-35A8-4206-B009-5EBEA87A7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R$ 163.313.959,93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6B5EB7BE-C666-4442-9DAE-72E51EE36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8C12BB17-0E0B-4EEF-8B20-57D7F2683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26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C1944A4-E167-41E8-8375-B30D785A5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R$ 10.725.000,00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17E96F9E-9291-4F7B-9835-E6DB86336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R$ 1.728.940,00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895DB1A4-5503-4F98-9E67-448CAD31A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R$ 8.996.060,00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F8EB7460-0A4E-44B2-83FA-9C2A2B5FE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R$ 172.310.019,93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415D2C93-E6C5-4857-BCA0-F194B4F4C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36458874-BEB1-4A53-88AD-80155C8E9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2B28CE5B-8200-4483-A5EA-922BEB904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26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28BDB7FE-0C6D-45BB-831F-0D7087013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R$ 10.502.461,80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5DEEE94B-C863-4DEA-BBFE-A8E39C013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R$ 1.596.380,00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5FA78E3D-F973-479F-9306-D2CE1D915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R$ 8.906.081,80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C2B17DE3-36F1-428E-9DE3-7E423482B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R$ 181.216.101,73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B06F5493-F0A1-4A02-9FE5-F4114E87F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C4E42609-8D3F-4986-B4E9-B6CA198EA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27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3110CA4E-763D-4B3B-AEF6-0A2E68C09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R$ 12.200.000,00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A85BC219-0A78-4332-84DF-A21616400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R$ 1.682.510,00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E69D1518-996F-41FB-A26A-C9E98506D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R$ 10.517.490,00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3F423BB1-F515-4AF0-ABAF-1E3D9035A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R$ 191.733.591,73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1EB61AF3-D2E4-422E-AEFB-27023A0DD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5E12F248-9FAE-43D0-A9B4-038506FBF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6E38F62E-BEDD-4850-BE36-C06CCC8BD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CD5579B9-437E-44AC-9914-0CACCE165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R$ 11.800.000,00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A9E1DABF-2402-41BB-90A3-79B1CD7A9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R$ 1.574.260,00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084C7D2C-C1FE-423F-9A70-BC848D3E9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R$ 10.225.740,00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EB100F4A-A890-420D-A620-7F9B3B3A7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R$ 201.959.331,73</a:t>
            </a:r>
          </a:p>
        </p:txBody>
      </p:sp>
    </p:spTree>
    <p:extLst>
      <p:ext uri="{BB962C8B-B14F-4D97-AF65-F5344CB8AC3E}">
        <p14:creationId xmlns:p14="http://schemas.microsoft.com/office/powerpoint/2010/main" val="126738451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6A1997BA-251A-4CE2-8610-69EBD4DC0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F096D8-5429-4B76-807E-6FB4F1465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CDAE8F-0AE3-4E27-8852-2A2DF4745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F84E4D-0964-4EBA-A14E-6B08E7F21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80D29D-E7AE-47FE-B753-10D02F89B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2f19c721874499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8E5FF7-ABB9-4A34-BC73-B75050767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812E9D-B52C-4FCE-ADD5-902EF27FA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9097AE-770C-401C-8CE8-434599937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623025-3764-48B7-B19F-751DBE636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4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C1A400-457E-4234-A5AE-5B142B95B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B0F785-7C07-42F6-AF94-911B56D4D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C9D2E6-834C-4978-8B8E-297C35293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5EC1B8-C977-414B-AA2A-C230EA9AB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11BE6A-A0CC-4F52-A9DF-AC4C8D73D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D4B9A1-89B5-4A69-92E5-C8C3CD795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FA7A81-2A34-4D96-BDE7-6D9D9880A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D262231-0DD8-471C-BCB8-635E7AE37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DF5351-D16C-4FF1-88CC-56A278A6F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A9EFDC-2FFD-483B-8A94-3AB97D15B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R$ 11.200.000,00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763D53F-5DBD-493D-B2B7-9151411D2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R$ 1.493.870,00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76ED808-1487-4DF2-8A05-5ED67A5C0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R$ 9.706.130,00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5AAD35A-3DAB-481F-903C-05F278759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R$ 211.665.461,73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22C10DD-57BB-4F10-A0D7-DD769B506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34EB407-D224-4D3D-A2D1-3D4CA1DD7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E12FDC2-018B-4028-B62C-9E36434D2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E95B29-B8F4-4738-8E66-D46F264B7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R$ 10.500.000,00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75B0928-756F-4E93-AC93-C8642E28B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R$ 1.421.650,00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F11AD40-A8DD-46BF-AC01-641B69907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R$ 9.078.350,00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A096DEF-6A80-43B9-BB30-CEBAC25F0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R$ 220.743.811,73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313768E-324D-4242-A1C3-9C6E2A28C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8C127EA-4231-432D-8D1B-5B94F00EA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8294CD5-7824-4D9F-BB22-719E5E3FE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R$ 10.100.000,00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A4A9069-DCC2-43B6-A238-C434821F9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R$ 1.356.420,00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E0C664B-B1B2-4A9C-B9A9-D829AC0B9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R$ 8.743.580,00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3506B23-7C23-480B-900D-C955A68C7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R$ 229.487.391,73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9DDBBFB-B354-411D-80C4-D2B1F048A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9583D3E-93ED-4ED2-996A-FF63935D4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3C75C62-8586-4082-8F11-2733C7760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27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514BBA1-E647-4474-BED1-6115F1FE8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12A4CB6-A18B-49BA-9C2B-4A762E6FA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R$ 1.318.760,00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DC14DAD-0709-41D7-B74A-02E912939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R$ 8.181.240,00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9297A62-0C00-4306-92E0-32BB5F913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R$ 237.668.631,73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236C8F0-743B-4564-819D-05C21683D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CF356AA-0349-4B98-AA0A-3C22CA2E1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27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E9B257E-C1FD-42EC-BA50-338DAF2F4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R$ 9.200.000,00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C0731C8-D1A5-4D0F-AEAF-9368C0C71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R$ 1.342.590,00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767790C-A36F-479C-AC10-9CF7F3E09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R$ 7.857.410,00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BE91254-7C80-41E8-B123-1EA227E76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R$ 245.526.041,73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B104186-4571-48FC-884F-6FFB13A1F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6595D46-0021-4825-BEBE-0637FA6A6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4BDBFE1-8A13-4FE5-B5CA-C7EB6E57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27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916E0F0-3A78-47D6-B4A6-2E2EAFAD2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R$ 9.600.000,00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F10D2B7-E5F0-4715-A44C-95365DB05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R$ 1.397.840,00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D332CA1-A927-42EF-81F2-A7A0E3E77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R$ 8.202.160,00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9BECFC2-2568-4737-9B3C-FAF680FF0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R$ 253.728.201,73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BF9A60E-C6DA-477D-928A-FC086D669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DBE5022-5B8F-4CDF-8D64-61F47230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27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E7F2BCE-02C5-4BB1-B7A1-615F1FCD8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R$ 10.500.000,00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955CE3FF-F2EB-411D-8BEB-534396502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R$ 1.468.230,00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AE62C59-27B9-4C18-B6D6-11AD0C51C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R$ 9.031.770,00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05C389A-4C7F-4E4A-B30B-32D5C281B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R$ 262.759.971,73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34B321B-B8DB-4E80-BAF1-27B01A757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2732EE7-932D-491B-8447-0D70CF2E9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98A5425-2D7C-47C7-A378-FA53AB86E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27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9D3A6E91-E2E4-45BF-89F2-2C0DF3760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R$ 11.500.000,00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70418B43-A4E3-4181-BCB2-BE7ADE138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R$ 1.559.670,00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2449CED0-A38B-4BA6-A1AC-B8519D066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R$ 9.940.330,00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F6B46F2-8BB5-4578-8C55-BC094477E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R$ 272.700.301,73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3C616C17-D997-4C02-86BA-3CBD4261C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B4D7FAFF-BAE3-47AF-AD7F-2323E5F7B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27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2E82920F-AC5E-4C92-AD8A-3F5ACC37E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R$ 12.800.000,00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55D5A450-4E5C-4E46-864A-29AB3BC22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R$ 1.671.480,00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E72E2A5-8F87-4343-809C-4C74E250E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R$ 11.128.520,00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7C2B7927-63B7-477D-86AF-60EE066B1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R$ 283.828.821,73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8020667A-C7AD-43F4-AB65-FCD7FFD42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EE8959D2-EE6B-44C0-ABE1-4727F216F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2A22A9A4-580A-4912-BFAC-DA96E5588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27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744C2BD7-97A3-47BE-87EA-1E5B0B4B4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R$ 14.050.000,00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9CA89C55-C9BF-44FE-9A7B-8C28AC86E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R$ 1.739.250,00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4D4570FF-78E7-426E-B29F-54423F852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R$ 12.310.750,00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301B494C-95DC-4ACE-805E-2F4ACE919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R$ 296.139.571,73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6AE399D9-7E83-46FC-9280-D466ADCAE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BC14A94F-28D3-4F93-A73F-C3A471DF6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28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136819EB-51F7-4E73-8AB5-60707A0BB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R$ 13.750.000,00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76E62CA2-A9AC-4F72-9E33-A10A5C1E1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R$ 1.696.840,00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0D485A7D-73C3-4902-9067-B1AEA5DE7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R$ 12.053.160,00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5780A980-6645-44FD-A280-4AD71D898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R$ 308.192.731,73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C7CFDD11-86A6-435C-ABE3-E6215A02F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1D95A2CA-534E-4798-ABD4-D0B25FD0D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E84DCB08-14D4-4574-88B1-C0F024463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28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D81F7FCB-9460-4648-956A-F6A58AD33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R$ 13.000.000,00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D49DB5DD-D1A0-4FB3-BD41-865655940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R$ 1.612.370,00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7BE1DD8D-644F-4F4B-BCB0-FF5D0452D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R$ 11.387.630,00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65D6AA83-FDA6-43BD-8897-76B5EEF45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R$ 319.580.361,73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F56BD6FB-0152-4C77-A5E8-2354F773D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2F2050DB-E0B7-4922-896A-C2522BF1D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28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7C81DCB4-AA80-4F2A-887D-A480F846C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R$ 12.300.000,00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9D8D56CC-1579-445B-9BE8-1AB404EE7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R$ 1.529.680,00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7BB134C4-9B59-41A5-ADC9-68B6849F4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R$ 10.770.320,00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EBDFE10F-8C7D-4BCD-A4A5-FE4B271F5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R$ 330.350.681,73</a:t>
            </a:r>
          </a:p>
        </p:txBody>
      </p:sp>
    </p:spTree>
    <p:extLst>
      <p:ext uri="{BB962C8B-B14F-4D97-AF65-F5344CB8AC3E}">
        <p14:creationId xmlns:p14="http://schemas.microsoft.com/office/powerpoint/2010/main" val="81023191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24DAFE8C-649A-47EC-A0C8-F7D0C0704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5E65A3-8FEA-430A-AC69-33C0F44E5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5D7FE9-702C-46F2-B869-1B87B6395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883B82-3CDB-48D8-8086-5359DA963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715703-35A5-4EF9-85B5-E33BD9797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57c0f2a1fc429d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A62EB5-80BD-4FC1-A13D-A6AD24C54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586470-012E-4A8F-A04A-F8AF90B0E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1B6DD4-C950-4487-B37E-FE15233A6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945D07-5941-49F8-BE92-AB4D1D4D4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5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754ECB-E216-412E-9860-613BD900E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A817C6-3AED-489D-A2CC-7BDCF7454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948B16-5401-4A3C-9372-F47A9EB04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5ACB29-4C01-44E6-B4B8-06182C9ED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02C642-07E0-4ACF-BAC0-72792E347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29F49E-2640-4944-8694-06C6CA6B4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A539C2-04D2-4A61-9E07-7937C2758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26B253-D667-44D6-A8CA-EBD9407C1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D4FA4E-AA01-46EB-938D-71FAEE9BB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FED291-5606-4F41-9AE1-80B68B275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A9E99C-4378-4B94-9FB8-41661C4D5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R$ 11.500.000,00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F3C9FE-931F-437D-95AB-242B72E54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R$ 1.447.340,00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545168-7F5B-4D1F-A983-7CBA19A72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R$ 10.052.660,00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E7364E0-3170-47C5-892D-9CE67057F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R$ 340.403.341,73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07796F1-75CC-4B48-886B-1A8561ABD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C66F728-89DD-43E3-8252-300485255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28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2BA9DFD-4440-499F-83C6-F0919C0F7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R$ 10.800.000,00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5391B47-C5E9-4E28-B8C0-F80D2B3AE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R$ 1.378.920,00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CA01BF3-B9AE-4129-A0C1-53E74BD72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R$ 9.421.080,00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C0B802D-65E6-4D4F-9A9B-ECF56C1D6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R$ 349.824.421,73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4ADCCF7-F9F1-421F-8A10-9B88C1517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85F0C25-DBB5-4D26-95C2-C510F9489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BAD5530-8832-492F-8FA0-D23E466C9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1679F1E-43FF-483F-B344-7CD0DAEB5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R$ 9.800.000,00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5D0A728-B493-482D-8491-725A4806E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R$ 1.326.410,00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746FB00-7C4C-49E0-85F9-CD34D7F81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R$ 8.473.590,00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6340EC0-8673-4FB8-B41E-E00CC65B6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R$ 358.298.011,73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7FA6E7B-BD5B-446F-B866-14C421F9C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C1C0D8E-72A8-45BE-9F8F-853FFFCD2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340BB53-FCB3-4C89-95F4-CD0B2E776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32E4AFD-9353-4382-AC88-F8369FB91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R$ 1.349.870,00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3E3B6CA-0E44-49F7-902D-C5E2EC36C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R$ 8.150.130,00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AD4A670-CD99-425F-906B-55957EB97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R$ 366.448.141,73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5D5C111-E6FE-4E62-BF69-C7F689107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E7874A3-5EAB-408B-975E-6D501DC46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5C24A54-0BE9-4A7C-9C85-0FF5545B5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62AFBAE-C308-4212-8E86-F1340CA2A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R$ 10.000.000,00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A40A3CB-B727-4D86-A4B1-78441DFA1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R$ 1.408.630,00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A9CAD31-FC2B-41FC-BF45-AE7668D76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R$ 8.591.370,00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C517BDD-1C16-4749-81E9-52724AC6E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R$ 375.039.511,73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1DF12C7-4EBE-44F3-AF57-058DC6E8B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6589DC7-33D3-4F2B-AD0B-88D273262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28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671B2BC-7A15-47CD-821C-08E637479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R$ 11.300.000,00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C92F5D6-3EA2-4E92-8634-52F23AE84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R$ 1.482.760,00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6819E42-BA20-4C3B-BD99-2F591DE6A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R$ 9.817.240,00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1B4F8C4-032C-4FE3-A86F-304BFA6D9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R$ 384.856.751,73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E1DE2BA-FFB4-4795-A8C4-903B7557F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9D0E44C-0DDE-41D2-AE80-0B9705B8A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425A6F6-12E1-41E9-87AE-582216185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28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1618988-DCB2-4982-8E16-C3F558AB1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R$ 12.600.000,00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69423C59-CF7C-49A5-921E-184E45FC7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R$ 1.578.140,00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F7710C9-511D-41A5-8CAA-4309E706B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R$ 11.021.860,00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BFA7C32-76C2-4DAE-9DB1-7C8B9802B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R$ 395.878.611,73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5692108-CDD1-4FC4-AF5F-EBAF4F77F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D54022DE-8FB5-4C26-B2FA-A73EC3189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28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0FC60EEF-BB75-4746-A757-0B05E47AC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R$ 14.200.000,00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6D61675F-B4E0-4F95-B411-4DFA030FF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R$ 1.689.630,00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7ACAACE6-FE95-4477-99CB-9ECDB6C91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R$ 12.510.370,00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BF21BCB4-64B4-43E5-BB48-647530678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R$ 408.388.981,73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44B351C3-BBBD-41D9-97E3-E85AEAE07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4A025AEA-CED2-4D5A-B298-6BFE21EFB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8BF1CF03-2DF3-4397-AECF-BD713C135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63B5335F-C7DD-467B-B11B-FEF12C421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R$ 15.000.000,00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D1F53101-A868-4779-88E9-00D6F23A5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R$ 1.742.180,00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0D172EEF-FA50-4A1C-9A11-AFBCD936C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R$ 13.257.820,00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EAD745E5-1E38-4319-8099-660681E41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R$ 421.646.801,73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9A9F6300-B7BD-4850-BBD7-F50C32025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107957AA-D985-4D76-8813-970229142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Subtotal realizado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F8CEE646-6A6E-4DE0-A19A-F8C9ADF0B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R$ 191.634.498,44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30E68EEE-BAC1-490C-81A9-25483F6D3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R$ 50.862.678,84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C4D457CD-5E0B-4064-BE6B-33A9261F7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R$ 140.771.819,60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669FAAA7-380E-42AD-B32D-01AB0F3B6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—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7FFA8DB7-27FC-40BE-90AC-4F7A5C619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472396FA-911C-4E78-AE78-3FC92075B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Subtotal projetado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1165AD9E-EAC5-4CC4-8C4B-1150715FF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D4ED8"/>
                </a:solidFill>
              </a:defRPr>
            </a:pPr>
            <a:r>
              <a:rPr sz="1050" b="1">
                <a:solidFill>
                  <a:srgbClr val="1D4ED8"/>
                </a:solidFill>
              </a:rPr>
              <a:t>R$ 325.004.602,13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2FB132A6-BAD3-4836-986D-A025EBE58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D4ED8"/>
                </a:solidFill>
              </a:defRPr>
            </a:pPr>
            <a:r>
              <a:rPr sz="1050" b="1">
                <a:solidFill>
                  <a:srgbClr val="1D4ED8"/>
                </a:solidFill>
              </a:rPr>
              <a:t>R$ 44.129.620,00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1E1D2ABC-A109-49F9-B3C1-59EB31B2A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R$ 280.874.982,13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AADBCBF4-48A2-4F42-B028-9E598BEE4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—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A2DAD7F7-AE8D-436F-84A6-AEC5BE9F2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77890DAF-E890-4319-85E1-F1D77FBF4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3445FC1F-4C56-44D0-953C-71FCF9625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Total do recorte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716FBEF6-D9FC-424E-8E36-80A3CB3C9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R$ 516.639.100,57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78A03CD2-B565-4560-8638-D35E7B595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R$ 94.992.298,84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9AC5A3F6-5B0A-42DC-9CE7-5070A87BB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R$ 421.646.801,73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2CFB9949-FF37-401C-B1F6-8DF611C1B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R$ 421.646.801,73</a:t>
            </a:r>
          </a:p>
        </p:txBody>
      </p:sp>
    </p:spTree>
    <p:extLst>
      <p:ext uri="{BB962C8B-B14F-4D97-AF65-F5344CB8AC3E}">
        <p14:creationId xmlns:p14="http://schemas.microsoft.com/office/powerpoint/2010/main" val="78640887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F1B39584-95F5-416F-8C4B-89B7A9B89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2E9B91-E067-4CDE-830B-FD110E1D2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0A2F83-D357-4686-9AD1-B3AA0CA43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CARTEIRA E RECEBÍVEIS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B8BA7D-0586-4CBA-8B67-6D2EF1B2E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A7E02C-9CDD-402A-8836-FCA5DEAF2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0d1e210a16401d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B510A1-7A28-4724-82E3-CD6D8B8B0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13AA0C-4667-4C54-BC61-145CC3094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BB2DEB-AF8F-4152-98E8-E3EB41E9A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Backlog que sustenta a projeção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61CE4B-4563-40E0-B855-8E58B7E9F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Saldo a receber conforme informado na carteira; não equivale necessariamente a caixa recebido.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1E6F0B-FB0B-4E8A-9A13-3D9470241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E87D48-9313-4AF3-B599-889601CBB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F206C9-5887-473A-9331-74A7506A3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52600"/>
            <a:ext cx="1276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CLIENTE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34F349-729A-4676-90BB-FA0370250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752600"/>
            <a:ext cx="895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STATUS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6F9585-8AC9-4B74-B352-22A61C351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CARTEIRA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299EB3-357F-47EF-9202-BAC39F57D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886BC4-C620-4747-AA19-E23374C39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BACKLOG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9DB7F6-98B0-454B-9E5B-5FD37DD6A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 RECEBER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443EF0-AEB6-47C1-A135-0E2C31B94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ATÉ 2028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D319FC-1CBE-44F8-9EAC-835FB0E7D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PÓS-2028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7D020B-F483-4738-97F9-8D23EA436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C5225D-D284-47F6-BDD4-8436C693E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859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AXIA Energia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167C453-DA6D-41D3-A744-61A6E2757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0859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EDA825-5C1A-4C40-B0BD-D53A0A458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R$ 42.544.856,72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3DEAB6F-0A4F-4B2D-BFE8-50E3E2221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R$ 13.587.630,96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D2AE799-569E-4474-A229-DD7CF1435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R$ 28.957.225,76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A075E2E-801D-47CD-A197-C0B5DF8D3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R$ 16.901.328,68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48B3A79-0937-4B8F-BF55-B2D10F3D7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R$ 28.957.225,76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26409A4-6078-4795-B93C-4191D469D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1C70CF8-7BD3-4D2A-AB98-E19D868D8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3C8BD34-6861-4A7F-AE32-DA38B5CD8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773E72F-C985-40EA-B94A-93B07649F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4288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Petrobras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4350FE0-91FA-47D4-9ABE-C37D0ADEA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4288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B5D4177-0A5C-4693-B329-B95A27219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R$ 126.739.271,47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7501E89-D6D4-4C67-A18C-506FCE239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R$ 1.506.178,20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BAFB760-00D6-45BF-AFA7-CED20665F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R$ 125.233.093,27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68904E2-7F73-4864-B920-0891789F6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R$ 2.752.843,23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F078361-FCCD-4559-A84E-CE8345D8E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R$ 123.670.948,92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148538E-2305-47DA-9DD0-B8ED412F5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R$ 1.562.144,35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36D638E-1750-43A3-8596-80C3A4BFB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28AD79F-F4E6-4EEC-A550-E6DEE7B0C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7717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Enel Green Power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CC2650C-909C-4C4A-9EA1-56B49008E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7717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864874F-F0ED-4911-A1AA-AD701817E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R$ 74.695.374,05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C3D7B10-FC03-4567-A0F3-7D60F7E60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R$ 46.633.200,10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7079C44-3B65-4B60-BBF9-4E5791359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R$ 28.062.173,95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6D128F7-F74E-4B7B-81BE-58EBADA04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R$ 25.512.835,02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7D0354B-D76F-4B57-8127-5C3646CCC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R$ 28.062.173,95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F662969-1074-4806-BB5E-6F9B9CB0E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4307AB3-3815-44FA-B621-19F69162A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A675FC3-81CB-42D1-BB58-8A7D0B4E8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FE18180-46FC-4592-BCD6-87F9B568C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1146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CEMIG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D47849F-0902-4304-8A14-FA5C5B029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1146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FE94CAA-A4EB-421A-B8B9-CB2C1F430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R$ 157.646.971,08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6C93CE5-7D88-4525-B06C-80A9B68F6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R$ 15.287.450,14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440CD39-2968-4D04-B032-BC36999CF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R$ 142.359.520,94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C163557-007A-47C1-8492-833E0611F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R$ 15.391.505,90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ABA57C6-7398-4C63-BCBE-BD811D660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R$ 142.359.520,94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9302421-1480-4247-8735-E2339FAC0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C07D54E-1B8F-4B05-B1FC-0DF0B4C7E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242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DEEBAE9-4B69-4D00-A5B2-EBEE4938B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4575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Âmbar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97C0E9E-261F-4FA3-A897-305DF2F44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4575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39311D0-C5AB-4E2C-8B01-A356B4DA0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R$ 883.317,21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D049740-2098-42D4-9D20-74D23B0F5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R$ 794.985,49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972C0950-D0B3-46FA-8B50-E55F48648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R$ 88.331,72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B06877E1-5175-4B9C-A68D-CD379BB8D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R$ 883.317,20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213F7BB7-E36F-468D-8083-926FA3A3E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R$ 485.824,46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40D3458-24B1-46BC-A440-622EDD0D3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E247B960-6142-43C7-A1F3-CF4D53ED0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AA2293AE-FF5A-41FA-A4EF-2469AA3B1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C8E2C1BB-0E52-4C6F-8FDF-6B579C23E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8004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Hydro Alunorte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425F5595-08CD-419D-A4C6-FFF075FF5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8004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C6F560F3-2C78-43AF-9683-697690C13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R$ 4.965.143,38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AA3E100B-8391-4624-AFCE-AFF471A92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R$ 828.439,34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1A79B964-13D6-459F-8BFD-778F0A8CE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R$ 4.136.704,04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3920650F-0A82-4F12-A3D9-F2E51D063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R$ 872.409,82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8D93DFCD-48E0-424A-8787-D6C5E64CC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R$ 4.136.704,04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E0AEFF3C-1E47-4F77-BE1C-066A09020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C608C323-29A4-4545-8B5A-39F0E1DEE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99304262-E396-4F3D-9B4C-10E85D2BD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1433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Belém Bioenergia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13A17F71-1881-4FAD-AAAC-37D3E978D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1433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4F8EFA18-993A-4BBB-96B2-16088D1D1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R$ 1.445.844,71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43476CF7-A49A-43C7-95D3-20673999A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R$ 279.135,36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6A91EC80-2A55-4C46-982F-46BAAD9DE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R$ 1.166.709,35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09B49FE6-8A5A-4F1D-B450-4B5D5A28D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R$ 1.445.844,71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023D863C-EF5C-4ECA-83DC-8FA2E1967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R$ 1.166.709,35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D315BDA5-697B-41B6-8DAF-A184384C5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F93343A3-73CF-4FCD-A1AC-76098C9B3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1877563A-7D87-45C2-B4D4-F1D416D13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52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C5F53E0B-80AF-4456-BE8C-3251C1389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4862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Flessak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C5085DE8-9412-45E8-94CC-2984AC22B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4862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9E556DB1-C5D9-4D30-AC15-7F534EE76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R$ 803.178,97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094F937E-18BE-493A-8843-03D495C61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R$ 80.317,90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984E99E4-8454-4642-9037-686ACE4F2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R$ 722.861,07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B1A74646-7902-44F3-B490-9F6DCD06B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R$ 803.178,96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83D8D13B-0CB3-4671-A0FC-13824D2EA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R$ 722.861,06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89267831-33AD-47C8-952E-4B7A48EA5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R$ 0,01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AD4A0785-F1EB-4C40-A85A-696A39D6B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294D0140-7E85-404E-935A-1FA89F6C4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291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Harbin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27779B4A-6D5D-4331-ADEF-5F69B1615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8291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13C26585-E1CC-4549-A0BE-0DD0265A4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094469E7-DFC9-4D2B-A1AB-B0AB5D00C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9FFBCA87-1849-4D27-AA6F-F9A96C424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R$ 80.000,00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F75A0547-E8B3-4DFB-9E93-1E92F17E0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BD796B22-9A1F-4A0F-A1ED-FDB56F3CF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C5423AF6-3A9C-4A81-8D61-3B86A56E1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526D99E1-D7E2-4CA1-8791-0F5598A05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5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A323B7B3-FD78-44D0-98DC-34275F287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D961EB34-8EDF-4F5F-B0A4-C6FB0628D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720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ArcelorMittal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CBA897CE-F440-4A3A-B0C2-A9D4C2F90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1720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973C4B40-D2B3-4DE4-8ECB-63809EE50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R$ 261.601,20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7CDAD160-D0F2-4BD7-86B1-A85BDE6A3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03168554-97FF-48D0-819E-1A5371017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R$ 261.601,20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4C8DDEF3-2ED2-4A10-BE93-A3149B895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R$ 261.601,20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B743B3A3-4EFE-487E-8677-B5BC59BD5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R$ 261.601,20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5D1AA586-7A4D-4D20-A457-2770C3C36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84ACD520-895B-4AF0-AF96-114D04A9C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20783D93-3217-4F42-ACB3-28D944631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149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Andritz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14BE3997-4366-412E-9C00-5AB7A7CB2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5149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AC6C83AB-1DEB-4621-9A8B-315E58386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C4873691-98A8-45BA-8E69-65C3C872E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7E6FBD97-6C8C-4DB8-864F-D2E2D4A20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R$ 80.000,00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9E4FD49C-9DA0-4FD8-9961-DCEEACE73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83493D14-EB21-40CC-A65C-629B62E73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C3630915-F8BE-4043-84DA-1CECCE46C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12CE9062-E82C-409E-80E2-51F9B05D0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92034E34-8895-4900-BDC8-F02EF7977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61207E8A-0FE7-4650-8014-FEE4BC31D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578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Total da carteira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9EB8CA28-4E4F-4709-80AB-DCEE4CA23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8578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11 cliente(s)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40D9D52D-E8EA-451A-AB22-52DCD0263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R$ 410.145.558,79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44B8538B-A8B7-4CE0-8213-8D730CA3E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R$ 78.997.337,49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08EF8C7D-9514-451D-8FFC-AC4A7E534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1D4ED8"/>
                </a:solidFill>
              </a:defRPr>
            </a:pPr>
            <a:r>
              <a:rPr sz="938" b="1">
                <a:solidFill>
                  <a:srgbClr val="1D4ED8"/>
                </a:solidFill>
              </a:rPr>
              <a:t>R$ 331.148.221,30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B9ADE7CE-BF26-41FC-B547-9180FA406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R$ 64.984.864,72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EBC2FC28-71BF-46EE-AAA4-B23D2C485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R$ 329.983.569,68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760C26C6-5835-4198-B9F1-2847570A7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R$ 1.562.144,36</a:t>
            </a:r>
          </a:p>
        </p:txBody>
      </p:sp>
    </p:spTree>
    <p:extLst>
      <p:ext uri="{BB962C8B-B14F-4D97-AF65-F5344CB8AC3E}">
        <p14:creationId xmlns:p14="http://schemas.microsoft.com/office/powerpoint/2010/main" val="180864663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FECFBF-B25E-4F44-910D-9D18FBD44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3C53B2-4FDF-45BC-9CD5-6F34BA724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19DC77-81C6-4D69-9811-93A3BBC2A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15 / 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C80F7B-CEFD-4945-815F-484DC38B3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bdf99f43eb44ce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C346A8-3261-4CE8-B0E9-5CED76990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D2662A-F1E7-4B49-B7D7-4D4019A43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cae4f925b6449f"/>
          <a:stretch xmlns:a="http://schemas.openxmlformats.org/drawingml/2006/main"/>
        </p:blipFill>
        <p:spPr>
          <a:xfrm xmlns:a="http://schemas.openxmlformats.org/drawingml/2006/main">
            <a:off x="3143250" y="3037351"/>
            <a:ext cx="5905500" cy="7832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736633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2026-09-09T23:25:04.3780000Z</dcterms:created>
  <dcterms:modified xsi:type="dcterms:W3CDTF">2026-09-09T23:25:04.3780000Z</dcterms:modified>
</coreProperties>
</file>