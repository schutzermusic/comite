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5aa9b796cb4999" /><Relationship Type="http://schemas.openxmlformats.org/officeDocument/2006/relationships/extended-properties" Target="/docProps/app.xml" Id="Rff2ea74856374db5" /><Relationship Type="http://schemas.openxmlformats.org/officeDocument/2006/relationships/officeDocument" Target="/ppt/presentation.xml" Id="R478c26f1a95f4a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27a1404694c80"/>
  </p:sldMasterIdLst>
  <p:notesMasterIdLst>
    <p:notesMasterId xmlns:r="http://schemas.openxmlformats.org/officeDocument/2006/relationships" r:id="Rb720ffb3d5d24bba"/>
  </p:notesMasterIdLst>
  <p:sldIdLst>
    <p:sldId xmlns:r="http://schemas.openxmlformats.org/officeDocument/2006/relationships" id="256" r:id="R8e2aca8827f74e50"/>
    <p:sldId xmlns:r="http://schemas.openxmlformats.org/officeDocument/2006/relationships" id="257" r:id="R7b23656b428d4aaf"/>
    <p:sldId xmlns:r="http://schemas.openxmlformats.org/officeDocument/2006/relationships" id="258" r:id="R1b335241cbf74660"/>
    <p:sldId xmlns:r="http://schemas.openxmlformats.org/officeDocument/2006/relationships" id="259" r:id="R1bee61c4370c49b8"/>
    <p:sldId xmlns:r="http://schemas.openxmlformats.org/officeDocument/2006/relationships" id="260" r:id="R2b93e4a1edd34f3e"/>
    <p:sldId xmlns:r="http://schemas.openxmlformats.org/officeDocument/2006/relationships" id="261" r:id="R308ad8033b4f4493"/>
    <p:sldId xmlns:r="http://schemas.openxmlformats.org/officeDocument/2006/relationships" id="262" r:id="Rb6a7cdd9aca14ace"/>
    <p:sldId xmlns:r="http://schemas.openxmlformats.org/officeDocument/2006/relationships" id="263" r:id="R64719a1a74cc4025"/>
    <p:sldId xmlns:r="http://schemas.openxmlformats.org/officeDocument/2006/relationships" id="264" r:id="Rf6c908b151624e2f"/>
    <p:sldId xmlns:r="http://schemas.openxmlformats.org/officeDocument/2006/relationships" id="265" r:id="Rabf6b08c87be46c1"/>
    <p:sldId xmlns:r="http://schemas.openxmlformats.org/officeDocument/2006/relationships" id="266" r:id="Rad5e405eb937417f"/>
    <p:sldId xmlns:r="http://schemas.openxmlformats.org/officeDocument/2006/relationships" id="267" r:id="Rceb923b16eef4b2d"/>
    <p:sldId xmlns:r="http://schemas.openxmlformats.org/officeDocument/2006/relationships" id="268" r:id="R63b9509e80df491d"/>
    <p:sldId xmlns:r="http://schemas.openxmlformats.org/officeDocument/2006/relationships" id="269" r:id="Ra83cd104eda34d3f"/>
    <p:sldId xmlns:r="http://schemas.openxmlformats.org/officeDocument/2006/relationships" id="270" r:id="R2d4bcc5ade184e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a96135ac74037" /><Relationship Type="http://schemas.openxmlformats.org/officeDocument/2006/relationships/slideMaster" Target="/ppt/slideMasters/slideMaster1.xml" Id="Rbb027a1404694c80" /><Relationship Type="http://schemas.openxmlformats.org/officeDocument/2006/relationships/notesMaster" Target="/ppt/notesMasters/notesMaster1.xml" Id="Rb720ffb3d5d24bba" /><Relationship Type="http://schemas.openxmlformats.org/officeDocument/2006/relationships/presProps" Target="/ppt/presProps.xml" Id="R380231515d654b4d" /><Relationship Type="http://schemas.openxmlformats.org/officeDocument/2006/relationships/tableStyles" Target="/ppt/tableStyles.xml" Id="R2f89f1960b0a4eb8" /><Relationship Type="http://schemas.openxmlformats.org/officeDocument/2006/relationships/slide" Target="/ppt/slides/slide1.xml" Id="R8e2aca8827f74e50" /><Relationship Type="http://schemas.openxmlformats.org/officeDocument/2006/relationships/slide" Target="/ppt/slides/slide2.xml" Id="R7b23656b428d4aaf" /><Relationship Type="http://schemas.openxmlformats.org/officeDocument/2006/relationships/slide" Target="/ppt/slides/slide3.xml" Id="R1b335241cbf74660" /><Relationship Type="http://schemas.openxmlformats.org/officeDocument/2006/relationships/slide" Target="/ppt/slides/slide4.xml" Id="R1bee61c4370c49b8" /><Relationship Type="http://schemas.openxmlformats.org/officeDocument/2006/relationships/slide" Target="/ppt/slides/slide5.xml" Id="R2b93e4a1edd34f3e" /><Relationship Type="http://schemas.openxmlformats.org/officeDocument/2006/relationships/slide" Target="/ppt/slides/slide6.xml" Id="R308ad8033b4f4493" /><Relationship Type="http://schemas.openxmlformats.org/officeDocument/2006/relationships/slide" Target="/ppt/slides/slide7.xml" Id="Rb6a7cdd9aca14ace" /><Relationship Type="http://schemas.openxmlformats.org/officeDocument/2006/relationships/slide" Target="/ppt/slides/slide8.xml" Id="R64719a1a74cc4025" /><Relationship Type="http://schemas.openxmlformats.org/officeDocument/2006/relationships/slide" Target="/ppt/slides/slide9.xml" Id="Rf6c908b151624e2f" /><Relationship Type="http://schemas.openxmlformats.org/officeDocument/2006/relationships/slide" Target="/ppt/slides/slide10.xml" Id="Rabf6b08c87be46c1" /><Relationship Type="http://schemas.openxmlformats.org/officeDocument/2006/relationships/slide" Target="/ppt/slides/slide11.xml" Id="Rad5e405eb937417f" /><Relationship Type="http://schemas.openxmlformats.org/officeDocument/2006/relationships/slide" Target="/ppt/slides/slide12.xml" Id="Rceb923b16eef4b2d" /><Relationship Type="http://schemas.openxmlformats.org/officeDocument/2006/relationships/slide" Target="/ppt/slides/slide13.xml" Id="R63b9509e80df491d" /><Relationship Type="http://schemas.openxmlformats.org/officeDocument/2006/relationships/slide" Target="/ppt/slides/slide14.xml" Id="Ra83cd104eda34d3f" /><Relationship Type="http://schemas.openxmlformats.org/officeDocument/2006/relationships/slide" Target="/ppt/slides/slide15.xml" Id="R2d4bcc5ade18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4c672416e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c59b6133b42a8" /><Relationship Type="http://schemas.openxmlformats.org/officeDocument/2006/relationships/notesMaster" Target="/ppt/notesMasters/notesMaster1.xml" Id="R4b2b7b3d486049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d9d863d644a02" /><Relationship Type="http://schemas.openxmlformats.org/officeDocument/2006/relationships/notesMaster" Target="/ppt/notesMasters/notesMaster1.xml" Id="R0243380cadb941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9067fcf934ced" /><Relationship Type="http://schemas.openxmlformats.org/officeDocument/2006/relationships/notesMaster" Target="/ppt/notesMasters/notesMaster1.xml" Id="Rc05119daa5ce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be2f98261643de" /><Relationship Type="http://schemas.openxmlformats.org/officeDocument/2006/relationships/notesMaster" Target="/ppt/notesMasters/notesMaster1.xml" Id="Rc68de880794b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cb287c9ea84666" /><Relationship Type="http://schemas.openxmlformats.org/officeDocument/2006/relationships/notesMaster" Target="/ppt/notesMasters/notesMaster1.xml" Id="R9c69fb6c6e834c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3bb483378443f" /><Relationship Type="http://schemas.openxmlformats.org/officeDocument/2006/relationships/notesMaster" Target="/ppt/notesMasters/notesMaster1.xml" Id="Ra8dc2c5bc280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7d0be00c084062" /><Relationship Type="http://schemas.openxmlformats.org/officeDocument/2006/relationships/notesMaster" Target="/ppt/notesMasters/notesMaster1.xml" Id="Ra04833040faa4f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edc45f447b497c" /><Relationship Type="http://schemas.openxmlformats.org/officeDocument/2006/relationships/notesMaster" Target="/ppt/notesMasters/notesMaster1.xml" Id="R8478577d295d40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a410933cdf4447" /><Relationship Type="http://schemas.openxmlformats.org/officeDocument/2006/relationships/notesMaster" Target="/ppt/notesMasters/notesMaster1.xml" Id="R6d730db1667342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4b492e26f74090" /><Relationship Type="http://schemas.openxmlformats.org/officeDocument/2006/relationships/notesMaster" Target="/ppt/notesMasters/notesMaster1.xml" Id="R190c7b1558ee46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f58d5d07d34fde" /><Relationship Type="http://schemas.openxmlformats.org/officeDocument/2006/relationships/notesMaster" Target="/ppt/notesMasters/notesMaster1.xml" Id="R7e658e25910240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1c7e43d8cc4f01" /><Relationship Type="http://schemas.openxmlformats.org/officeDocument/2006/relationships/notesMaster" Target="/ppt/notesMasters/notesMaster1.xml" Id="R70cfb0945fc14d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586fddf8fd4d34" /><Relationship Type="http://schemas.openxmlformats.org/officeDocument/2006/relationships/notesMaster" Target="/ppt/notesMasters/notesMaster1.xml" Id="R2c6c1d80269e42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bd2e039cc147b9" /><Relationship Type="http://schemas.openxmlformats.org/officeDocument/2006/relationships/notesMaster" Target="/ppt/notesMasters/notesMaster1.xml" Id="Rbe9f96f02a3740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8dcb420c3545b9" /><Relationship Type="http://schemas.openxmlformats.org/officeDocument/2006/relationships/notesMaster" Target="/ppt/notesMasters/notesMaster1.xml" Id="R0825877ede61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receita do período cobre 5,44x o custo de folha informado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Use o roteiro para combinar o tempo de cada bloco antes de entrar nos números.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receita do período cobre 5,44x o custo de folha informado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- 31 competência(s) com valor realizado e 29 com previsão. Realizado e previsto permanecem identificados separadamente em todas as séries.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Traço contínuo: valores fechados. Traço tracejado: projeção ancorada na última competência realizada.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trajetória acumulada mantém-se positiva em todo o recorte e fecha em R$ 421,6 mi.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Nenhuma competência do recorte fecha com saldo mensal negativo.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Cada série identifica o cliente que compõe o faturamento previsto.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Base contratual usada para limitar e distribuir a projeção.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Seguimos comprometidos com uma execução disciplinada, crescimento sustentável e geração consistente de valor para nossos investidores.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ae02cf3df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0470590864f60" /><Relationship Type="http://schemas.openxmlformats.org/officeDocument/2006/relationships/slideLayout" Target="/ppt/slideLayouts/slideLayout1.xml" Id="Rf608a665d4ea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8a665d4ea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b6aabe3954f30" /><Relationship Type="http://schemas.openxmlformats.org/officeDocument/2006/relationships/image" Target="/ppt/media/image.png" Id="R6e4fc8220ceb476a" /><Relationship Type="http://schemas.openxmlformats.org/officeDocument/2006/relationships/image" Target="/ppt/media/image2.png" Id="R50cbdc5b0f2448b3" /><Relationship Type="http://schemas.openxmlformats.org/officeDocument/2006/relationships/notesSlide" Target="/ppt/notesSlides/notesSlide1.xml" Id="R765e658996b0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7ae65403a4839" /><Relationship Type="http://schemas.openxmlformats.org/officeDocument/2006/relationships/image" Target="/ppt/media/image3.png" Id="Rc2a79be839224192" /><Relationship Type="http://schemas.openxmlformats.org/officeDocument/2006/relationships/notesSlide" Target="/ppt/notesSlides/notesSlide2.xml" Id="R39a35ea4dc00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27cf7f0634ad6" /><Relationship Type="http://schemas.openxmlformats.org/officeDocument/2006/relationships/image" Target="/ppt/media/image4.png" Id="R493a2b2bc4d74c47" /><Relationship Type="http://schemas.openxmlformats.org/officeDocument/2006/relationships/image" Target="/ppt/media/image5.png" Id="R3222bad91d6a4ac7" /><Relationship Type="http://schemas.openxmlformats.org/officeDocument/2006/relationships/image" Target="/ppt/media/image.svg" Id="Rf521aa9472944e86" /><Relationship Type="http://schemas.openxmlformats.org/officeDocument/2006/relationships/notesSlide" Target="/ppt/notesSlides/notesSlide3.xml" Id="R80dd7ec5acb242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6361dcd73441f" /><Relationship Type="http://schemas.openxmlformats.org/officeDocument/2006/relationships/image" Target="/ppt/media/image6.png" Id="R763ef2c900ea4ac3" /><Relationship Type="http://schemas.openxmlformats.org/officeDocument/2006/relationships/image" Target="/ppt/media/image7.png" Id="R36879ef86cc149b7" /><Relationship Type="http://schemas.openxmlformats.org/officeDocument/2006/relationships/image" Target="/ppt/media/image2.svg" Id="R7fe17746c4ad4f42" /><Relationship Type="http://schemas.openxmlformats.org/officeDocument/2006/relationships/notesSlide" Target="/ppt/notesSlides/notesSlide4.xml" Id="R0646d56a126c41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51044a014411" /><Relationship Type="http://schemas.openxmlformats.org/officeDocument/2006/relationships/image" Target="/ppt/media/image8.png" Id="Rbe3c970f3d94414c" /><Relationship Type="http://schemas.openxmlformats.org/officeDocument/2006/relationships/image" Target="/ppt/media/image9.png" Id="Radbc650eb4614161" /><Relationship Type="http://schemas.openxmlformats.org/officeDocument/2006/relationships/image" Target="/ppt/media/image3.svg" Id="R111c0357c32e4ffc" /><Relationship Type="http://schemas.openxmlformats.org/officeDocument/2006/relationships/notesSlide" Target="/ppt/notesSlides/notesSlide5.xml" Id="R9f00c1ea7f0f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98b3bb700405b" /><Relationship Type="http://schemas.openxmlformats.org/officeDocument/2006/relationships/image" Target="/ppt/media/image10.png" Id="R694f169effe74176" /><Relationship Type="http://schemas.openxmlformats.org/officeDocument/2006/relationships/image" Target="/ppt/media/image11.png" Id="R64b0d0ffb819483a" /><Relationship Type="http://schemas.openxmlformats.org/officeDocument/2006/relationships/image" Target="/ppt/media/image4.svg" Id="R5f05bcf7d5a941a7" /><Relationship Type="http://schemas.openxmlformats.org/officeDocument/2006/relationships/notesSlide" Target="/ppt/notesSlides/notesSlide6.xml" Id="R50d7891ab2ef44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0619c1d0440a5" /><Relationship Type="http://schemas.openxmlformats.org/officeDocument/2006/relationships/image" Target="/ppt/media/image12.png" Id="R0854c0c9826c41c4" /><Relationship Type="http://schemas.openxmlformats.org/officeDocument/2006/relationships/image" Target="/ppt/media/image13.png" Id="R3f4b1768061647db" /><Relationship Type="http://schemas.openxmlformats.org/officeDocument/2006/relationships/image" Target="/ppt/media/image5.svg" Id="R36f66c6806e64362" /><Relationship Type="http://schemas.openxmlformats.org/officeDocument/2006/relationships/notesSlide" Target="/ppt/notesSlides/notesSlide7.xml" Id="Rc52fae3577d8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7440c897b4556" /><Relationship Type="http://schemas.openxmlformats.org/officeDocument/2006/relationships/image" Target="/ppt/media/image14.png" Id="Rb524eb4b5e0a43ab" /><Relationship Type="http://schemas.openxmlformats.org/officeDocument/2006/relationships/image" Target="/ppt/media/image15.png" Id="R3039d48278fd4f05" /><Relationship Type="http://schemas.openxmlformats.org/officeDocument/2006/relationships/image" Target="/ppt/media/image6.svg" Id="R06f032f3521f490e" /><Relationship Type="http://schemas.openxmlformats.org/officeDocument/2006/relationships/notesSlide" Target="/ppt/notesSlides/notesSlide8.xml" Id="R6f42eacb59ad42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d515c2f1457e" /><Relationship Type="http://schemas.openxmlformats.org/officeDocument/2006/relationships/image" Target="/ppt/media/image16.png" Id="R7a49b326d0844745" /><Relationship Type="http://schemas.openxmlformats.org/officeDocument/2006/relationships/notesSlide" Target="/ppt/notesSlides/notesSlide9.xml" Id="R99e3bd7db7f248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2ab892e0c4d6e" /><Relationship Type="http://schemas.openxmlformats.org/officeDocument/2006/relationships/image" Target="/ppt/media/image17.png" Id="R5c93a515c1f24568" /><Relationship Type="http://schemas.openxmlformats.org/officeDocument/2006/relationships/notesSlide" Target="/ppt/notesSlides/notesSlide10.xml" Id="R2471dc5bb371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1394803ab4460" /><Relationship Type="http://schemas.openxmlformats.org/officeDocument/2006/relationships/image" Target="/ppt/media/image18.png" Id="Ref19d04470ae49d3" /><Relationship Type="http://schemas.openxmlformats.org/officeDocument/2006/relationships/notesSlide" Target="/ppt/notesSlides/notesSlide11.xml" Id="Reac8412f100d43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2c5ae330c46f1" /><Relationship Type="http://schemas.openxmlformats.org/officeDocument/2006/relationships/image" Target="/ppt/media/image19.png" Id="Rd01d7611c4824906" /><Relationship Type="http://schemas.openxmlformats.org/officeDocument/2006/relationships/notesSlide" Target="/ppt/notesSlides/notesSlide12.xml" Id="R202c233a2f4840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cde4708be4a50" /><Relationship Type="http://schemas.openxmlformats.org/officeDocument/2006/relationships/image" Target="/ppt/media/image20.png" Id="Ra42dfd8ea1224cd8" /><Relationship Type="http://schemas.openxmlformats.org/officeDocument/2006/relationships/notesSlide" Target="/ppt/notesSlides/notesSlide13.xml" Id="Rf662cc21c1634f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2df48f03d45bd" /><Relationship Type="http://schemas.openxmlformats.org/officeDocument/2006/relationships/image" Target="/ppt/media/image21.png" Id="R766dbbe6ef1f4a29" /><Relationship Type="http://schemas.openxmlformats.org/officeDocument/2006/relationships/notesSlide" Target="/ppt/notesSlides/notesSlide14.xml" Id="Rc6a97bfd229d48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916899fff4ae7" /><Relationship Type="http://schemas.openxmlformats.org/officeDocument/2006/relationships/image" Target="/ppt/media/image22.png" Id="R6557cccfb1fe4553" /><Relationship Type="http://schemas.openxmlformats.org/officeDocument/2006/relationships/image" Target="/ppt/media/image23.png" Id="Ra50c07625abb4bb7" /><Relationship Type="http://schemas.openxmlformats.org/officeDocument/2006/relationships/notesSlide" Target="/ppt/notesSlides/notesSlide15.xml" Id="Rb68263b435dd4d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A252-302A-4A8D-894C-BF7B0650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25C04-1F40-4C6B-AD43-EC2F95D4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670B4-2348-4FF8-B1D3-2AE8EBC9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fc8220ceb476a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FC77-979D-471E-99B0-3927D1BB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0C012-78C4-4DF5-A02C-1539CCE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bdc5b0f2448b3"/>
          <a:stretch xmlns:a="http://schemas.openxmlformats.org/drawingml/2006/main"/>
        </p:blipFill>
        <p:spPr>
          <a:xfrm xmlns:a="http://schemas.openxmlformats.org/drawingml/2006/main">
            <a:off x="609600" y="685800"/>
            <a:ext cx="3303330" cy="43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93804-4E98-4FF5-AF27-29D0C6F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1EEFA-B7DD-486E-8E2F-6E0FE54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2867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874A"/>
                </a:solidFill>
              </a:defRPr>
            </a:pPr>
            <a:r>
              <a:rPr sz="900" b="1">
                <a:solidFill>
                  <a:srgbClr val="00874A"/>
                </a:solidFill>
              </a:rPr>
              <a:t>CONFIDENCIAL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666C8-774D-4B43-A4D4-D2B8CA6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A20"/>
                </a:solidFill>
              </a:defRPr>
            </a:pPr>
            <a:r>
              <a:rPr sz="3900" b="1">
                <a:solidFill>
                  <a:srgbClr val="0B1A20"/>
                </a:solidFill>
              </a:rPr>
              <a:t>Relatório de Faturamento vs Folha de Pagamento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CD764-40D6-4479-A354-0BA8ECF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PERÍODO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F5432-D5F6-48FA-A472-164F29C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3F"/>
                </a:solidFill>
              </a:defRPr>
            </a:pPr>
            <a:r>
              <a:rPr sz="1275" b="1">
                <a:solidFill>
                  <a:srgbClr val="26383F"/>
                </a:solidFill>
              </a:rPr>
              <a:t>jan de 24 — dez de 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A5619-784D-4F9D-A3F5-6F25A81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806EF-3560-4C72-8908-7E184CE1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3F"/>
                </a:solidFill>
              </a:defRPr>
            </a:pPr>
            <a:r>
              <a:rPr sz="1275" b="1">
                <a:solidFill>
                  <a:srgbClr val="26383F"/>
                </a:solidFill>
              </a:rPr>
              <a:t>30-07-2026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94559-1BB0-48CF-A70D-1407A836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PREPARADO POR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6B4AD-F13D-4E73-B05B-7AC40C6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3F"/>
                </a:solidFill>
              </a:defRPr>
            </a:pPr>
            <a:r>
              <a:rPr sz="1275" b="1">
                <a:solidFill>
                  <a:srgbClr val="26383F"/>
                </a:solidFill>
              </a:rPr>
              <a:t>Sergio Fagundes</a:t>
            </a:r>
          </a:p>
        </p:txBody>
      </p:sp>
    </p:spTree>
    <p:extLst>
      <p:ext uri="{BB962C8B-B14F-4D97-AF65-F5344CB8AC3E}">
        <p14:creationId xmlns:p14="http://schemas.microsoft.com/office/powerpoint/2010/main" val="129263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2E6A6C-1952-470B-BD02-D472B62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2789B-786C-4B39-8B24-216D79AD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2B515-F1C5-4860-B4D0-BB626B7E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ROTEIRO DA APRESENTAÇÃO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4953D-A04A-4862-B73C-3ABA39E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9370-9B2F-44E0-8C4A-1FFAC4D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9be839224192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26CF0-F6C8-4426-AD67-089DB117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E4F07-423A-4104-A429-DDC75746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A7F91-EEDD-49F0-94EC-2BB625F8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O que esta leitura cobre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4BC6B-D7B8-437B-9304-5C4CE760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122AF-FF58-42E9-8224-C7DA169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8EE83-6EF2-4EC5-B838-612DD61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Síntese executiva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F2BFC-456F-49A5-BA1F-9FCA52D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Cobertura, saldo e os sinais que resumem o período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A02B7-D9B7-419B-BFC2-7F3BF6AB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E53E8-7B5D-46DC-9093-4BEF1C7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598B6-14D6-47E4-A74D-C3DC0EE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Evolução mensal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64649-269C-44D7-90FB-E8F027EA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Receita e folha competência a competência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92258-C4D9-441F-A0EC-0E914FA1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FE77B-DE76-4D6C-858F-CC564A8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8D429-18D1-48F8-9611-AE0FC97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Curva mensal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72869-7662-4BD4-BBC9-03A1D4A2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Valores de cada competência, sem acumulação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42E4B-76FD-445A-BAAF-F9E9E0F2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96D6F-AC9B-4218-9608-C446DE7E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0BBB3-353C-4F54-B18D-5E61687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Curva S acumulada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CDB97-283A-4773-BB4D-DB5814D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Trajetória acumulada e zona de previsão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C8D77-AF3F-44C7-82A0-037527C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E05C2-CFC6-40CE-8D3D-F105B53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CDDBC-E50D-4EE7-9F9A-0A5B197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Saldo e acumulado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0B4D6-F820-440D-9C15-4FE920D2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Onde o período gera e onde consome 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C7910-8B01-4054-B1EE-75D2AD8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CBBC4-AA4F-41C1-BD8E-50085544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F0D95B-C7EA-4BC8-8B57-9CB2D260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Projeção por cliente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9A323-35D4-406B-9F47-D0C0084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Composição do faturamento projetado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5AC51-3C56-4C19-AEEC-FB906DB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DE407-5E65-4B6E-B091-7511E85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CEC9E0-4DFB-4C60-9FC6-E77097A8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Base mensal informada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E2229-E082-4164-B603-2F741E80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Todos os valores por trás dos gráficos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6D8FCC-EE2E-4D52-A4AB-438F4C3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C7E73C-860C-48C1-B970-C8A239B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98812C-5C6B-4E73-9496-1236241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A20"/>
                </a:solidFill>
              </a:defRPr>
            </a:pPr>
            <a:r>
              <a:rPr sz="1425" b="1">
                <a:solidFill>
                  <a:srgbClr val="0B1A20"/>
                </a:solidFill>
              </a:rPr>
              <a:t>Carteira e recebíveis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15FBEC-1699-47A9-A1EF-882DD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7E939C"/>
                </a:solidFill>
              </a:defRPr>
            </a:pPr>
            <a:r>
              <a:rPr sz="1013">
                <a:solidFill>
                  <a:srgbClr val="7E939C"/>
                </a:solidFill>
              </a:rPr>
              <a:t>Backlog que sustenta a projeção</a:t>
            </a:r>
          </a:p>
        </p:txBody>
      </p:sp>
    </p:spTree>
    <p:extLst>
      <p:ext uri="{BB962C8B-B14F-4D97-AF65-F5344CB8AC3E}">
        <p14:creationId xmlns:p14="http://schemas.microsoft.com/office/powerpoint/2010/main" val="999043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F17466-0CFC-4C8B-9F60-55469B8E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3D453-E6CC-438B-868A-50D8FC4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A2314-26A1-4228-A31D-722105FD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SÍNTESE EXECUTIVA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67F7A-BF2B-4BAE-990D-71B49C6A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8DA9B-2B97-44F1-9E11-DFE316E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a2b2bc4d74c47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10B3B-4D0D-4B9D-A37F-058A5DBB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5679-8381-4269-87F7-075D675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0DEE1-1DFF-4C11-A6F7-B97FAD46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543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A20"/>
                </a:solidFill>
              </a:defRPr>
            </a:pPr>
            <a:r>
              <a:rPr sz="2400" b="1">
                <a:solidFill>
                  <a:srgbClr val="0B1A20"/>
                </a:solidFill>
              </a:rPr>
              <a:t>A receita do período cobre 5,44x o custo de folha informado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7AB24-6C26-48CF-B13C-62C3D4C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83F"/>
                </a:solidFill>
              </a:defRPr>
            </a:pPr>
            <a:r>
              <a:rPr sz="1200">
                <a:solidFill>
                  <a:srgbClr val="26383F"/>
                </a:solidFill>
              </a:rPr>
              <a:t>A receita consolidada sustenta a estrutura atual e a carteira prevista amplia a cobertura da folha ao longo do horizonte projetado.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50F84-2EBF-4E24-9A4A-DE81AF7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7543800" cy="1390650"/>
          </a:xfrm>
          <a:prstGeom xmlns:a="http://schemas.openxmlformats.org/drawingml/2006/main" prst="roundRect">
            <a:avLst>
              <a:gd name="adj" fmla="val 8219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A98D3-2E8E-4E7D-A177-9F4B3BF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B9B5F-28AD-4291-94F0-BF771E8E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8127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2C2F2-BEEC-4F40-AC7C-28E4B9BF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E69D0-8753-43B5-B46C-C5D7947A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94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92E61-1996-4989-A8CD-1958B3B4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6AC7A-054E-4C90-9427-04545C31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 REALIZADO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1F518-8163-47BA-9DB0-718AD21E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74A"/>
                </a:solidFill>
              </a:defRPr>
            </a:pPr>
            <a:r>
              <a:rPr sz="1950" b="1">
                <a:solidFill>
                  <a:srgbClr val="00874A"/>
                </a:solidFill>
              </a:rPr>
              <a:t>R$ 191,6 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3B4BA-344D-4ABC-84B6-C75193C8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31 competência(s)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F1B29-B477-48AB-B8E7-66C62F8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69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40512-4F11-43EB-B260-252EE1C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138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A581C-E8B7-4371-9689-A232496C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EA020-C906-43C3-8055-B098994A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394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 PREVISTO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3E5D5-E4C2-42DF-A258-6F63340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ED8"/>
                </a:solidFill>
              </a:defRPr>
            </a:pPr>
            <a:r>
              <a:rPr sz="1950" b="1">
                <a:solidFill>
                  <a:srgbClr val="1D4ED8"/>
                </a:solidFill>
              </a:rPr>
              <a:t>R$ 325 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6924B-9E05-47FE-AE0B-D30FE5E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63% da receita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B4A55-BF09-4A05-A91D-499AA7A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44192-2694-47CB-B118-333C1E6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181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81824-8219-46A3-87D1-3F9DBB94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4F7B6-171F-433F-9426-7004782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98744-887B-44A0-9907-EA65E07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R$ 95 mi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0879C-52ED-4B48-BD73-AB8AC003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fechada + projetada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48453-EA95-4933-AD3A-9C9BDE83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56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1640A7-4257-4174-97F6-50E552E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225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ABA15-894E-47CD-8255-6B75CA38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4A642-171D-497B-BD4F-9F014F5F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481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 ACUMULADO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6ECBB6-6BA6-489F-9233-5E2A152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74A"/>
                </a:solidFill>
              </a:defRPr>
            </a:pPr>
            <a:r>
              <a:rPr sz="1950" b="1">
                <a:solidFill>
                  <a:srgbClr val="00874A"/>
                </a:solidFill>
              </a:rPr>
              <a:t>R$ 421,6 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A7D275-13DA-4E01-87DE-C93E3109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no fecho do recorte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2bad91d6a4ac7">
            <a:extLst>
              <a:ext uri="{96DAC541-7B7A-43D3-8B79-37D633B846F1}">
                <asvg:svgBlip xmlns:asvg="http://schemas.microsoft.com/office/drawing/2016/SVG/main" r:embed="Rf521aa9472944e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4900" y="14287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F8D3C0-A85C-40C9-8067-22A66B06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COBERTURA RECEITA / FOLHA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AA0EE-9B21-4567-9FEC-60FECF7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Marca central do arco = ponto de equilíbrio (1,00x). +444 p.p. em relação ao equilíbrio.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AD37AC-53C0-4D9D-9CC5-F60D50B6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16764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7F0E52-DF79-4254-8415-48CEF9EA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053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F5AB44-B31D-4535-B22F-849A827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5053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BDE846-D6EC-46DC-9E7C-E6197A87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9798A5-D29E-4A8C-92DD-52341347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79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4A07DC-275A-44DE-B98F-E58730C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F920C0-39A3-4EF4-81B8-70D029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COBERTURA RECEITA / FOLHA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F85995-66E4-44BD-A6B8-AFB9717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594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87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C941FE-806E-44EA-A1E2-60E69D5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594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874A"/>
                </a:solidFill>
              </a:defRPr>
            </a:pPr>
            <a:r>
              <a:rPr sz="675" b="1">
                <a:solidFill>
                  <a:srgbClr val="00874A"/>
                </a:solidFill>
              </a:rPr>
              <a:t>SINAL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FE6E30-3DEB-46D3-9F33-1687A793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74A"/>
                </a:solidFill>
              </a:defRPr>
            </a:pPr>
            <a:r>
              <a:rPr sz="1425" b="1">
                <a:solidFill>
                  <a:srgbClr val="00874A"/>
                </a:solidFill>
              </a:rPr>
              <a:t>5,44x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ACE77A-28BE-48C3-AD7C-B51934F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Razão entre a receita total e a folha total do recorte informado.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B84B4B-157D-4209-BCD9-3F584C3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F97413-6EEF-4EA7-9011-EE94E66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73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68361F-B584-4A24-9DC0-7A34ABC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3D2DC7-4967-43B4-A70F-B79AB80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44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 ACUMULADO NO FECHO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206ADA-639F-4356-8650-7D37F38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874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9AB1EB-3F22-451A-82D4-373D6DA9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874A"/>
                </a:solidFill>
              </a:defRPr>
            </a:pPr>
            <a:r>
              <a:rPr sz="675" b="1">
                <a:solidFill>
                  <a:srgbClr val="00874A"/>
                </a:solidFill>
              </a:rPr>
              <a:t>SINAL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F0B89B-1080-4B48-AD99-DF07033A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74A"/>
                </a:solidFill>
              </a:defRPr>
            </a:pPr>
            <a:r>
              <a:rPr sz="1425" b="1">
                <a:solidFill>
                  <a:srgbClr val="00874A"/>
                </a:solidFill>
              </a:rPr>
              <a:t>R$ 421,6 mi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844E22-E8D0-432C-B45B-49A4DFD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Diferença acumulada entre receita e folha ao fim de 60 competências.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CD3D5E-E0D0-4640-8F96-879E550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987E03-34CD-496E-89EC-B582C5D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566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ED0850-9AA5-459D-ABEE-2B537EC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B963E7-00B2-4A3B-A43B-BD7602A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MÊS MAIS APERTADO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049365-40E8-4CB2-8F87-096BCD95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181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22739B-D95E-48D7-83E5-2A0DBB4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181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45309"/>
                </a:solidFill>
              </a:defRPr>
            </a:pPr>
            <a:r>
              <a:rPr sz="675" b="1">
                <a:solidFill>
                  <a:srgbClr val="B45309"/>
                </a:solidFill>
              </a:rPr>
              <a:t>MONITORAR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EE577B-A521-49BC-99AC-5CEA160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fev de 26 · 1,39x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B2B97D-9AC4-4504-8A73-4501FDCA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Menor cobertura mensal do recorte.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A903DA-AC2B-499A-B2A3-A55E4E02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D3E03C-774F-4761-92D8-389F6EB1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60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5DAB48-008B-4952-A6B9-8A65F8C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CC6D0BA-5519-428C-99E9-15EA036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231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PICO DE RECEITA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B7AB82-21C5-466F-8BD4-88F7AF6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87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F59801-360E-467C-B096-0758E28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874A"/>
                </a:solidFill>
              </a:defRPr>
            </a:pPr>
            <a:r>
              <a:rPr sz="675" b="1">
                <a:solidFill>
                  <a:srgbClr val="00874A"/>
                </a:solidFill>
              </a:rPr>
              <a:t>SINAL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AEEE4F-462F-41F3-9872-10A82611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74A"/>
                </a:solidFill>
              </a:defRPr>
            </a:pPr>
            <a:r>
              <a:rPr sz="1425" b="1">
                <a:solidFill>
                  <a:srgbClr val="00874A"/>
                </a:solidFill>
              </a:rPr>
              <a:t>dez de 28 · R$ 15 mi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413850-3B3A-43DD-AAFB-6144A634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Maior receita mensal (realizada + prevista) do recorte.</a:t>
            </a:r>
          </a:p>
        </p:txBody>
      </p:sp>
    </p:spTree>
    <p:extLst>
      <p:ext uri="{BB962C8B-B14F-4D97-AF65-F5344CB8AC3E}">
        <p14:creationId xmlns:p14="http://schemas.microsoft.com/office/powerpoint/2010/main" val="570281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49846-9296-4EBC-A628-3A876D1C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FE8AB-6D74-4053-B84E-B9348DC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39CCB-7CDF-4F42-A05C-178C97C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EVOLUÇÃO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4B991-40E2-457A-AF8B-688B152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C7619-C8AF-4F09-BF29-2BFD202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ef2c900ea4ac3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91BCE-2BE8-4B4C-918E-6ABBD7E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3621D-5D90-41FB-A27A-8B02B28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891BA-8F19-46FA-B829-59BE63C4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Receita e folha, competência a competência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5B3C7-9B80-4189-8A80-0B62E3EF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31 competência(s) com valor realizado e 29 com previsão. Realizado e previsto permanecem identificados separadamente em todas as séries.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DB638-B877-424E-A71F-8DB0427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79ef86cc149b7">
            <a:extLst>
              <a:ext uri="{96DAC541-7B7A-43D3-8B79-37D633B846F1}">
                <asvg:svgBlip xmlns:asvg="http://schemas.microsoft.com/office/drawing/2016/SVG/main" r:embed="R7fe17746c4ad4f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086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11241-19C0-401D-9CB1-E565ACA1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C788E-8D62-4417-9996-2BC273D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Faturamento realizado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14327-81FA-4487-B656-1437ED3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F8672-E08B-474F-80C4-915AAE5B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8958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Faturamento previsto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38F69-5377-4135-9525-66F130E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2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EC9AE-E273-42D0-8AB9-F8E8A5A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4895850"/>
            <a:ext cx="20802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Folha fechada + encargos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3658C-AD87-4F27-A247-A7CB050B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EC807-7A07-4449-AF4B-990C675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Folha projetada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A3B58-4019-47DE-ADA5-D0C67F0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21EB2-C809-484A-B700-4BEB458C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PICO DE RECEITA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AB481-E910-4CFA-A0EE-98C5828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dez de 28 · R$ 15 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C87F3-9B80-4874-8C2E-D739841A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PICO DE FOLHA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3C0C4-9563-4971-B358-3615EE3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fev de 26 · R$ 3,4 mi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70E3C-9831-493F-9087-8C871E3D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MÊS MAIS APERTADO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3E2AE-B9DF-4788-A94A-054218B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fev de 26 · 1,39x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756C4-0D72-4904-B64A-1C428462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SALDO MENSAL MÉDIO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D52DA7-7EF1-44D5-B578-A6165F5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R$ 7 mi</a:t>
            </a:r>
          </a:p>
        </p:txBody>
      </p:sp>
    </p:spTree>
    <p:extLst>
      <p:ext uri="{BB962C8B-B14F-4D97-AF65-F5344CB8AC3E}">
        <p14:creationId xmlns:p14="http://schemas.microsoft.com/office/powerpoint/2010/main" val="118307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72A68C-4045-4C62-BCA1-CDDD4B2F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DDDFC-64FE-468E-9E17-2F5D7D9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E1AE5-AD40-4833-B05F-712D2D42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CURVA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D199A-8497-461E-B439-C433B5E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05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0DCC2-EA2A-4CF7-B7B8-85B155EE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970f3d94414c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87664-78CD-4E9C-A135-6BDCD88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2EDAD-CACC-4A22-800B-A5DC12F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B0FC4-9F97-42A3-B91A-AA12902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Valores de cada competência, sem acumulação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8F071-F36A-4ACF-8E4C-E36969C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A leitura mês a mês da receita e da folha: onde cada uma sobe, onde recua e a partir de quando passam a ser projeção.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32E53-EB23-418B-AFF8-637F1C8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c650eb4614161">
            <a:extLst>
              <a:ext uri="{96DAC541-7B7A-43D3-8B79-37D633B846F1}">
                <asvg:svgBlip xmlns:asvg="http://schemas.microsoft.com/office/drawing/2016/SVG/main" r:embed="R111c0357c32e4f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3C206-049F-47EF-B4AB-A19431D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0FECB-9F7A-4851-9603-5127513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Faturamento realizado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7C545-170B-4C1B-8F8A-0AEF21DE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8471F-CE35-4C13-811F-528CE30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B2D5C-8C91-4AFA-A29B-737B5AA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6672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Faturamento previsto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A37E1-949E-4832-9396-6A160CEE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2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7F172-29DD-4A19-85FD-7D3A2C59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4667250"/>
            <a:ext cx="20802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Folha fechada + encargos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08285-0338-4EAA-974A-F92064E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D726F-3418-43C5-B120-C5DE480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3EB90-AFBB-4753-A913-8CB56A6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Folha projetada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AB1D2-46D0-443F-9845-F6F5AFC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Traço contínuo: valores fechados. Traço tracejado: projeção, ancorada na última competência realizada.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929FE-BE05-4215-AEC0-8A384345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6E9CC-B535-4A6E-8452-74244F3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PICO DE RECEITA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47ABA-1624-414B-AF16-FC28069E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dez de 28 · R$ 15 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78D18-5535-4533-96AE-6108D1B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PICO DE FOLHA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37BA8-0469-46CC-BDC0-84BB537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fev de 26 · R$ 3,4 mi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CEC21-B541-431E-995A-40D7012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COMPETÊNCIAS REALIZADAS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D58CA-873C-4D7E-A0BD-3CE51887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A24A73-F69A-45A5-B5FC-90E34F0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COMPETÊNCIAS PROJETADAS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69D95-76EA-4AE7-8295-06D63CD9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20431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9FB2B-4175-4465-A85F-CB2BB23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9CC35-69C8-46D4-9B28-4409166F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2F061-9787-4E69-A7D7-45593459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CURVA S ACUMULADA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2A4F-6341-4BF1-8100-07DAF07B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06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32B0-07E7-40E0-8458-33C999C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f169effe74176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29FF4-0194-49F1-8062-4315C4D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56F2A-520B-4F1C-9E6F-5C9B9C8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8BA7A-43CE-4080-BC63-7A83426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A trajetória acumulada do período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AC743-B4F1-4824-A0A4-094846C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A trajetória acumulada mantém-se positiva em todo o recorte e fecha em R$ 421,6 mi.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31E7D-8526-4F4D-A1C8-04CDA925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0d0ffb819483a">
            <a:extLst>
              <a:ext uri="{96DAC541-7B7A-43D3-8B79-37D633B846F1}">
                <asvg:svgBlip xmlns:asvg="http://schemas.microsoft.com/office/drawing/2016/SVG/main" r:embed="R5f05bcf7d5a941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086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D474E-B65F-4887-82AE-FF7963F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5EC36-5A8C-4868-BAA9-E85D192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Faturamento acumulado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D3BC9-95A0-48E4-9CE0-1444D83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972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2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C028B-3F0F-45EE-9AE6-FC330C0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Folha acumulada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0C79D-5A06-4A3F-B3F4-FDB418AF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090" y="4972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61ED1-3186-4798-B203-1F73F975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865" y="4972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2A389-09D7-44B9-9836-A91B3C67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Saldo acumulado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1B42E-46CD-4321-A57A-7D6CBBF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14033-B212-432A-B5BD-E7D28D0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RECEITA ACUMULADA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BFFAF-D307-4E12-AFCC-F3DDBCD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R$ 516,6 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1F5D5-7E6B-4A10-84FC-098FC8D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FOLHA ACUMULADA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F9A55-5AE9-42DA-B4D8-6BEB923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R$ 95 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A4839-853F-4A06-AD7F-F30F3F48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SALDO NO FECHO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0D593-13CD-4AF1-8A5A-E8056D49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74A"/>
                </a:solidFill>
              </a:defRPr>
            </a:pPr>
            <a:r>
              <a:rPr sz="1350" b="1">
                <a:solidFill>
                  <a:srgbClr val="00874A"/>
                </a:solidFill>
              </a:rPr>
              <a:t>R$ 421,6 mi</a:t>
            </a:r>
          </a:p>
        </p:txBody>
      </p:sp>
    </p:spTree>
    <p:extLst>
      <p:ext uri="{BB962C8B-B14F-4D97-AF65-F5344CB8AC3E}">
        <p14:creationId xmlns:p14="http://schemas.microsoft.com/office/powerpoint/2010/main" val="455843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9AC23-C2D3-44AB-8717-CC6AC676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F92C6-2BE4-4433-B651-FE8FDE60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EFA8A-920A-4DBF-B26A-E595153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SALDO MENSAL E ACUMULADO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A3AFA-B287-49AB-AC0F-786E89A1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07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54290-593F-4760-A1D5-350192A9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4c0c9826c41c4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16005-3574-437D-9C0B-769AF3B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0905F-3B4B-4161-946A-4A8DC7BB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7BAD6-C7A7-4921-A11C-DEB64B7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Onde o período gera e onde consome 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AF578-3401-4CFF-8BDB-64E5B99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Nenhuma competência do recorte fecha com saldo mensal negativo.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05DBF-EAED-4BDE-B34E-EBA43D9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b1768061647db">
            <a:extLst>
              <a:ext uri="{96DAC541-7B7A-43D3-8B79-37D633B846F1}">
                <asvg:svgBlip xmlns:asvg="http://schemas.microsoft.com/office/drawing/2016/SVG/main" r:embed="R36f66c6806e643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F40E5-FEB0-475E-822B-F856294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F1AEE-D019-4B93-BE43-3095483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20078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Saldo do mês (positivo)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1A142-FF9E-4617-A21B-CEC9103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4705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2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2C14E-0C1A-4779-84B8-416AD16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67250"/>
            <a:ext cx="20078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Saldo do mês (negativo)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ED138-2E10-4499-84A8-780E7BD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4C12F-2BC1-40E0-8A5C-1D7019A8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115" y="46672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Saldo acumulado — eixo direito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8D827-11F1-4A33-BBD4-BC6E7D3F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E939C"/>
                </a:solidFill>
              </a:defRPr>
            </a:pPr>
            <a:r>
              <a:rPr sz="863">
                <a:solidFill>
                  <a:srgbClr val="7E939C"/>
                </a:solidFill>
              </a:rPr>
              <a:t>Colunas: saldo do mês (eixo esquerdo). Linha: saldo acumulado (eixo direito).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8471A-CA5C-4335-8B3C-30C9E15C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F8900-FD70-4252-84C6-76EC95BA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MELHOR MÊS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9B953-A93B-4543-9B70-CACE9AF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74A"/>
                </a:solidFill>
              </a:defRPr>
            </a:pPr>
            <a:r>
              <a:rPr sz="1350" b="1">
                <a:solidFill>
                  <a:srgbClr val="00874A"/>
                </a:solidFill>
              </a:rPr>
              <a:t>dez de 28 · R$ 13,3 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1333A-AA0C-4E87-BEC0-7EB8CAF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PIOR MÊS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5A5C3-5B38-4A14-86FC-62E19615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3F"/>
                </a:solidFill>
              </a:defRPr>
            </a:pPr>
            <a:r>
              <a:rPr sz="1350" b="1">
                <a:solidFill>
                  <a:srgbClr val="26383F"/>
                </a:solidFill>
              </a:rPr>
              <a:t>dez de 25 · R$ 940,3 mil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EE8F3-BC93-465D-8AA0-BBC00E8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939C"/>
                </a:solidFill>
              </a:defRPr>
            </a:pPr>
            <a:r>
              <a:rPr sz="825" b="1">
                <a:solidFill>
                  <a:srgbClr val="7E939C"/>
                </a:solidFill>
              </a:rPr>
              <a:t>COMPETÊNCIAS NO RECORTE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354D4-201C-40AD-8B29-3F10FFBE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A20"/>
                </a:solidFill>
              </a:defRPr>
            </a:pPr>
            <a:r>
              <a:rPr sz="1350" b="1">
                <a:solidFill>
                  <a:srgbClr val="0B1A20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362320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D0EC0-F821-4BC0-9318-9854C99E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BB608-DAEF-4A2F-B9E7-C523A34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CD062-AD50-49D4-A3E3-46C27D0B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PROJEÇÃO POR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E96C-9CE8-49A4-89F5-2FDC978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08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E308C-0888-4F85-A1A2-81FB52E1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4eb4b5e0a43ab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6BAE3-22C6-4D1B-8494-52F1B9AC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9058E-A62D-4BB8-94CE-D51D2AC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1C58C-3F13-4D7F-AE81-FCDAF1D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Quem compõe o faturamento projetado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09B2-F67F-4CA9-9FFD-789DDA0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A composição mensal reflete o cronograma contratual e a evolução prevista da carteira de clientes.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80F6D-A1D9-4DAC-9D01-D9A52BE9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457700"/>
          </a:xfrm>
          <a:prstGeom xmlns:a="http://schemas.openxmlformats.org/drawingml/2006/main" prst="roundRect">
            <a:avLst>
              <a:gd name="adj" fmla="val 2564"/>
            </a:avLst>
          </a:prstGeom>
          <a:gradFill xmlns:a="http://schemas.openxmlformats.org/drawingml/2006/main">
            <a:gsLst>
              <a:gs pos="0">
                <a:srgbClr val="F6FAFB"/>
              </a:gs>
              <a:gs pos="100000">
                <a:srgbClr val="FFFFFF"/>
              </a:gs>
            </a:gsLst>
            <a:lin/>
          </a:gradFill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9d48278fd4f05">
            <a:extLst>
              <a:ext uri="{96DAC541-7B7A-43D3-8B79-37D633B846F1}">
                <asvg:svgBlip xmlns:asvg="http://schemas.microsoft.com/office/drawing/2016/SVG/main" r:embed="R06f032f3521f49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790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495F-F39E-4CD2-A527-2818CBF8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D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340B1-EA49-49F5-B9D9-A17FD5D4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2115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AXIA Energia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A87C2-CB0D-42CF-BF28-F0903E8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7922B-3789-44E8-8730-258FB9E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830" y="5600700"/>
            <a:ext cx="994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Petrobras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8E73C-D03D-4CDA-837D-9EFF550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00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E5262-8588-4B92-8505-38BE76B8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5600700"/>
            <a:ext cx="15011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Enel Green Power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F3961-65D1-4C43-ABFE-52B3000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1065B-6A47-436C-AF2F-C1F3BCE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630" y="5600700"/>
            <a:ext cx="15011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Belém Bioenergia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87934-4198-4686-8495-717DDA9F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7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3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6003D-1812-4F40-82C6-84C3BA3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5600700"/>
            <a:ext cx="8496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Flessak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85311-6974-45C4-A592-2BE9DCAF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8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26045E-C67E-4661-AD9F-52017BE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CEMIG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5D29A-54A7-44D3-B2FA-9FFB080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EC978-7772-40E5-B3E2-FE0FF9D0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00700"/>
            <a:ext cx="7772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Harbin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E0ECB-12C5-44CE-A5D0-2BAA32FC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7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CC59E-A55D-4B1C-8FE4-7E2A6DE8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283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ArcelorMittal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F6928-B2A1-4E0E-A8D7-44D75A0F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95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E982F-630F-4757-8240-53B513D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810250"/>
            <a:ext cx="8496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Andritz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943A7-CAC5-430B-87BC-5CF32343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6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86F8E-4398-4608-AEF2-3E7D164C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102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Âmbar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73FBAA-6B27-4C0C-8FEB-39C5944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04CC20-8A6C-43C0-BBA7-49CA8A3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0250"/>
            <a:ext cx="1356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7078"/>
                </a:solidFill>
              </a:defRPr>
            </a:pPr>
            <a:r>
              <a:rPr sz="975">
                <a:solidFill>
                  <a:srgbClr val="5B7078"/>
                </a:solidFill>
              </a:rPr>
              <a:t>Hydro Alunorte</a:t>
            </a:r>
          </a:p>
        </p:txBody>
      </p:sp>
    </p:spTree>
    <p:extLst>
      <p:ext uri="{BB962C8B-B14F-4D97-AF65-F5344CB8AC3E}">
        <p14:creationId xmlns:p14="http://schemas.microsoft.com/office/powerpoint/2010/main" val="1379821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05BE42E-58CD-4285-BC9D-F21FEE5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8DA82-847D-47E4-806A-BF1A2B5B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D484D-4150-4535-9488-A813FC4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CFC8A-EB76-4431-926C-F926E6C3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09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B781C-D16A-4460-ADAF-B32C29A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9b326d0844745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1942A-F066-4EAD-8804-EFEF2F6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FCE80-7E64-469F-AC32-3AC0B406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B6140-1B30-4612-9352-C66C2EE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Todos os valores por trás dos gráficos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C5637-F076-44D3-88B2-18DEE407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Dados informados do sistema na Projeção Financeira. As competências projetadas seguem na sequência cronológica, destacadas em cor.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7FDE4-6DF2-44BF-A3AA-F5735A7E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23D9C-0C92-45BD-BE93-36313C23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61393-2756-44AF-B824-A3932A5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C5EA8-BC05-467E-A0EA-5EDA250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D08BE-1370-42D6-A6F5-49E150B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DE658-007A-4E2C-A1F6-B31FAA86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ADF6C-9619-4D23-9328-8D46473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D5224-5B27-4D6D-8279-CACC38D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127C1-6BD2-44B6-AE62-9DC98B2F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jan de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32902-833D-4893-8F7E-684F892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R$ 6.789.213,81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93E31-2351-4B85-BC7D-0CCB432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R$ 890.704,19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7743C-EA4C-4640-AB27-EE2F55D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R$ 5.898.509,62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8E03E-C048-4B99-A9D1-C0BB94E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R$ 5.898.509,62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DAA20-3AC2-4E1E-986C-3C4D79C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CD49A-EC79-40E3-BA2C-88815861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1D2FB-0F8D-47EA-B174-F1F5A00E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fev de 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FC20E8-5E4C-40A6-95F1-0A0B794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R$ 3.817.372,69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B8F70-B031-46C8-86DA-7DDFB3D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R$ 1.020.426,58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DAFAC-880F-49FE-BD25-0EBC35D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R$ 2.796.946,11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B4540-1F10-43AA-868C-64E63BA6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R$ 8.695.455,73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BD297A-3373-4752-8150-98CCA48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84B7B-0D35-4979-93FF-140DDB8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mar de 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C7331-220F-46A4-943F-DAEBBCE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R$ 4.732.792,38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6A31F-A311-426B-B738-1C4159C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R$ 1.185.267,32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7CB12D-7CCC-4408-8B8E-8322EB3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R$ 3.547.525,06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142D84-58AB-41F4-A1E6-D901AFA8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R$ 12.242.980,79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8C9189-41E5-4772-B210-4453939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BB0076-ADA8-4579-BD0E-2261DD2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9C3851-33AB-49D4-87AF-023E5BB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abr de 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6A8767-C8A1-4A40-867A-8AB8FE1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R$ 7.231.990,50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A10A82-E704-4AF0-B061-AA66200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R$ 1.174.044,87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D507DB-3376-424D-B9E4-59485C1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R$ 6.057.945,63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7D8BE0-D4F1-4161-B26E-BEE91E87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R$ 18.300.926,42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3AC8B-ECDA-4344-86FA-CDC133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46CC8B-3D3B-4394-BF3C-BABE04E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mai de 24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A7387-EC41-4274-8B21-E8553829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R$ 5.506.503,71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B3BC38-65E6-48EB-BA76-F86F88BD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R$ 1.091.167,43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720CBF-00B4-47F5-BFD0-954335A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R$ 4.415.336,28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6036F0-59FF-4729-8EF9-65127383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R$ 22.716.262,70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D8B512-2C2B-4EA2-BFA4-D77D64D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04C57A-0847-4142-B928-ECD8D5CF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319219-C7F0-4BCC-B09C-D0EBCA9F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jun de 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661D64-4905-4064-9B2E-BF2F421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R$ 4.380.902,39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16930C-AD09-4E57-BBCA-1FD5A24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R$ 1.133.609,80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F3A528-4BFC-4BE2-A407-1CB3F0D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R$ 3.247.292,59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E61B7A-33CB-440C-960A-BD49BE4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R$ 25.963.555,29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2F044B-8355-4BC4-8C64-D62C1C1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F0182C-4CAB-4E36-9FC6-EBD349BC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jul de 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4C8AA2-1DB4-464B-9BC7-F398F58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R$ 6.510.910,49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879850-AA3D-4B32-9975-C62C76EC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R$ 1.113.424,01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3D6229-6333-4E56-A89A-4033A98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R$ 5.397.486,48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F9BAE-B5DC-4BE2-9D5D-F40AB27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R$ 31.361.041,77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0E4574-A956-4138-A774-AE3F1F5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C450EB-055C-49D6-B642-435631E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D3960D-CAFB-409C-A06B-A170C8FC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ago de 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3D3259-9FAF-4CDE-90A0-EA6E76D7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R$ 5.421.686,74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60CB58-9257-45FF-8E8D-EF4C5274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R$ 1.040.357,05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0469C7-95AE-460D-BFA4-54564F66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R$ 4.381.329,69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19EB07-3129-4363-828D-55B9446E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R$ 35.742.371,46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B3F3F1-8376-4FCD-94C1-F979EB2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636BED-8CFE-4830-AFF4-0654C24E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set de 24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6D64E5-1D9E-4288-BE5F-C92E968E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R$ 5.682.241,80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14FBF8-092F-493B-A28A-41D215E7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R$ 859.008,24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9C75FF-EE89-4224-BE5D-B212C17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R$ 4.823.233,56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7D9191-2EBC-4A73-8B9F-D7DECF74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R$ 40.565.605,02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3902DA-E84A-425D-AF6A-546716C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821C61-E605-4712-9646-4254B0AC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DC3558-B7FF-4AF9-8200-48CE430B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out de 24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441FC8-00AB-4D85-A122-A90E36AB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R$ 8.541.056,13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F42ECD-8FA7-4FA9-A6AB-2F63BD2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R$ 897.448,27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B428D7-7744-4E50-86F7-60411B3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R$ 7.643.607,86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B335B8-53BB-4199-8C2B-3BE734F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R$ 48.209.212,88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BD1D4B-66E5-4D42-B082-8C9F55D9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FA9D79-74FD-4FD2-960B-210DF97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nov de 24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2F2B22-E157-45E2-B593-449378E2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R$ 7.608.873,04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69929D0-F1D5-49CC-8417-4A9C43EE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R$ 1.021.448,72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C4F07C7-3C6C-4459-9AF7-36595D86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R$ 6.587.424,32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A01081-AE0B-4F6D-9182-E8161071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R$ 54.796.637,20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FE79B4-3DA0-4726-9F2A-CDF260C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FF9D11-01A7-47E8-B78F-FE25F0F4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E751E9-AA8E-441D-843D-B615C1F2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dez de 24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00C721-5863-4D42-AF1A-E5F954C5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R$ 12.158.119,93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FB32A9-972D-4830-AB87-D3FC514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R$ 953.973,58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5B0BC6-08D1-4362-8007-8A2C9C2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R$ 11.204.146,35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A32F2BE-5879-41F0-9783-82D85DF3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R$ 66.000.783,55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ECD772-26CA-433B-8DA9-FC984117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8B1075-0077-4C68-AAC6-EB9D7B6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jan de 25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E4D21D-4ECD-442B-AD61-03294A5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R$ 6.481.505,36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2F48F7-DCBB-46A1-88E5-95E0CB2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R$ 1.331.022,91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48F44B-EBDC-47A7-AE0E-BE40190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R$ 5.150.482,45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2B55BF-AC3D-4C6D-BAE2-87AF1D8C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R$ 71.151.266,00</a:t>
            </a:r>
          </a:p>
        </p:txBody>
      </p:sp>
    </p:spTree>
    <p:extLst>
      <p:ext uri="{BB962C8B-B14F-4D97-AF65-F5344CB8AC3E}">
        <p14:creationId xmlns:p14="http://schemas.microsoft.com/office/powerpoint/2010/main" val="1028433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F6EC26-2D02-49BE-955E-0102881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D4C8-09D9-4F66-8E33-26E9E924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464E1-3CA6-483B-8B75-184990C1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6900-CCBB-462C-B034-BDDE15E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10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6B2D-66C6-4C71-B3B5-D364EA74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3a515c1f24568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7D932-FC94-4E53-85A2-4A58DEDF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7550-F925-48FD-A7F3-57A6D2C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9BE1-4044-4760-9B3F-FB824DA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24303-B06D-41EC-8C03-11A1F20E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Continuação da base: folha 2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E9E3F-776D-46BA-B19D-FB07DA7E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D93C5-6317-43F8-A6D2-DF5846B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8495A-328E-4A6A-A685-94A02D4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2CB7F-A9BC-4815-B37F-95F96DE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DEE2F-F537-4AA1-844C-800328F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4FFC8-F54E-4511-B828-1ABFDB39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B2702-FF44-4416-8C80-2CEC3C3B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8562D-96CE-4E55-B9AD-CAC4B35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E2977-0896-4CAA-AC38-6C71D99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99DDB-F7FF-428E-9651-EE38051D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fev de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0B428-0446-4EC3-B089-08F6B77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R$ 7.218.837,49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1BFBF-7853-4C28-AD3D-09F3CA89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R$ 1.310.101,05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E6D80-B941-4155-A5BA-B6E0BBE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R$ 5.908.736,44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1979E-58A5-48BC-932F-C2F63FF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R$ 77.060.002,44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F0325-695D-4793-A79C-911D55DB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BF3D9-F834-497E-B847-7103A10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mar de 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B9942-A1BD-4769-8BDF-00821C0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R$ 7.554.012,04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462C2-DBFC-490F-9A7D-E582E0C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R$ 1.354.501,90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E0AFA-E874-4D27-AF1C-1ADE44B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R$ 6.199.510,14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E9432-AA2E-4500-A98C-E583280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R$ 83.259.512,58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A9252-20CC-42C9-904D-802F097E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6BD55-15F5-4077-9A7E-251992B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3F8814-1086-4CD3-8990-48B4626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abr de 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BC74E-0DE5-4BEC-8815-68E48FDB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R$ 4.739.459,41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039B9-7E74-467D-A1A4-00D0E797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R$ 1.531.002,29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A58CE-4FBD-443D-960B-C1841D9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R$ 3.208.457,12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206E6-69A7-477C-B549-DFC4525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R$ 86.467.969,70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B90ABD-E191-484E-9E17-20600E2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B54BDF-C96C-4464-B509-02C3B1FD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mai de 25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E32FB-2A83-444F-919C-41D09EF3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R$ 6.235.104,42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F6D1E-2ADF-4F37-9B7C-D6EA9A3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R$ 1.761.893,50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4ADE13-714F-4642-A2D0-F8150E8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R$ 4.473.210,92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F23904-2E8B-4D18-8CD3-6529602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R$ 90.941.180,62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F0FE00-B96D-498D-9F68-78039342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EB2055-2B80-4056-B7F2-E099782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DE4EE0-FC1B-4308-ABF8-CEFC352C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jun de 25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BE8727-F4B9-4589-8838-7A66D151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R$ 3.511.692,47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6C5D1D-9F16-45C2-97A2-5F99224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R$ 1.523.207,92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39F609-470F-48E6-A523-A536EF69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R$ 1.988.484,55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29271D-C999-46BC-89D4-F952DF2A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R$ 92.929.665,17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545BC1-250A-4765-8A08-F27D04D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D9B513-86C9-429A-84D7-2C435DF8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jul de 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D5059B-4EC7-4981-BE9B-2743A70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R$ 3.267.455,46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494076-49BE-446B-AB25-6A727D4E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R$ 1.574.251,96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A307E0-65ED-459C-B8C9-2EA7CEC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R$ 1.693.203,50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476F85-8763-49C9-AB69-B16B3D38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R$ 94.622.868,67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64B75D-5DFC-4FD4-A7B2-0193B48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992046-71EF-46D7-8F11-C93AB03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2AEB0A-B450-43F0-A909-F67DA836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ago de 25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E4AAB-13EC-42CA-AFD0-55160CF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R$ 4.042.135,73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AD5015-4768-42CA-A63D-7F28500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R$ 1.597.750,18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C6BCE1-D56C-4B7F-B2CE-D2BA1E92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R$ 2.444.385,55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055785-8AD7-45AA-9696-013CE7D1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R$ 97.067.254,22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916641-9285-418D-8F50-B2C31B4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CDD797-C6BD-4517-997B-C6AFFE4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set de 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ACAC0C-BF6D-4D2E-A5AA-60F2C14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R$ 5.879.203,03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84ADCD-199E-46D1-A2EE-164FEFA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R$ 1.644.127,33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81886F-0A9F-4CE0-84C6-8369BF2D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R$ 4.235.075,70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526472-558F-4591-8880-D7B6C22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R$ 101.302.329,92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603DA5-AEE8-4FCF-8065-4553821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9C401E-BEC6-4F41-AE5D-143DBF5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E1FE5E-27FA-4DA5-9724-47A1FE5D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out de 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E3973B-B5CE-4FA0-8118-5A48927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R$ 4.431.996,15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9BCE32-8F5A-45D8-ABEE-754DCC9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R$ 1.728.097,81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ED17C0-E101-4952-AFD5-05FA714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R$ 2.703.898,34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D6FA32-BB60-4FE8-8EA0-581E4D32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R$ 104.006.228,26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8DAD12-A4B2-4516-8731-EA77A4A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33D121-1505-412B-A2FC-EA8A5589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nov de 25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36513AD-6674-4771-8D32-BDF66CCD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R$ 10.858.257,81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276F5A-0D87-446B-A742-F5AC5B3F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R$ 1.877.160,31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57411F-E4D7-4977-BC9E-2782290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R$ 8.981.097,50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C1FB59-D14C-441E-9525-5788C79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R$ 112.987.325,76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FA023C-6E0C-4333-B6C2-16C596E5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736CE8-4AFB-4D4A-8CDD-0D6EEFCC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06EEE6D-601E-401E-817E-209776A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dez de 25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578B0C-8622-49E9-B02B-696CF25A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R$ 2.904.942,16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B8EC30-1A67-48A2-81CB-614813F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R$ 1.964.681,62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6B63E39-88BE-4AAB-A1F0-3C471D9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R$ 940.260,54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6AD5B3-3C76-48DB-9675-05DB415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R$ 113.927.586,30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26C1340-7C29-44DC-AF03-70CD0A0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8A1945-0E7A-47FC-8F20-BFB0C5A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jan de 26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F520E8-CE94-449E-AFD8-39F7F83A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R$ 10.366.331,04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6A27A1-277A-4FEF-9CBA-BF9DFA80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R$ 3.208.000,00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52EC1F-B601-4890-8BCB-0B4E1E43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R$ 7.158.331,04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FE3860-904A-472E-ABEF-BE7D0AC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R$ 121.085.917,34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1C67F8-EF91-4EA2-84C9-D69C37AA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ECE882-CD1C-4671-97F6-2CFA7FC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A2BE22-CA9A-4B2D-A45C-2B5B050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fev de 26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653C9A7-DE41-4C9B-8CB3-4D318A9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R$ 4.700.897,81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0A1B9E1-578B-453A-98AE-77D9D67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R$ 3.389.000,00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AFC5B3C-1BF3-44CE-BD3F-3B364FD1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R$ 1.311.897,81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33CC126-59CD-4854-9DB9-79C235D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R$ 122.397.815,15</a:t>
            </a:r>
          </a:p>
        </p:txBody>
      </p:sp>
    </p:spTree>
    <p:extLst>
      <p:ext uri="{BB962C8B-B14F-4D97-AF65-F5344CB8AC3E}">
        <p14:creationId xmlns:p14="http://schemas.microsoft.com/office/powerpoint/2010/main" val="536980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A5E8FE7-F10D-4DD9-93F0-06E42860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F3E0-F286-4AA2-8DAC-C87CB4A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337AF-25B5-4266-9372-89CAD60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79FD1-3E16-49BA-B682-E4934C1A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11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B829-58E4-4099-9058-BE229044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9d04470ae49d3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8216F-40D1-4DE8-8243-C11A44ED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5B0C7-A719-47D6-8137-22600F7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097F7-D152-4C82-8ECF-6AB6FC5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C8E12-EAB9-49B4-BB16-5DC1A2B5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Continuação da base: folha 3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7282B-C13B-49FA-87B8-E3C9257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3089D-6A6E-4DAE-9FFC-F707866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C1554-146B-43EE-94F9-1A6DDB8E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ED6F9-73C1-4951-ACA2-B7AD7EA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B2683-971C-432E-9C76-71770B25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AFEC3-61D8-4D52-9176-17826266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69174-8851-4082-80A4-0C414CA9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337B0-3C67-4165-84D4-C5331822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0638D-BAE8-4787-A52E-3B15714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mar de 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86826-EB44-4084-8042-E8C65D7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R$ 5.650.881,81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73191-9E57-488D-8BC1-7CB0203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R$ 3.266.000,00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17A3D-188D-41EA-94BC-E4CC2E8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R$ 2.384.881,81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5ED39-615F-4BB4-A830-EA1C21D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R$ 124.782.696,96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8100F-6BC7-4B59-9F37-02635E0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7C10F-8338-4421-9B35-25DBD4C7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1ADEF-3008-4DAF-AEAB-C3CE45B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abr de 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CD93B-7703-433E-BA22-D35F8AE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R$ 5.897.524,13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1E8D4-4A62-4298-A188-F90D68D0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R$ 3.360.000,00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DACB8-F0F9-42A4-8CAF-6D95064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R$ 2.537.524,13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73C4A-B26B-4D07-9F21-DE7740BC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R$ 127.320.221,09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1731C-E0C0-4390-A51E-7533B07B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92441-5825-4B48-B415-2A47E98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mai de 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6D53E-6834-4BBA-A98F-569A90C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R$ 7.355.196,27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66BA9-A23B-4F03-89AA-4E11DD49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R$ 2.953.000,00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08EE5-C387-41A3-B516-94C933FB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R$ 4.402.196,27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984126-9545-4798-92AA-0563188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R$ 131.722.417,36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CC93BC-55D4-49B0-BF46-EABB79C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3BE2C2-6077-4F4C-8982-881673A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74184-5028-4230-9D19-44D3D19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jun de 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66B5A4-1426-4D8E-9079-3D82AE8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R$ 7.178.434,69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2ABAFE-F6D2-47A7-B5CD-9AA39B9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R$ 3.108.000,00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1E1E62-A3B9-4783-AF22-2229B7C8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R$ 4.070.434,69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EEDD3F-3C2F-4212-8DA9-D52A6EE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R$ 135.792.852,05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FA8531-58C8-4BE8-99D1-94D25DB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F3CAD7-8F7D-4ED2-ABAC-EB7B0CB2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jul de 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95FE69-132B-41DD-B313-36241CA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R$ 4.978.967,55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82A9AC-9DD6-42B6-89B2-D9F563F1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A40DC1-EC65-489E-91B6-C44812A3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R$ 4.978.967,55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D0FA28-C547-40C5-A789-7261781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R$ 140.771.819,60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0CEDD8-AE5B-4B17-8A3B-2685175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24263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PROJEÇÃO — COMPETÊNCIAS AINDA NÃO FECHADAS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40E7EC-32F0-45B0-89BA-A8348B61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A71E53-85BD-4784-BE65-C89971F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C16FB7-9F43-4968-9A67-02AF59F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7D037F-0D52-478C-907E-9A21C04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ago de 26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693D39-89B1-431B-A209-45CBCA7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R$ 11.459.330,09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7E0E72-1060-44C7-9EFA-0043925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R$ 1.512.430,00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CA175B-476F-4F49-86B0-4E139E9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R$ 9.946.900,09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44E314-36A0-4B49-A006-F4468C04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R$ 150.718.719,69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53B4A8-851F-48EA-9C0E-FA609D0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42975A-0AEC-49AD-AD3E-2F643D91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set de 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9B812F-4ACC-42D8-A44F-207A961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R$ 5.617.810,24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81AB7F-CB44-423C-B310-3B331767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R$ 1.387.850,00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B1412D-6B60-4208-ADDD-55FEB70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R$ 4.229.960,24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E35DBF-AB0A-4898-9AD1-A4CBF81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R$ 154.948.679,93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07DAC8-593E-4858-B8B4-3FD1751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CC6A0E-5D07-443B-9AD2-5023D2F3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B24DB0-E5CF-4163-B766-5C483A60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out de 26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A0A736-8450-46D7-A13D-10C7088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R$ 10.000.000,00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0853A3-8F6F-45DE-9A88-15B3EC1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R$ 1.634.720,00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747D91-DEE1-4B70-804C-6130A3FB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R$ 8.365.280,00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AE9C06-B126-4A94-9A27-EB16C1F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R$ 163.313.959,93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E63690-0045-4222-92C2-DB0731E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DBF330-236C-4D86-ACC7-82B7FA57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nov de 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1A695F-F13C-4750-925F-3609FD3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R$ 10.725.000,00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6538BB-8281-4692-A92F-14061CB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R$ 1.728.940,00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7BA537-48C7-4128-9D67-BAF2B702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R$ 8.996.060,00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F3D9E6-49E5-4090-B8C5-BCE7465D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R$ 172.310.019,93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EBFB97-F76F-44F2-811F-0B45B67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19312A-0823-4AF4-B612-F780340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59BAE2-3DE2-45D5-B85F-52176D10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dez de 26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083E36-877D-4548-9F1C-3851BF4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R$ 10.502.461,80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76678E-8379-4DCF-A8B1-6A4B2E3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R$ 1.596.380,00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04BB7DB-8E74-40BD-B428-83B7555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R$ 8.906.081,80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3B945A4-A7CE-40E4-9893-7D3FEF2B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R$ 181.216.101,73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1CB396-8511-4FFC-8234-55C0D310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E792D5-0760-4D72-BE10-0BB17B40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jan de 27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70881C-E2B8-4D99-A654-ABBA6D1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R$ 12.200.000,00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0F5022-7969-4A35-8C09-0940D94F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R$ 1.682.510,00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7F7070-131E-4AA9-9810-EE0908F0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R$ 10.517.490,00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C6128A-C80C-406D-822E-A5CAC3F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R$ 191.733.591,73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6B3886-ABD1-4A82-B2DA-93B8FDB3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692EF10-85BB-4564-BAFB-29DC3EE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75A8F8-ECD4-4EA9-BD05-B5A5550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fev de 27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6754E6-475A-4620-946A-05257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R$ 11.800.000,00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59990F2-9AB2-46EE-B134-76074BB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R$ 1.574.260,00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482578-6845-4DF3-8B17-71AE835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R$ 10.225.740,00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D10322-22E1-486E-9679-B9FBB9C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R$ 201.959.331,73</a:t>
            </a:r>
          </a:p>
        </p:txBody>
      </p:sp>
    </p:spTree>
    <p:extLst>
      <p:ext uri="{BB962C8B-B14F-4D97-AF65-F5344CB8AC3E}">
        <p14:creationId xmlns:p14="http://schemas.microsoft.com/office/powerpoint/2010/main" val="668616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F58133-3586-4D2C-96CC-4DFE744D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3EC4D-30E1-46DA-A6F3-353BA0DF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E3C2B-80E5-4F00-867E-49DF956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F91DA-E3FA-4DD9-B6BD-C11713F7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2C63A-BFAE-4BE2-B0C2-5FBF136C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d7611c4824906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9F7A0-2FD4-4AD7-9F5C-1DFC285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7465-978F-47E0-BF84-FDEDA9FA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204F-AC97-45BC-A6E3-2CCE693B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3A752-CCDE-4E9D-A708-4101D4C5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Continuação da base: folha 4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A2DF5-181D-490B-9DCC-72228E3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77591-DA19-47E1-A3A6-A29CC2C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A4FD7-A624-4A05-A274-B5D3101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3CE64-E520-4E42-A7B0-1EB60BF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A6CE2-46D4-4FEB-BECF-6FBDD37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372F9-36E6-4445-ADE6-5209CF4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23575-B984-4F4A-BDB0-BEB8E8E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2E98F-F61D-4333-B990-D195E702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6AB50-C32A-41F0-8C69-716FFC7D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mar de 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D2F35-2E6C-499C-B647-6F9AE31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R$ 11.200.000,00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1129C-0481-4DE9-BEEA-B03E7A80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R$ 1.493.870,00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BE158-F858-4A70-9E95-C342B0A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R$ 9.706.130,00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C170F-C2BD-47DF-A13F-590127BE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R$ 211.665.461,73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C2343-FE1E-45BA-84ED-08DF0490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1455-F5D2-4437-A622-113B2C8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68927-794E-4CD3-8C04-00C8BEE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abr de 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D2113D-95B7-4548-9889-F09A52E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R$ 10.500.000,00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E4050-3C65-4784-8ABB-B80B928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R$ 1.421.650,00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CF020-24E9-4F98-ABE1-2EF8B44E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R$ 9.078.350,00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6A120-8D96-412B-98AB-AD66EF9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R$ 220.743.811,73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F85B87-2A58-4028-BB6B-92C4523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21734-F5C5-4798-9C03-42FC7A4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mai de 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A7DEA-3B3A-4FF9-B226-54ADC86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R$ 10.100.000,00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07763B-82CE-4B16-B82B-01D31F3B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R$ 1.356.420,00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16301-1747-454C-823A-A721507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R$ 8.743.580,00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CB9EC-A3D9-4A2A-A7C8-3D2C595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R$ 229.487.391,73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AD8D3-B138-4A5E-9746-C60F5559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EFB31A-59BB-4B01-9803-347635E1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3FE858-F61A-4662-AB71-11C1309F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jun de 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23E37-678F-47CA-BFE7-C84FE8F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R$ 9.500.000,00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F39D71-0479-49B0-8832-7EF50D96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R$ 1.318.760,00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F1809-5DC7-4EBE-A716-754DD5D4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R$ 8.181.240,00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B4B885-C296-412D-A331-57E69A33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R$ 237.668.631,73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D16375-3FEE-4F0D-8673-F575F606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083FDA-C9C5-43ED-84F1-546CDD51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jul de 27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465962-E4BE-4424-BBED-B8272A4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R$ 9.200.000,00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1F2A7B-896A-4924-9F7A-1C58FA9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R$ 1.342.590,00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1CEADB-C116-4F63-9D9E-33D76CF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R$ 7.857.410,00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B0D99C-4D9D-4F54-8972-391B069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R$ 245.526.041,73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CD42FB-C068-4701-865F-BFFF00C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CA8363-CB0F-446A-BC13-84C7D101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7E25A7-F02D-491E-8918-BA15AC3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ago de 27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E475EA-8490-4B61-A067-E5CBBB0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R$ 9.600.000,00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01A666-8FFC-4449-8DD7-4FEC9EF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R$ 1.397.840,00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163B1C-6343-4749-A70A-2F95E7C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R$ 8.202.160,00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5CF76A-E9C5-40CF-AD38-17269F1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R$ 253.728.201,73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C25983-337F-400B-AE3C-667F4862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39472A-C3D0-4FFE-8FEB-1E93C10E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set de 27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3AE845-AE01-4654-BE32-801AFCB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R$ 10.500.000,00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62DB57-BA3F-441C-9B43-FAFF9564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R$ 1.468.230,00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0DD3B6-810E-4C9F-A67F-2BCD28D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R$ 9.031.770,00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6D850B-6433-43E7-8228-FF740BA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R$ 262.759.971,73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4EB566-B172-4435-A08F-4FCABF9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789438-CC4C-4BD0-82B7-B1ADA9B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8682C5-8A0C-4118-9DE7-D58C995F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out de 27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05599C-9957-4670-82EC-EF9B86F1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R$ 11.500.000,00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20CFBC-9A98-4182-9441-B354C90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R$ 1.559.670,00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45E68E-C6CA-46F5-9B8F-33A6D2FF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R$ 9.940.330,00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143F2B-CD3D-45DA-BD0E-3A41483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R$ 272.700.301,73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166F2-DD9F-4EE2-9463-7A0095C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72EB35-F2A1-4D6F-ADDE-171AFA18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nov de 27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AF4599-4280-41E4-8AF8-25065F48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R$ 12.800.000,00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5572DD-D28D-4729-88C2-DBE6ACC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R$ 1.671.480,00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721C7E-6A29-40BA-AB71-AA2C615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R$ 11.128.520,00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5AD34-7364-40DF-8B58-5BB83A6E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R$ 283.828.821,73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2A5A45-C830-41D3-AC95-5A486270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0AC99D-9811-4EE2-ACE4-4D3E338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C9D6D1-99A6-4091-AE5F-6A43E0D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dez de 27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3EA741-997F-465E-A83A-B83FE29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R$ 14.050.000,00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FFD1E6-D376-4B1C-9104-41B42B9F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R$ 1.739.250,00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628A6D-D288-4C5A-AD29-CAD06E8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R$ 12.310.750,00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A75E89-E728-44B8-B47E-17967A7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R$ 296.139.571,73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56EDD7-C980-4508-B651-45498EBC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2071FD-EFF9-4B3F-AC3D-08795FA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jan de 28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C06ADD-CC37-4472-A9DD-33974BFB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R$ 13.750.000,00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48BA63-F5AD-4A42-8AC2-223F8FDD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R$ 1.696.840,00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9AD6B8-9B52-4E4A-A850-00E00FC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R$ 12.053.160,00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0E0F41-F461-4873-A079-2F8B3340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R$ 308.192.731,73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8551ABA-78E3-4606-A990-6380EBC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19A35CF-0104-4C5D-A9BB-29B7723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EFC678-E4C1-41F9-B7C4-2D8CDBB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fev de 28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7C0C56-6FED-442F-B1A2-5652CC1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R$ 13.000.000,00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B30463-59BE-432F-A900-005A23C1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R$ 1.612.370,00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A82AE00-FC0E-4621-B992-18FA38D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R$ 11.387.630,00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D1D4E32-B392-4FA5-B94D-7C0CCAAF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R$ 319.580.361,73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86ACFD-A356-4B9F-BB4B-DFE447BB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281A1F-F5FB-4AE4-9F24-6157909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mar de 28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EEB061-1915-4284-8EF1-EE94812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R$ 12.300.000,00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D58C7C-AA41-452D-950C-0FEF3E22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R$ 1.529.680,00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9791C8-B7AD-4AC2-B061-C3C8344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R$ 10.770.320,00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764CEF-F038-4DC8-ADC2-2E76E2E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R$ 330.350.681,73</a:t>
            </a:r>
          </a:p>
        </p:txBody>
      </p:sp>
    </p:spTree>
    <p:extLst>
      <p:ext uri="{BB962C8B-B14F-4D97-AF65-F5344CB8AC3E}">
        <p14:creationId xmlns:p14="http://schemas.microsoft.com/office/powerpoint/2010/main" val="550245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981E85-2938-4026-9D0B-ECD0FEB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EACB4-C3A9-4F42-BF34-7843F5C8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654F-E063-4D01-AF07-C9FD3F0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01ADF-A9CB-47D7-AC7C-7F0357CF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FDC8-8C51-4C88-A1F3-C6ADB2C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dfd8ea1224cd8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29BD4-6BA5-4BBB-BAFA-5CAB4B9E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18F35-596F-4E04-90B3-89F4901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2B9C4-6090-42AB-97E6-A6FD82AA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B46CD-D7CB-4729-8CB5-2DD49B71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Continuação da base: folha 5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C713-04D9-4576-8C2D-2AD1582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898FD-4847-4C11-9942-B9053D5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E534F-1C08-4AE0-9087-84261566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9D8A5-3856-4CD2-BD9A-D4E4A3E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2F813-4710-4B86-A2A3-AACD6E30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A682F-DC78-47AC-953C-66CFFFF3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69C28-3965-4A93-9179-DB4B8414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0F49A-2292-4E61-AE4A-D175C93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55192-0989-4156-B16A-8223495F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46644-D755-49D0-8FB6-1822053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abr de 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59388-8E47-4D09-92C0-8447B86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R$ 11.500.000,00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44991-890A-492F-A7F4-BE0818F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R$ 1.447.340,00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7ACFF-25B0-41A1-8CCC-EF6BDB0D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R$ 10.052.660,00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FA67D-A52C-43F3-B9D1-B28129C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R$ 340.403.341,73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2700D-F0D7-4301-BFD4-ACF75E5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2020C-7D2B-4A40-AFF9-D1D9E3A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mai de 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45B131-AD25-4555-A9E0-2FED45B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R$ 10.800.000,00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8AD59-C816-406A-90CC-C792C499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R$ 1.378.920,00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7C89E-1FDD-4533-86C4-846CC582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R$ 9.421.080,00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E428C-BB9E-4BFB-8F74-3CED3D5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R$ 349.824.421,73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A3320-A534-459B-8741-804AAE9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8E69F-05CB-4F2E-9C98-B1036C6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5D922-A8DE-45A2-9272-5BD3E6AA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jun de 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E79B1-4C4D-4053-9EF5-78F1A6E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R$ 9.800.000,00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1E565-005A-4BD0-A6FA-760D856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R$ 1.326.410,00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F42FA6-5038-4586-AEB0-85FD9DD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R$ 8.473.590,00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72287-F0A2-4FF0-A279-4A9AEBA3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R$ 358.298.011,73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E08A2-4A61-4DA8-98B4-FDE53E12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AC19BB-F663-4306-83A3-4AEFC79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jul de 28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1632A-6C76-4679-A02A-D5704D7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R$ 9.500.000,00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52CE98-A468-4ED5-81E3-654C2136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R$ 1.349.870,00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46A79-1565-42A0-BC72-E5F9B13A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R$ 8.150.130,00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F0459C-F8AB-4B9C-B260-E9FD1A5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R$ 366.448.141,73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C7F37D-1321-4BAF-B9F3-DAA277C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FAF248-D522-4EA7-AED1-E48909D4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7C5E8F-4DDF-47BF-A1EB-0397E08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ago de 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548A9E-E238-4B3C-943F-1910D554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R$ 10.000.000,00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E7EF6-ADC3-4211-B625-F071AE9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R$ 1.408.630,00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4D7E64-2C37-48F1-B009-89DFD38B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R$ 8.591.370,00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7850EC-F78C-49E0-A7FA-B76AB67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R$ 375.039.511,73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FB298D-1E50-43B8-A894-B32FBDB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E299FD-7199-4978-80CD-1A6F251D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set de 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9DBC83-D5BC-4668-933A-21EDB11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R$ 11.300.000,00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EEA950-DFB6-438B-BB8C-CD568609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R$ 1.482.760,00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E18D79-25BD-4A55-B0C0-D787A5D0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R$ 9.817.240,00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BF62FE-9AB8-4C07-8C6E-9EC6BC6E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R$ 384.856.751,73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5D7B39-7FDB-4F51-9132-7199F0D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2D7970-6A37-45FE-AD34-505C2700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FFAB84-07CD-4E69-B576-C2EEC1A0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out de 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B00ED8-C14D-4A32-A14B-7121D55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R$ 12.600.000,00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833FF0-ED95-4AC4-8052-8C74FBE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R$ 1.578.140,00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CE21D7-D06F-42E1-8A35-DFC70235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R$ 11.021.860,00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C8396B-FB6F-429C-8824-63B8CB66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R$ 395.878.611,73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D5631B-C967-4AF4-AADF-790AB12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D605A3-429A-4138-9A66-D2CCC1E6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nov de 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193FAF-BAB6-4A6D-96CE-2335A49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R$ 14.200.000,00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666ACF-124D-4E3D-9A44-B11F1A1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R$ 1.689.630,00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FAC118-0896-43AE-95FC-262A66A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R$ 12.510.370,00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337DCD-E7DE-4E37-8724-FEA9B35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R$ 408.388.981,73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89AD18-0E00-434B-8ABA-8E98FA4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D7BF75-8311-4190-B423-2BCF4A2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90D674-710F-426B-945F-8C769F07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dez de 28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BB3824-9FBF-42B7-8AD2-9CAA12B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R$ 15.000.000,00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5DBD3D-D49A-44BE-A503-92F91E8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D4ED8"/>
                </a:solidFill>
              </a:defRPr>
            </a:pPr>
            <a:r>
              <a:rPr sz="1050" b="0">
                <a:solidFill>
                  <a:srgbClr val="1D4ED8"/>
                </a:solidFill>
              </a:rPr>
              <a:t>R$ 1.742.180,00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98EA24-F260-4552-8ABB-6C97EB02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874A"/>
                </a:solidFill>
              </a:defRPr>
            </a:pPr>
            <a:r>
              <a:rPr sz="1050" b="0">
                <a:solidFill>
                  <a:srgbClr val="00874A"/>
                </a:solidFill>
              </a:rPr>
              <a:t>R$ 13.257.820,00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0ADED5F-B0F8-46A4-BAB7-093476A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6383F"/>
                </a:solidFill>
              </a:defRPr>
            </a:pPr>
            <a:r>
              <a:rPr sz="1050" b="0">
                <a:solidFill>
                  <a:srgbClr val="26383F"/>
                </a:solidFill>
              </a:rPr>
              <a:t>R$ 421.646.801,73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557FE0-21C4-4567-84E8-A767EA8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84E8C7-A7D9-4C92-A2C9-03409F7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Subtotal realizado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D87521-04D6-4DCD-91E4-504EC3FC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R$ 191.634.498,44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AC68533-102F-4450-BC66-A690A1F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R$ 50.862.678,84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974F81-B9BE-4ACA-BF23-D51FBC2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R$ 140.771.819,60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67CBC7-C1EF-4C89-AC8F-E036662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54D433-8907-4079-8C36-E337FD6B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D863090-E71F-4E16-A444-D420020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Subtotal projetado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38F4C1-CB59-4EAB-B7B1-992B67B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R$ 325.004.602,13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F2B79B-FD57-457F-AB14-586A94F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R$ 44.129.620,00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88B4CB-716A-423D-8D3F-35539BC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R$ 280.874.982,13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379A0C-12A3-4CDC-BE2C-A81105A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078"/>
                </a:solidFill>
              </a:defRPr>
            </a:pPr>
            <a:r>
              <a:rPr sz="1050" b="1">
                <a:solidFill>
                  <a:srgbClr val="5B7078"/>
                </a:solidFill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619618-2899-4F13-8256-9FCC2E8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EBC0BD-E8CC-4D98-BD01-4F8CE809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C19441-2271-41F8-BAB1-2C167CF5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A20"/>
                </a:solidFill>
              </a:defRPr>
            </a:pPr>
            <a:r>
              <a:rPr sz="1050" b="1">
                <a:solidFill>
                  <a:srgbClr val="0B1A20"/>
                </a:solidFill>
              </a:rPr>
              <a:t>Total do recorte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F33AEA-A758-489A-BAE5-96153A08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A20"/>
                </a:solidFill>
              </a:defRPr>
            </a:pPr>
            <a:r>
              <a:rPr sz="1050" b="1">
                <a:solidFill>
                  <a:srgbClr val="0B1A20"/>
                </a:solidFill>
              </a:rPr>
              <a:t>R$ 516.639.100,57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72CEE6-1335-4B4D-BB8A-080C8F5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A20"/>
                </a:solidFill>
              </a:defRPr>
            </a:pPr>
            <a:r>
              <a:rPr sz="1050" b="1">
                <a:solidFill>
                  <a:srgbClr val="0B1A20"/>
                </a:solidFill>
              </a:rPr>
              <a:t>R$ 94.992.298,84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E0BE2DD-5FF6-4109-B92A-7F80835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A20"/>
                </a:solidFill>
              </a:defRPr>
            </a:pPr>
            <a:r>
              <a:rPr sz="1050" b="1">
                <a:solidFill>
                  <a:srgbClr val="0B1A20"/>
                </a:solidFill>
              </a:rPr>
              <a:t>R$ 421.646.801,73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F34877-9495-4111-A83A-D2FCA53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A20"/>
                </a:solidFill>
              </a:defRPr>
            </a:pPr>
            <a:r>
              <a:rPr sz="1050" b="1">
                <a:solidFill>
                  <a:srgbClr val="0B1A20"/>
                </a:solidFill>
              </a:rPr>
              <a:t>R$ 421.646.801,73</a:t>
            </a:r>
          </a:p>
        </p:txBody>
      </p:sp>
    </p:spTree>
    <p:extLst>
      <p:ext uri="{BB962C8B-B14F-4D97-AF65-F5344CB8AC3E}">
        <p14:creationId xmlns:p14="http://schemas.microsoft.com/office/powerpoint/2010/main" val="8175783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7805DEC-790A-4ED0-AE33-944CF55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8FD4B-893F-451B-8F5E-CCDC0C4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2BCA0-0903-4CD0-959D-47FD064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74A"/>
                </a:solidFill>
              </a:defRPr>
            </a:pPr>
            <a:r>
              <a:rPr sz="975" b="1">
                <a:solidFill>
                  <a:srgbClr val="00874A"/>
                </a:solidFill>
              </a:rPr>
              <a:t>CARTEIRA E RECEBÍVEIS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33A9D-292E-499A-8D1D-FE21279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C5F34-98F3-42B1-A4E5-6CA6737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dbbe6ef1f4a29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84FBB-90D6-41C2-BB05-4FF8567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FAB2B-BC1F-44A7-B212-FBF2DB3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F406E-C7A7-4CD8-917D-AA0294E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A20"/>
                </a:solidFill>
              </a:defRPr>
            </a:pPr>
            <a:r>
              <a:rPr sz="2550" b="1">
                <a:solidFill>
                  <a:srgbClr val="0B1A20"/>
                </a:solidFill>
              </a:rPr>
              <a:t>Backlog que sustenta a projeção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167C1-8DDA-4E28-B6D4-4B3BAE5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7078"/>
                </a:solidFill>
              </a:defRPr>
            </a:pPr>
            <a:r>
              <a:rPr sz="1125">
                <a:solidFill>
                  <a:srgbClr val="5B7078"/>
                </a:solidFill>
              </a:rPr>
              <a:t>Carteira, faturamento, backlog e parcelas projetadas por cliente.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C5DB6-3ECA-4EC1-B28B-6495A49A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A3E9D-76E0-4F3B-ABC6-8FBEE13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F022E-D919-420E-92B0-90E22BF3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B6CCA-C195-4889-A0C9-4D28050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526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89EDD-834C-43EA-B567-89C96621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CARTEIRA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4DBDA-BEEE-4F14-BF31-C0F808A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FATURADO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46B8A-7371-4C2C-8061-5376EA4F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BACKLOG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E4183-E79E-405E-A7D2-DC22126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ATÉ 2028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988CF-0710-4EBE-9A91-AF599BE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7078"/>
                </a:solidFill>
              </a:defRPr>
            </a:pPr>
            <a:r>
              <a:rPr sz="825" b="1">
                <a:solidFill>
                  <a:srgbClr val="5B7078"/>
                </a:solidFill>
              </a:rPr>
              <a:t>PÓS-2028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44439-CBB3-4981-B6D4-17587A7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3C16F-1DFE-44F7-9816-5216C5F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AXIA Energia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D72F7-8800-4DEE-98BC-E5B13109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94DBF-2A6A-40DF-B040-788340D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R$ 42.544.856,72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CDF4B-86A5-4477-99DE-E9C2917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R$ 13.587.630,96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6483D-2225-4E6C-BD25-FE8B4627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R$ 28.957.225,76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EABDC-92D9-408B-A6B3-487DBA8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R$ 28.957.225,76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30236-2F79-49C2-AC10-AE138F2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49A73-3DD6-4C14-8C58-5DF84F8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24361-7601-4FAD-A5C2-2605161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CC939-9E92-4004-ADF1-984E518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Petrobras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86922-E7EB-4912-9FC6-8E5B8351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288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D2E94-2830-4A07-AC05-BACF0B2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R$ 126.739.271,47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91EA6-3CC8-4A22-B490-EA39E69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R$ 1.506.178,20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EB55C-DCF5-4918-8AB3-45C5F2B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R$ 125.233.093,27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E70BF-6CEB-4B52-8AB4-A5FF64B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R$ 123.670.948,92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94CF5-D6AF-41D8-8722-008EC3C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R$ 1.562.144,35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397031-6F75-4ACC-9ADC-1402E11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EB799A-E8D8-4933-9A8A-84EC75C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717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Enel Green Power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E290C6-3A24-4C5F-B6E3-75BD610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717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D96AD9-1F89-4388-8F59-16DCFE6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R$ 74.695.374,05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9532E0-3D79-4DC1-AFC4-98C5903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R$ 46.633.200,10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E489B7-8DAA-44DB-8B5D-CE5508BA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R$ 28.062.173,95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FEEF2-2881-4225-8D49-EE5F48F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R$ 28.062.173,95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DFCAB1-1FB3-4D3E-9C0A-3A6001B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A1D85B-5AB8-4B2D-85E3-DE9E750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4C5E9C-AAD7-46A2-843D-B3BE6FA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BD0734-2247-4A29-95E2-CCD40522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146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CEMIG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D5B341-CFDA-463F-9CE2-17B3FE47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14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85A5D0-F616-44AF-8FBB-71238A7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R$ 157.646.971,08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F0095A-F5B7-4009-A5EE-4C2E20C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R$ 15.287.450,14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12F960-3E62-4AFC-8272-B345021F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R$ 142.359.520,94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6B1ADC-5CB5-4864-B25F-CB93A923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R$ 142.359.520,94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13AD03-44AB-4665-A14D-A9847763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EFEA68-4E1C-4F22-B897-0E27CC5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BB1640-EAB7-495C-BBE9-08898D10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Âmbar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FD1C25-DC2A-4C5E-BE37-AB8C5D07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575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3C38B4-58B8-44EF-9349-F5B638F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R$ 883.317,21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A32394-4CCE-4551-A017-F92611E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R$ 794.985,49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077920-4D50-428E-A367-1104016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R$ 88.331,72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4E39F8-0EF6-4354-A4FD-DF0C367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R$ 485.824,46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4D14F3-425E-4040-92FF-2177FAF4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84EB83-8CDE-4BFC-A4D0-F758F73A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438898-8635-4D6A-8579-1F5355F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43D200-B070-4E0D-81C5-F99076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Hydro Alunorte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7C3B5F-50D0-4306-B4FF-F7B6B9D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3D9648-F8E2-45C2-A6A6-5FBEB30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R$ 4.965.143,38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E99388-E4A7-4545-95AB-8BF47A7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R$ 828.439,34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D092EC-EC02-47D2-AC60-6FCA2B8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R$ 4.136.704,04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2CECD5-624E-483A-B4C2-CA56B20E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R$ 4.136.704,04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D96AA4-0BCE-4241-B52F-19BDDF2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7B61A7-EA72-4B97-877F-2183DB5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102814-AA47-4532-9AB9-D71F81D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Belém Bioenergia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A10064-CF84-4949-B552-36852176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43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251E07-0D94-4FCE-9813-07D90FD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R$ 1.445.844,71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67043E-B866-4D5B-9963-75986A1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R$ 279.135,36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1454BA-129F-4222-8BB9-9168731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R$ 1.166.709,35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4CC67A-614F-4B3C-BD08-D746809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R$ 1.166.709,35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407727-9AE9-4E5F-A016-25318C1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08B9CD-D958-49B5-BBEC-28BC63F9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8011B3-CC45-4263-97D6-1F2D241D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DDE455-464B-48F4-8CAA-B37C25E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862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Flessak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922F05-712D-4AED-AB8F-1540ED13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862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03937F9-6A3E-4686-9056-E3749D1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R$ 803.178,97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0BFB16-BA6A-4E0C-8499-B8B610C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R$ 80.317,90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AFC903-6BC8-4B2C-B104-4E85796B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R$ 722.861,07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0ADDCB-665B-4CAC-AA64-3F698D3C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R$ 722.861,06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D6C26E-1FBC-4BEB-AAB2-A8CDA2B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6ED102-4CA7-41E9-89FC-21FFC721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5F0222-139F-49B9-866D-291AAD4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291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Harbin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ED3B2B-FFE7-45F6-9141-EA26528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291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24F7280-D97F-4E30-B549-3670D72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R$ 80.000,00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74CE21-E9CC-4DBF-A8E4-0E93FFB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B8FE29-7E99-472F-83A2-89BD2E7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R$ 80.000,00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D32E07-B647-4280-8CB4-F89D644B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R$ 80.000,00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7440AD-F940-41FD-93DF-69711CB2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E62114-CEA5-49F9-AD7E-A3BEC4D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27E57C6-E75C-4279-B9D9-3D739AC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9B9C65-1FA0-43D5-A69C-6E8CF3B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720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ArcelorMittal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4761B7-A388-40DB-9C87-91E2B588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720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AC9230B-4465-4050-B18C-E136115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R$ 261.601,20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1336A3-3DE0-4D4A-831D-6FE868B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045BDB-2DBC-4F84-BDB0-9F9D5BF1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R$ 261.601,20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4AA4977-F35F-4FC4-A625-827924F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R$ 261.601,20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17DCE4-69B3-411F-96D8-F1AF42F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3AC3E8-400C-44B6-A6B2-CA3D616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0B7C74-D720-4CA8-86D6-16FA923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4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Andritz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A7DFC3-9F12-4ECB-9176-C9990F92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5149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Ativo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7AAFBD-B43B-419D-B241-1F3C622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R$ 80.000,00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64C928-4BB1-427E-B823-0B83F98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1F7DE7-3660-489C-A304-56C95AA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D4ED8"/>
                </a:solidFill>
              </a:defRPr>
            </a:pPr>
            <a:r>
              <a:rPr sz="938" b="0">
                <a:solidFill>
                  <a:srgbClr val="1D4ED8"/>
                </a:solidFill>
              </a:rPr>
              <a:t>R$ 80.000,00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96663DD-5656-40CB-BDEC-DA36A15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R$ 80.000,00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783950F-A4E4-49D8-8F8F-1067C646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26383F"/>
                </a:solidFill>
              </a:defRPr>
            </a:pPr>
            <a:r>
              <a:rPr sz="938" b="0">
                <a:solidFill>
                  <a:srgbClr val="26383F"/>
                </a:solidFill>
              </a:rPr>
              <a:t>R$ 0,00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495484F-9021-421E-BDCE-3C371F12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533797-DDB0-4728-B14A-AB9F22D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EA392B-2E6A-4034-85F5-90A5C5BD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57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Total da carteira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F319148-ABE7-41D9-B13D-A2659433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578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11 cliente(s)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C58C865-769B-4347-B70E-2F483ADB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R$ 410.145.558,79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705DC2-EC07-44F7-9583-C1F2C44D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R$ 78.997.337,49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005697-85A9-4768-9F31-FA320B52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D4ED8"/>
                </a:solidFill>
              </a:defRPr>
            </a:pPr>
            <a:r>
              <a:rPr sz="938" b="1">
                <a:solidFill>
                  <a:srgbClr val="1D4ED8"/>
                </a:solidFill>
              </a:rPr>
              <a:t>R$ 331.148.221,30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8AAC18-C2BF-4C48-951E-F01DACF4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R$ 329.983.569,68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75541AE-F6ED-48BC-B1CD-FCF1C33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B1A20"/>
                </a:solidFill>
              </a:defRPr>
            </a:pPr>
            <a:r>
              <a:rPr sz="938" b="1">
                <a:solidFill>
                  <a:srgbClr val="0B1A20"/>
                </a:solidFill>
              </a:rPr>
              <a:t>R$ 1.562.144,36</a:t>
            </a:r>
          </a:p>
        </p:txBody>
      </p:sp>
    </p:spTree>
    <p:extLst>
      <p:ext uri="{BB962C8B-B14F-4D97-AF65-F5344CB8AC3E}">
        <p14:creationId xmlns:p14="http://schemas.microsoft.com/office/powerpoint/2010/main" val="403348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C247-DAB7-460E-912B-FE5C83AF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D2EEA-E48E-4B88-845F-C6807810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32C54-480C-4CAF-9157-F6FEE77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E939C"/>
                </a:solidFill>
              </a:defRPr>
            </a:pPr>
            <a:r>
              <a:rPr sz="900">
                <a:solidFill>
                  <a:srgbClr val="7E939C"/>
                </a:solidFill>
              </a:rPr>
              <a:t>15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1C9C-F091-4623-8A23-5F91ABA5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7cccfb1fe4553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9FA39-2F6E-4BE7-A9BC-1FEEEDAD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Dados informados do sistema na Projeção Financeira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68DEB-668C-4AA4-9122-3C00737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7E939C"/>
                </a:solidFill>
              </a:defRPr>
            </a:pPr>
            <a:r>
              <a:rPr sz="788">
                <a:solidFill>
                  <a:srgbClr val="7E939C"/>
                </a:solidFill>
              </a:rPr>
              <a:t>Faturamento vs Folha de Pagamento · v1 · CONFIDENCIAL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c07625abb4bb7"/>
          <a:stretch xmlns:a="http://schemas.openxmlformats.org/drawingml/2006/main"/>
        </p:blipFill>
        <p:spPr>
          <a:xfrm xmlns:a="http://schemas.openxmlformats.org/drawingml/2006/main">
            <a:off x="3143250" y="3037351"/>
            <a:ext cx="5905500" cy="7832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58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2026-09-21T19:34:21.5510000Z</dcterms:created>
  <dcterms:modified xsi:type="dcterms:W3CDTF">2026-09-21T19:34:21.5510000Z</dcterms:modified>
</coreProperties>
</file>