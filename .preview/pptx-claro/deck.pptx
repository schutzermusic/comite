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ae60bdfa5f4315" /><Relationship Type="http://schemas.openxmlformats.org/officeDocument/2006/relationships/extended-properties" Target="/docProps/app.xml" Id="R3e2c5f42ae2b4057" /><Relationship Type="http://schemas.openxmlformats.org/officeDocument/2006/relationships/officeDocument" Target="/ppt/presentation.xml" Id="R686623e4f0634fd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0c89ad038ef4ef3"/>
  </p:sldMasterIdLst>
  <p:notesMasterIdLst>
    <p:notesMasterId xmlns:r="http://schemas.openxmlformats.org/officeDocument/2006/relationships" r:id="R64c8534e78604253"/>
  </p:notesMasterIdLst>
  <p:sldIdLst>
    <p:sldId xmlns:r="http://schemas.openxmlformats.org/officeDocument/2006/relationships" id="256" r:id="Rd4a1fc349ba14911"/>
    <p:sldId xmlns:r="http://schemas.openxmlformats.org/officeDocument/2006/relationships" id="257" r:id="Rd08255bf5fb44c3d"/>
    <p:sldId xmlns:r="http://schemas.openxmlformats.org/officeDocument/2006/relationships" id="258" r:id="R75ec7df2c8ca46be"/>
    <p:sldId xmlns:r="http://schemas.openxmlformats.org/officeDocument/2006/relationships" id="259" r:id="R1b1348244d5f412b"/>
    <p:sldId xmlns:r="http://schemas.openxmlformats.org/officeDocument/2006/relationships" id="260" r:id="R4643b3fc7ae24826"/>
    <p:sldId xmlns:r="http://schemas.openxmlformats.org/officeDocument/2006/relationships" id="261" r:id="Rf1cb5fe135714d9d"/>
    <p:sldId xmlns:r="http://schemas.openxmlformats.org/officeDocument/2006/relationships" id="262" r:id="Rb3bcd3e3547c4882"/>
    <p:sldId xmlns:r="http://schemas.openxmlformats.org/officeDocument/2006/relationships" id="263" r:id="R7465d9ca4c3b4cdb"/>
    <p:sldId xmlns:r="http://schemas.openxmlformats.org/officeDocument/2006/relationships" id="264" r:id="R589064f658754ac3"/>
    <p:sldId xmlns:r="http://schemas.openxmlformats.org/officeDocument/2006/relationships" id="265" r:id="Rb35a7c91ffcb48cb"/>
    <p:sldId xmlns:r="http://schemas.openxmlformats.org/officeDocument/2006/relationships" id="266" r:id="Rbe4443ec21944ec9"/>
    <p:sldId xmlns:r="http://schemas.openxmlformats.org/officeDocument/2006/relationships" id="267" r:id="R94ec5803b0fc4734"/>
    <p:sldId xmlns:r="http://schemas.openxmlformats.org/officeDocument/2006/relationships" id="268" r:id="R5e0ad9cab5c44181"/>
    <p:sldId xmlns:r="http://schemas.openxmlformats.org/officeDocument/2006/relationships" id="269" r:id="R8bbe8110de6f454b"/>
    <p:sldId xmlns:r="http://schemas.openxmlformats.org/officeDocument/2006/relationships" id="270" r:id="R956d7888e2d54d8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550ae659fc54f30" /><Relationship Type="http://schemas.openxmlformats.org/officeDocument/2006/relationships/slideMaster" Target="/ppt/slideMasters/slideMaster1.xml" Id="R20c89ad038ef4ef3" /><Relationship Type="http://schemas.openxmlformats.org/officeDocument/2006/relationships/notesMaster" Target="/ppt/notesMasters/notesMaster1.xml" Id="R64c8534e78604253" /><Relationship Type="http://schemas.openxmlformats.org/officeDocument/2006/relationships/presProps" Target="/ppt/presProps.xml" Id="Rcaf47747b3384dd6" /><Relationship Type="http://schemas.openxmlformats.org/officeDocument/2006/relationships/tableStyles" Target="/ppt/tableStyles.xml" Id="Rfe72353afd8b440d" /><Relationship Type="http://schemas.openxmlformats.org/officeDocument/2006/relationships/slide" Target="/ppt/slides/slide1.xml" Id="Rd4a1fc349ba14911" /><Relationship Type="http://schemas.openxmlformats.org/officeDocument/2006/relationships/slide" Target="/ppt/slides/slide2.xml" Id="Rd08255bf5fb44c3d" /><Relationship Type="http://schemas.openxmlformats.org/officeDocument/2006/relationships/slide" Target="/ppt/slides/slide3.xml" Id="R75ec7df2c8ca46be" /><Relationship Type="http://schemas.openxmlformats.org/officeDocument/2006/relationships/slide" Target="/ppt/slides/slide4.xml" Id="R1b1348244d5f412b" /><Relationship Type="http://schemas.openxmlformats.org/officeDocument/2006/relationships/slide" Target="/ppt/slides/slide5.xml" Id="R4643b3fc7ae24826" /><Relationship Type="http://schemas.openxmlformats.org/officeDocument/2006/relationships/slide" Target="/ppt/slides/slide6.xml" Id="Rf1cb5fe135714d9d" /><Relationship Type="http://schemas.openxmlformats.org/officeDocument/2006/relationships/slide" Target="/ppt/slides/slide7.xml" Id="Rb3bcd3e3547c4882" /><Relationship Type="http://schemas.openxmlformats.org/officeDocument/2006/relationships/slide" Target="/ppt/slides/slide8.xml" Id="R7465d9ca4c3b4cdb" /><Relationship Type="http://schemas.openxmlformats.org/officeDocument/2006/relationships/slide" Target="/ppt/slides/slide9.xml" Id="R589064f658754ac3" /><Relationship Type="http://schemas.openxmlformats.org/officeDocument/2006/relationships/slide" Target="/ppt/slides/slide10.xml" Id="Rb35a7c91ffcb48cb" /><Relationship Type="http://schemas.openxmlformats.org/officeDocument/2006/relationships/slide" Target="/ppt/slides/slide11.xml" Id="Rbe4443ec21944ec9" /><Relationship Type="http://schemas.openxmlformats.org/officeDocument/2006/relationships/slide" Target="/ppt/slides/slide12.xml" Id="R94ec5803b0fc4734" /><Relationship Type="http://schemas.openxmlformats.org/officeDocument/2006/relationships/slide" Target="/ppt/slides/slide13.xml" Id="R5e0ad9cab5c44181" /><Relationship Type="http://schemas.openxmlformats.org/officeDocument/2006/relationships/slide" Target="/ppt/slides/slide14.xml" Id="R8bbe8110de6f454b" /><Relationship Type="http://schemas.openxmlformats.org/officeDocument/2006/relationships/slide" Target="/ppt/slides/slide15.xml" Id="R956d7888e2d54d8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0ff7cb423174e9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e3583747e384450" /><Relationship Type="http://schemas.openxmlformats.org/officeDocument/2006/relationships/notesMaster" Target="/ppt/notesMasters/notesMaster1.xml" Id="R94b27dd05616442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81ae7126fc3491e" /><Relationship Type="http://schemas.openxmlformats.org/officeDocument/2006/relationships/notesMaster" Target="/ppt/notesMasters/notesMaster1.xml" Id="Rbadffb308290442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7be78a0990c4ceb" /><Relationship Type="http://schemas.openxmlformats.org/officeDocument/2006/relationships/notesMaster" Target="/ppt/notesMasters/notesMaster1.xml" Id="R77a44ae4622e43b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b2a24f817b54f7e" /><Relationship Type="http://schemas.openxmlformats.org/officeDocument/2006/relationships/notesMaster" Target="/ppt/notesMasters/notesMaster1.xml" Id="R1782fdcae8554d8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f22c27d84e54731" /><Relationship Type="http://schemas.openxmlformats.org/officeDocument/2006/relationships/notesMaster" Target="/ppt/notesMasters/notesMaster1.xml" Id="R18e8acec06cb471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093b7d7874c4f3a" /><Relationship Type="http://schemas.openxmlformats.org/officeDocument/2006/relationships/notesMaster" Target="/ppt/notesMasters/notesMaster1.xml" Id="Ra450bbc92d45480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d3cf268f8204699" /><Relationship Type="http://schemas.openxmlformats.org/officeDocument/2006/relationships/notesMaster" Target="/ppt/notesMasters/notesMaster1.xml" Id="R8cccf7a44f4c442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9ffa5f6aede4ddc" /><Relationship Type="http://schemas.openxmlformats.org/officeDocument/2006/relationships/notesMaster" Target="/ppt/notesMasters/notesMaster1.xml" Id="R5b820bead375420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6e10ba585634df7" /><Relationship Type="http://schemas.openxmlformats.org/officeDocument/2006/relationships/notesMaster" Target="/ppt/notesMasters/notesMaster1.xml" Id="R9684a539d553405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421281229904abe" /><Relationship Type="http://schemas.openxmlformats.org/officeDocument/2006/relationships/notesMaster" Target="/ppt/notesMasters/notesMaster1.xml" Id="Rd181a7d5f13c4b8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410fead38c348e8" /><Relationship Type="http://schemas.openxmlformats.org/officeDocument/2006/relationships/notesMaster" Target="/ppt/notesMasters/notesMaster1.xml" Id="R60d1087be34f4d2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177f8653d76458e" /><Relationship Type="http://schemas.openxmlformats.org/officeDocument/2006/relationships/notesMaster" Target="/ppt/notesMasters/notesMaster1.xml" Id="Rf9b09fe72272434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01f5ad7825a4b20" /><Relationship Type="http://schemas.openxmlformats.org/officeDocument/2006/relationships/notesMaster" Target="/ppt/notesMasters/notesMaster1.xml" Id="R5bffa062e33947b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06be33550f54ed6" /><Relationship Type="http://schemas.openxmlformats.org/officeDocument/2006/relationships/notesMaster" Target="/ppt/notesMasters/notesMaster1.xml" Id="Rfd70d21e311b4a6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f1b579fa51a4604" /><Relationship Type="http://schemas.openxmlformats.org/officeDocument/2006/relationships/notesMaster" Target="/ppt/notesMasters/notesMaster1.xml" Id="R257683fe03b24c4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Use o roteiro para combinar o tempo de cada bloco antes de entrar nos números.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receita do período cobre 5,44x o custo de folha informado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- 31 competência(s) com valor realizado e 29 com previsão. Realizado e previsto permanecem identificados separadamente em todas as séries.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Traço contínuo: valores fechados. Traço tracejado: projeção ancorada na última competência realizada.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A trajetória acumulada mantém-se positiva em todo o recorte e fecha em R$ 421,6 mi.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Nenhuma competência do recorte fecha com saldo mensal negativo.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Cada série identifica o cliente que compõe o faturamento previsto.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Todos os valores que sustentam os gráficos anteriores.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Base contratual usada para limitar e distribuir a projeção.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[Fonte]</a:t>
            </a:r>
          </a:p>
          <a:p xmlns:a="http://schemas.openxmlformats.org/drawingml/2006/main">
            <a:r>
              <a:t>- Dados informados do sistema na Projeção Financeira.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[Leitura]</a:t>
            </a:r>
          </a:p>
          <a:p xmlns:a="http://schemas.openxmlformats.org/drawingml/2006/main">
            <a:r>
              <a:t>- Seguimos comprometidos com uma execução disciplinada, crescimento sustentável e geração consistente de valor para nossos investidores.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f821767f004b7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2fc079b18a54c01" /><Relationship Type="http://schemas.openxmlformats.org/officeDocument/2006/relationships/slideLayout" Target="/ppt/slideLayouts/slideLayout1.xml" Id="R815a923de29e47c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5a923de29e47c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c385538a1443df" /><Relationship Type="http://schemas.openxmlformats.org/officeDocument/2006/relationships/image" Target="/ppt/media/image.png" Id="R98d1d52d17214d6f" /><Relationship Type="http://schemas.openxmlformats.org/officeDocument/2006/relationships/image" Target="/ppt/media/image2.png" Id="R97f7f82770b34c48" /><Relationship Type="http://schemas.openxmlformats.org/officeDocument/2006/relationships/notesSlide" Target="/ppt/notesSlides/notesSlide1.xml" Id="Ra6123f9b2e79479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1ff819855b4a2d" /><Relationship Type="http://schemas.openxmlformats.org/officeDocument/2006/relationships/image" Target="/ppt/media/image3.png" Id="Rcbe94ec8ad4a4a93" /><Relationship Type="http://schemas.openxmlformats.org/officeDocument/2006/relationships/notesSlide" Target="/ppt/notesSlides/notesSlide2.xml" Id="Re07c025b0e5c4d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df7afe83a34023" /><Relationship Type="http://schemas.openxmlformats.org/officeDocument/2006/relationships/image" Target="/ppt/media/image4.png" Id="Rcdf06876419b4d22" /><Relationship Type="http://schemas.openxmlformats.org/officeDocument/2006/relationships/image" Target="/ppt/media/image5.png" Id="R8f2d3a9cde4646a5" /><Relationship Type="http://schemas.openxmlformats.org/officeDocument/2006/relationships/image" Target="/ppt/media/image.svg" Id="R1a8c9e462a874cb9" /><Relationship Type="http://schemas.openxmlformats.org/officeDocument/2006/relationships/notesSlide" Target="/ppt/notesSlides/notesSlide3.xml" Id="Ra84ec9f6780d48f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5679e8374145f4" /><Relationship Type="http://schemas.openxmlformats.org/officeDocument/2006/relationships/image" Target="/ppt/media/image6.png" Id="R3d69f3ffe51d4691" /><Relationship Type="http://schemas.openxmlformats.org/officeDocument/2006/relationships/image" Target="/ppt/media/image7.png" Id="R2fb0550d9ff44aca" /><Relationship Type="http://schemas.openxmlformats.org/officeDocument/2006/relationships/image" Target="/ppt/media/image2.svg" Id="R1b6ec2f00f824dd3" /><Relationship Type="http://schemas.openxmlformats.org/officeDocument/2006/relationships/notesSlide" Target="/ppt/notesSlides/notesSlide4.xml" Id="Rc0e494bd37c543e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feb8a46d554c49" /><Relationship Type="http://schemas.openxmlformats.org/officeDocument/2006/relationships/image" Target="/ppt/media/image8.png" Id="R8def504c446f4f83" /><Relationship Type="http://schemas.openxmlformats.org/officeDocument/2006/relationships/image" Target="/ppt/media/image9.png" Id="Rf4d63d56644a4fad" /><Relationship Type="http://schemas.openxmlformats.org/officeDocument/2006/relationships/image" Target="/ppt/media/image3.svg" Id="Rbf8a3c0de911418b" /><Relationship Type="http://schemas.openxmlformats.org/officeDocument/2006/relationships/notesSlide" Target="/ppt/notesSlides/notesSlide5.xml" Id="R41672f46ac544c1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79cfea95404647" /><Relationship Type="http://schemas.openxmlformats.org/officeDocument/2006/relationships/image" Target="/ppt/media/image10.png" Id="R316bd5506e584ce9" /><Relationship Type="http://schemas.openxmlformats.org/officeDocument/2006/relationships/image" Target="/ppt/media/image11.png" Id="Rdf0d331474654295" /><Relationship Type="http://schemas.openxmlformats.org/officeDocument/2006/relationships/image" Target="/ppt/media/image4.svg" Id="Rf9dd5219e7104665" /><Relationship Type="http://schemas.openxmlformats.org/officeDocument/2006/relationships/notesSlide" Target="/ppt/notesSlides/notesSlide6.xml" Id="Rb156e6352ec949b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e4efa8e9eb4f30" /><Relationship Type="http://schemas.openxmlformats.org/officeDocument/2006/relationships/image" Target="/ppt/media/image12.png" Id="R539596aa08354962" /><Relationship Type="http://schemas.openxmlformats.org/officeDocument/2006/relationships/image" Target="/ppt/media/image13.png" Id="Rbc7abdfab3ee4043" /><Relationship Type="http://schemas.openxmlformats.org/officeDocument/2006/relationships/image" Target="/ppt/media/image5.svg" Id="Re752ba42b7c24f2f" /><Relationship Type="http://schemas.openxmlformats.org/officeDocument/2006/relationships/notesSlide" Target="/ppt/notesSlides/notesSlide7.xml" Id="Rb8e54eedaf0440a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69e0573e6c437c" /><Relationship Type="http://schemas.openxmlformats.org/officeDocument/2006/relationships/image" Target="/ppt/media/image14.png" Id="R8378e2aa10354bf2" /><Relationship Type="http://schemas.openxmlformats.org/officeDocument/2006/relationships/image" Target="/ppt/media/image15.png" Id="Re400767b809c4962" /><Relationship Type="http://schemas.openxmlformats.org/officeDocument/2006/relationships/image" Target="/ppt/media/image6.svg" Id="Ra2fffd0be02e42cc" /><Relationship Type="http://schemas.openxmlformats.org/officeDocument/2006/relationships/notesSlide" Target="/ppt/notesSlides/notesSlide8.xml" Id="Rb7553e5233df46d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5e1e68a9b44180" /><Relationship Type="http://schemas.openxmlformats.org/officeDocument/2006/relationships/image" Target="/ppt/media/image16.png" Id="Rf0604ba4b5fa45da" /><Relationship Type="http://schemas.openxmlformats.org/officeDocument/2006/relationships/notesSlide" Target="/ppt/notesSlides/notesSlide9.xml" Id="R85642ab1c9084c0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a94215eaaf4828" /><Relationship Type="http://schemas.openxmlformats.org/officeDocument/2006/relationships/image" Target="/ppt/media/image17.png" Id="R80c0290f48e24111" /><Relationship Type="http://schemas.openxmlformats.org/officeDocument/2006/relationships/notesSlide" Target="/ppt/notesSlides/notesSlide10.xml" Id="Rdf09a559b0d3412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d01f8895b94e57" /><Relationship Type="http://schemas.openxmlformats.org/officeDocument/2006/relationships/image" Target="/ppt/media/image18.png" Id="R6ec6119c3c4c4231" /><Relationship Type="http://schemas.openxmlformats.org/officeDocument/2006/relationships/notesSlide" Target="/ppt/notesSlides/notesSlide11.xml" Id="R14bc2191a488473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1edd1647464792" /><Relationship Type="http://schemas.openxmlformats.org/officeDocument/2006/relationships/image" Target="/ppt/media/image19.png" Id="R1ede66f2eef74921" /><Relationship Type="http://schemas.openxmlformats.org/officeDocument/2006/relationships/notesSlide" Target="/ppt/notesSlides/notesSlide12.xml" Id="Rb670cb9f798a450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7e579ac7de41a8" /><Relationship Type="http://schemas.openxmlformats.org/officeDocument/2006/relationships/image" Target="/ppt/media/image20.png" Id="R40a202480a864e9e" /><Relationship Type="http://schemas.openxmlformats.org/officeDocument/2006/relationships/notesSlide" Target="/ppt/notesSlides/notesSlide13.xml" Id="R631f235ed90c426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0ccf55a05b4754" /><Relationship Type="http://schemas.openxmlformats.org/officeDocument/2006/relationships/image" Target="/ppt/media/image21.png" Id="R39531d74790843d9" /><Relationship Type="http://schemas.openxmlformats.org/officeDocument/2006/relationships/notesSlide" Target="/ppt/notesSlides/notesSlide14.xml" Id="R0bece10ae2214db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47c2fb27c948ca" /><Relationship Type="http://schemas.openxmlformats.org/officeDocument/2006/relationships/image" Target="/ppt/media/image22.png" Id="Rc0c6da3105e54b9b" /><Relationship Type="http://schemas.openxmlformats.org/officeDocument/2006/relationships/image" Target="/ppt/media/image23.png" Id="R3a48cd5b11a54e4f" /><Relationship Type="http://schemas.openxmlformats.org/officeDocument/2006/relationships/notesSlide" Target="/ppt/notesSlides/notesSlide15.xml" Id="Ra7e09e4da18e490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D75175-6656-44D7-970B-5ECA550A0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7877DD-472D-4EDA-B125-FD510C465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2099F7-C545-4A5A-88A5-56C37393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d1d52d17214d6f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124504-D694-4FB1-8B2B-EF70A853D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BD50A3-C8FC-4DA4-BF0D-5420C9F10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f7f82770b34c48"/>
          <a:stretch xmlns:a="http://schemas.openxmlformats.org/drawingml/2006/main"/>
        </p:blipFill>
        <p:spPr>
          <a:xfrm xmlns:a="http://schemas.openxmlformats.org/drawingml/2006/main">
            <a:off x="609600" y="685800"/>
            <a:ext cx="3303330" cy="4381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F3E70F-B993-4372-AEFF-638A68CF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62000"/>
            <a:ext cx="1866900" cy="285750"/>
          </a:xfrm>
          <a:prstGeom xmlns:a="http://schemas.openxmlformats.org/drawingml/2006/main" prst="roundRect">
            <a:avLst>
              <a:gd name="adj" fmla="val 4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1070E3-2326-4824-AA64-32E9B3DBF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828675"/>
            <a:ext cx="1866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874A"/>
                </a:solidFill>
              </a:defRPr>
            </a:pPr>
            <a:r>
              <a:rPr sz="900" b="1">
                <a:solidFill>
                  <a:srgbClr val="00874A"/>
                </a:solidFill>
              </a:rPr>
              <a:t>CONFIDENCIAL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BC2C34-9A4A-4185-928D-1070B2635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9525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B1A20"/>
                </a:solidFill>
              </a:defRPr>
            </a:pPr>
            <a:r>
              <a:rPr sz="3900" b="1">
                <a:solidFill>
                  <a:srgbClr val="0B1A20"/>
                </a:solidFill>
              </a:rPr>
              <a:t>Relatório de Faturamento vs Folha de Pagamento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B4126A-FC5F-49AE-B4F1-8AE6753A4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PERÍODO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706D51-9E74-4D39-94AB-C7F9383AB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jan de 24 — dez de 28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99BD98-ADC1-4685-807C-3FF3199BF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DATA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6B93BF-B29D-4E79-B244-DA7ED758A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30-07-2026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E8FA07-2CE9-430F-9E89-2469F3DC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3911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PREPARADO POR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D16BB1-C212-4052-B456-597F9829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197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6383F"/>
                </a:solidFill>
              </a:defRPr>
            </a:pPr>
            <a:r>
              <a:rPr sz="1275" b="1">
                <a:solidFill>
                  <a:srgbClr val="26383F"/>
                </a:solidFill>
              </a:rPr>
              <a:t>Sergio Fagundes</a:t>
            </a:r>
          </a:p>
        </p:txBody>
      </p:sp>
    </p:spTree>
    <p:extLst>
      <p:ext uri="{BB962C8B-B14F-4D97-AF65-F5344CB8AC3E}">
        <p14:creationId xmlns:p14="http://schemas.microsoft.com/office/powerpoint/2010/main" val="10951711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86A919A-6E3B-4201-BCB0-51B0FD02D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A75114-38DF-4D5A-8991-BA6900674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139EB0-EBF7-4E54-BE88-D36ABB2CD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ROTEIRO DA APRESENTAÇÃO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509E70-C16E-4694-BB44-228BBEAC5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B58821-527D-4F4F-BA42-C22202BDD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e94ec8ad4a4a9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6A0615-49F5-40E7-8CCE-570F948E4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0CF641-EBF0-4B18-8CF0-5DBE13491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5D2594-4DEB-40D5-98E3-DA032D054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 que esta leitura cobre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519D08-D5FF-4DE3-BE18-7101AB5AF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32AEEA-573D-44AC-9C3A-B6A3F6228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D2C135-F6EF-47B9-8F59-132A9823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Síntese executiva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7151BE-9146-4517-A1EA-E45892196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Cobertura, saldo e os sinais que resumem 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35BEDC-BF8F-4DFE-A9CC-7918B9285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863E87-BA94-4418-BACC-C4F740AB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955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1F322C-7C46-4D9B-AF0A-7B0864D8D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0764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Evolução mensal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9F3A0F-62AA-464E-9F35-E6AD36A7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3622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Receita e folha competência a competência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3EB91E-82DC-4945-9CCC-D6C828856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C8B68C-DC55-4381-B661-21D6B29C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BD230E-1764-4321-B51F-E8C152B83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mensal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9967A6-3AA2-418A-A5D0-3A45ECA29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Valores de cada competência, sem acumulação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B3C883-5A1D-4B63-8EA4-6217B71C5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765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4AFF3D-1A14-4752-9099-455BDE258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099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19D27D-DB6E-46BD-B998-765EFFB73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908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Curva S acumulada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CBA0A13-547E-4540-A247-22E2F92E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2766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Trajetória acumulada e zona de previsão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0674B6-2E0F-430C-90A4-A1FB5F4D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EEDDFF0-235E-424F-B387-772A9AB7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05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3CF4FE-E10E-42C1-8E47-410A47BF3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Saldo e acumulado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2656D3-F8DA-43E6-B9D6-FA66BC033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Onde o período gera e onde consome resultado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4372DC5-6C1C-437E-93A3-8BC07AC8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909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20C789-1E8F-44D7-8198-9BD424564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243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5C11F3-F9F0-44F5-BE9B-0657CB9F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052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Projeção por cliente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F18135A-A504-49BD-8E81-4C517A9E1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910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Composição do faturamento projetado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9CE3FC2-963B-479E-883A-9D6FC255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C3FB6D5-D7F3-4469-8830-4EF10698E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A60F44-A029-442D-B286-8EF4CF8CC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Base mensal informada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003F6E6-25A2-4CF1-B3C6-103E70598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Todos os valores por trás dos gráficos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A675C8-D248-4A01-9BED-9D5CCBE6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7053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A2BA82A-F968-449C-8A67-9C5D9225E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387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08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41593E1-F82E-4529-BEDB-358DD5C55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19650"/>
            <a:ext cx="483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B1A20"/>
                </a:solidFill>
              </a:defRPr>
            </a:pPr>
            <a:r>
              <a:rPr sz="1425" b="1">
                <a:solidFill>
                  <a:srgbClr val="0B1A20"/>
                </a:solidFill>
              </a:rPr>
              <a:t>Carteira e recebíveis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00BAD2D-6FAB-407B-AF3B-BFA919B63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105400"/>
            <a:ext cx="4838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013">
                <a:solidFill>
                  <a:srgbClr val="7E939C"/>
                </a:solidFill>
              </a:defRPr>
            </a:pPr>
            <a:r>
              <a:rPr sz="1013">
                <a:solidFill>
                  <a:srgbClr val="7E939C"/>
                </a:solidFill>
              </a:rPr>
              <a:t>Backlog que sustenta a projeção</a:t>
            </a:r>
          </a:p>
        </p:txBody>
      </p:sp>
    </p:spTree>
    <p:extLst>
      <p:ext uri="{BB962C8B-B14F-4D97-AF65-F5344CB8AC3E}">
        <p14:creationId xmlns:p14="http://schemas.microsoft.com/office/powerpoint/2010/main" val="200415654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DD10510-19E3-452D-A5E1-B3EC3760B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B6E800-048D-43E5-9EDA-374A77097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2550E4-4513-49FC-B6D1-C3793D2E4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SÍNTESE EXECUTIVA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BD99D9-D631-46D9-9701-C32EE4D28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9C086C-6261-4EF1-912E-F6C1EC79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f06876419b4d2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89FC19-21D0-45F6-96F0-FD05636E2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14F40E-C698-49C4-9C78-2CC30F60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AD802B-7487-4AE9-AB10-3673EBA99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7543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875"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0B1A20"/>
                </a:solidFill>
              </a:defRPr>
            </a:pPr>
            <a:r>
              <a:rPr sz="2400" b="1">
                <a:solidFill>
                  <a:srgbClr val="0B1A20"/>
                </a:solidFill>
              </a:rPr>
              <a:t>A receita do período cobre 5,44x o custo de folha informado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346194-F40D-4531-A05A-1E5D0559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239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6383F"/>
                </a:solidFill>
              </a:defRPr>
            </a:pPr>
            <a:r>
              <a:rPr sz="1200">
                <a:solidFill>
                  <a:srgbClr val="26383F"/>
                </a:solidFill>
              </a:rPr>
              <a:t>A receita consolidada sustenta a estrutura atual e a carteira prevista amplia a cobertura da folha ao longo do horizonte projetado.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399529-887D-4D2F-A77A-AB8C6F19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95550"/>
            <a:ext cx="7543800" cy="1390650"/>
          </a:xfrm>
          <a:prstGeom xmlns:a="http://schemas.openxmlformats.org/drawingml/2006/main" prst="roundRect">
            <a:avLst>
              <a:gd name="adj" fmla="val 821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B7E345-E97E-4025-9A7A-8B6DC8B31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79CBBE-9207-460A-A162-9C8B2D0B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81275"/>
            <a:ext cx="952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B1C7DF-5D59-4CF3-B052-4625D6A69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079440-225A-4019-9EB2-A034B9C46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2094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268E67-3896-4DA1-A790-946E1C58D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58A8AE-E344-484D-AB3E-221F0278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1BBCF5-CB00-4259-B2B7-3F76F55AC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R$ 191,6 mi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EE961A-50A5-45ED-A63A-D6854EB5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31 competência(s)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FF606D-FA38-4810-A7A8-DCA9B19DA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1269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2BEC88-BC17-4F61-9A6E-E5D5D79A0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6138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8DA5C9-79D4-4488-92AB-8790FED2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975A48-B506-42D1-9C81-B64CB6CDB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9394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F10539-1B20-40D0-96DC-8F830924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D4ED8"/>
                </a:solidFill>
              </a:defRPr>
            </a:pPr>
            <a:r>
              <a:rPr sz="1950" b="1">
                <a:solidFill>
                  <a:srgbClr val="1D4ED8"/>
                </a:solidFill>
              </a:rPr>
              <a:t>R$ 325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153375-C959-4CB1-BCBF-249F389B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619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63% da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ED509F-747B-4A81-9415-86990A3D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5313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215F1B2-0CB5-4766-B4AF-4C6478E8C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0181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426BFA-C7F2-4DAC-B597-54809C4F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3729EA8-29AF-4FC1-8D6C-8E366F82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3438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TOTAL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A5C9ED-F947-4A14-8FD6-DA51C4FB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B45309"/>
                </a:solidFill>
              </a:defRPr>
            </a:pPr>
            <a:r>
              <a:rPr sz="1950" b="1">
                <a:solidFill>
                  <a:srgbClr val="B45309"/>
                </a:solidFill>
              </a:rPr>
              <a:t>R$ 95 mi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C5F1E6F-F67C-4E91-9B7B-5246D73E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8663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fechada + projetada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E5583FB-4FF3-43D0-8BE3-DE5D2F611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9356" y="2543175"/>
            <a:ext cx="1826419" cy="1295400"/>
          </a:xfrm>
          <a:prstGeom xmlns:a="http://schemas.openxmlformats.org/drawingml/2006/main" prst="roundRect">
            <a:avLst>
              <a:gd name="adj" fmla="val 882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4484E63-DF9B-40E3-81C3-24FF3B60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4225" y="2543175"/>
            <a:ext cx="87668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A400EC-DFBE-479B-A5B4-608AEC121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70510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1528BA-8D92-4F49-ADBA-CAF8AC5B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7481" y="2647950"/>
            <a:ext cx="14549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099DBF7-715B-4BC6-A7CF-9C9D66696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2962275"/>
            <a:ext cx="155971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0874A"/>
                </a:solidFill>
              </a:defRPr>
            </a:pPr>
            <a:r>
              <a:rPr sz="1950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9ACE185-F562-40B3-B42E-E7F5812AF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2706" y="3343275"/>
            <a:ext cx="1559719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no fecho do recorte</a:t>
            </a:r>
          </a:p>
        </p:txBody>
      </p:sp>
      <p:pic>
        <p:nvPicPr>
          <p:cNvPr id="1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2d3a9cde4646a5">
            <a:extLst>
              <a:ext uri="{96DAC541-7B7A-43D3-8B79-37D633B846F1}">
                <asvg:svgBlip xmlns:asvg="http://schemas.microsoft.com/office/drawing/2016/SVG/main" r:embed="R1a8c9e462a874cb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724900" y="142875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08387EF-7837-4665-94B1-0150E3A3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33800"/>
            <a:ext cx="2971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42C2093-64CB-44F6-9C8E-CC328EBDA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43350"/>
            <a:ext cx="2971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Marca central do arco = ponto de equilíbrio (1,00x). +444 p.p. em relação ao equilíbrio.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63A6798-38BF-432F-B397-0BD071FA5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1676400"/>
          </a:xfrm>
          <a:prstGeom xmlns:a="http://schemas.openxmlformats.org/drawingml/2006/main" prst="roundRect">
            <a:avLst>
              <a:gd name="adj" fmla="val 6818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CBD8D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75217B1-0AC4-473D-A1F3-23192AAA4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5170E05-AE87-4B16-A0F6-75CEB9B51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7150" y="4505325"/>
            <a:ext cx="9525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3DA4856-8797-417C-9A67-234F2C4BC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EDD2105-A157-4DCE-BFED-C3FEE4CFC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4979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C8F2846-3940-41A0-B599-452F23CF6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D369673-8E19-4647-BF76-51386E3FA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COBERTURA RECEITA / FOLHA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25B2044-787F-492F-B838-C8D5BCB8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8C77B72-8B67-4935-B2D3-7BDC79744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4594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DAF549A-C876-4A48-8FFC-3D7A57705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5,44x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5F01154-8E62-405F-AB95-FEF811344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Razão entre a receita total e a folha total do recorte informado.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8C59278-5BFB-4A1D-90E6-3B0A15090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8519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4F2AB84-E2FB-4D33-9F69-60AB4F11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73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1C92AA3-F116-4923-8760-B8F517A67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F42BA63-D215-42CF-A8D7-D7E56C311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644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 ACUMULADO NO FECHO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B2A92FE-4592-48EE-BFE2-BEA18EA5C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F8BD3B2-DE43-4E63-B986-8A3F7D750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5888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DEB438A-E4F6-4496-8190-82F0253F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R$ 421,6 mi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4161331-AD1D-49D9-AADE-54104B83D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1869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Diferença acumulada entre receita e folha ao fim de 60 competências.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D74183A-3DDC-4278-9BCC-A15EF0A1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9813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365BEC4-71B8-434C-8407-ECBD7F46A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7566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4D1264C-DB0E-4C60-B86A-8B97FA0E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90BE93F-A9B5-423E-B2E6-C3CE5B58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MÊS MAIS APERTADO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64651F5-8ACD-4B20-BBB7-211E76679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6EC7FDA-72B0-45CF-9F23-F77BADEF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7181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B45309"/>
                </a:solidFill>
              </a:defRPr>
            </a:pPr>
            <a:r>
              <a:rPr sz="675" b="1">
                <a:solidFill>
                  <a:srgbClr val="B45309"/>
                </a:solidFill>
              </a:rPr>
              <a:t>MONITORAR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670D1C7-680E-4BF7-9819-298B1C36F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45309"/>
                </a:solidFill>
              </a:defRPr>
            </a:pPr>
            <a:r>
              <a:rPr sz="1425" b="1">
                <a:solidFill>
                  <a:srgbClr val="B45309"/>
                </a:solidFill>
              </a:rPr>
              <a:t>fev de 26 · 1,39x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36D333E-52A7-433D-AC2C-F0B3139E4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3163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Menor cobertura mensal do recorte.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56074EE1-1C0B-434E-B6F2-9206C3C48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1106" y="4467225"/>
            <a:ext cx="2683669" cy="1581150"/>
          </a:xfrm>
          <a:prstGeom xmlns:a="http://schemas.openxmlformats.org/drawingml/2006/main" prst="roundRect">
            <a:avLst>
              <a:gd name="adj" fmla="val 7229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B261721-A38F-40A9-87DD-79D826EC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8860" y="4467225"/>
            <a:ext cx="1288161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D328F8C-B588-4AC5-9366-5FCCF7DB0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629150"/>
            <a:ext cx="47625" cy="476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0C0143C-54D7-48AF-A192-8C6AD856E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231" y="4572000"/>
            <a:ext cx="1531144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PICO DE RECEITA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2641681-9A78-4324-AC42-8CD0EB20C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72000"/>
            <a:ext cx="742950" cy="1714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00874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BD36D85-D1B4-445F-ABF0-44355A12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4581525"/>
            <a:ext cx="742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675" b="1">
                <a:solidFill>
                  <a:srgbClr val="00874A"/>
                </a:solidFill>
              </a:defRPr>
            </a:pPr>
            <a:r>
              <a:rPr sz="675" b="1">
                <a:solidFill>
                  <a:srgbClr val="00874A"/>
                </a:solidFill>
              </a:rPr>
              <a:t>SINAL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42FEDD3-4404-4A39-83B6-85A9FC3A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4886325"/>
            <a:ext cx="2416969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0874A"/>
                </a:solidFill>
              </a:defRPr>
            </a:pPr>
            <a:r>
              <a:rPr sz="1425" b="1">
                <a:solidFill>
                  <a:srgbClr val="00874A"/>
                </a:solidFill>
              </a:rPr>
              <a:t>dez de 28 · R$ 15 mi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83C8D45-D665-49AF-BC2B-9F368079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4456" y="5286375"/>
            <a:ext cx="2416969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Maior receita mensal (realizada + prevista) do recorte.</a:t>
            </a:r>
          </a:p>
        </p:txBody>
      </p:sp>
    </p:spTree>
    <p:extLst>
      <p:ext uri="{BB962C8B-B14F-4D97-AF65-F5344CB8AC3E}">
        <p14:creationId xmlns:p14="http://schemas.microsoft.com/office/powerpoint/2010/main" val="9017594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8DAD6A-40E3-4B1F-ACCD-7F84E40AC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1C41CC-CFBD-4949-AF97-03407830C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AAFA1D-3B04-4994-9B11-98FA59A12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EVOLUÇÃO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A98C53-DE11-46A4-945E-C111832BA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3D2E57-C147-405E-B81A-90848BD7B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69f3ffe51d469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E5A45B-E17E-4D2A-B543-3678A70C6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551A6B-58F0-41C7-93D0-5C9D29D6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DF2B89-6142-4D73-9FC2-B024DC02C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Receita e folha, competência a competência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8D6B67-329F-4C23-8ABA-0D8189B5A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31 competência(s) com valor realizado e 29 com previsão. Realizado e previsto permanecem identificados separadamente em todas as séries.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41876F-3E9D-4B12-BECE-073555B5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b0550d9ff44aca">
            <a:extLst>
              <a:ext uri="{96DAC541-7B7A-43D3-8B79-37D633B846F1}">
                <asvg:svgBlip xmlns:asvg="http://schemas.microsoft.com/office/drawing/2016/SVG/main" r:embed="R1b6ec2f00f824dd3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1D94CC-4BAC-4632-ADE6-7E7F8DF55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4E4FB2-33CF-44D2-A8D6-DDBB75239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E3DA38-23AE-47D7-89F3-F63B8E414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1D4E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F5FDA8-3D6C-431D-9DD9-1BDB0C79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18CFD9-B84E-428B-AE8F-4316572D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1A97E5-73BB-4936-8025-F6BE789DE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8958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92C16D-6E2A-48C8-88F2-39B76F28A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9339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14288">
            <a:solidFill>
              <a:srgbClr val="B4530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33444F-2302-41EA-ACBA-621B166E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47C2DF-15F5-4A0A-B741-CD864D054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CA6AB1-4025-42EE-A293-EA9DFAA44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23CDCC-6652-4C6D-BD7A-B28E4A6C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5C94E5-48A3-49F4-B21F-0F60664A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B384C9-39D0-4749-911B-EFAE1B97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3EC16D-CD6A-45E8-8681-5CCAE542D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MÊS MAIS APERTADO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DF7F5DC-5902-4FFD-88D2-0C68A3D31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1,39x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DCE85E-4DE7-45CD-9DD9-A907E16A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MENSAL MÉDIO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90685B-6726-453C-8228-A4CC22BB1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R$ 7 mi</a:t>
            </a:r>
          </a:p>
        </p:txBody>
      </p:sp>
    </p:spTree>
    <p:extLst>
      <p:ext uri="{BB962C8B-B14F-4D97-AF65-F5344CB8AC3E}">
        <p14:creationId xmlns:p14="http://schemas.microsoft.com/office/powerpoint/2010/main" val="17697170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B90EB0-D6B9-41B2-AA1A-DFAD9C1C6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E3DC04-AAE8-48F2-B5C4-25B027DDA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CC62E3-55E9-4C1A-B5A0-7E80F7607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MENSAL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27D466-F4A8-4066-B436-1E6550073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05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076466-1A7C-467C-986D-9B243E1FB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ef504c446f4f83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0F078E-3B17-497C-87B2-8534EEA6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89793A-33E2-46AF-8B6A-D012A290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1FE35A-4D0F-4F26-902C-DAD21BC8F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Valores de cada competência, sem acumulação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B0AC94-0A38-4652-AC3B-A408E60B1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leitura mês a mês da receita e da folha: onde cada uma sobe, onde recua e a partir de quando passam a ser projeção.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858381-6BC1-40BF-A257-40EE2904E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d63d56644a4fad">
            <a:extLst>
              <a:ext uri="{96DAC541-7B7A-43D3-8B79-37D633B846F1}">
                <asvg:svgBlip xmlns:asvg="http://schemas.microsoft.com/office/drawing/2016/SVG/main" r:embed="Rbf8a3c0de911418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955EDF-1891-4C44-A828-0EFD7D63D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167B74-36CD-44D0-8741-1B5CE8C5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realizado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0FBD76-8A6B-4D0D-B7E8-1007C5BF3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1B7F2A-C8A1-4F7D-A4BE-D7477D13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5D1B9C-AE11-4631-933E-0555B5F40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667250"/>
            <a:ext cx="1790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previsto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C70238-2160-4AFC-B6AD-839273669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204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7C72C0-B2D2-4EA1-A79F-A740E9493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0165" y="4667250"/>
            <a:ext cx="20802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fechada + encargos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DEFCA4-D969-46F0-9B8C-76FDC6BD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0425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6C66B9-D98C-41AE-84BC-BE184E96A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7434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1DA0D3-BADE-4F0E-8D5A-5B344309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6672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projetada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1BC914-51C8-4461-9A92-BEA6FADE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Traço contínuo: valores fechados. Traço tracejado: projeção, ancorada na última competência realizada.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14DAC1-DFA8-480C-B26B-48C67A62C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DF5F49-3496-473E-ADE0-A397E5FF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RECEITA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33FAAD-7192-40E5-A41F-D5FDBEFC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dez de 28 · R$ 15 mi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A456FC-F173-45A8-A677-D5EDAD600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PICO DE FOLHA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AF40A6-1084-4E5F-90D9-ECDDA197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fev de 26 · R$ 3,4 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C7DAE2-EB64-4DF0-BBA9-AE049908D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REALIZADAS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E1D802-A600-44CB-B97F-F7965C229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31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26C8B12-2253-4375-BDA3-60210306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486400"/>
            <a:ext cx="2552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PROJETADAS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FE4CFB4-A129-49F1-885B-CEC818C07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676900"/>
            <a:ext cx="2552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368449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D693AA-8A58-4B1E-9F99-0D59EC3B0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C4A039-BB7A-4099-9F54-DA35A8720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84C740-FB87-4BCF-B617-6714B9A1A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CURVA S ACUMULADA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5D56CF-445C-4A8F-A63C-120F6544C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06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C1A0A1-83E9-47DF-9E1F-5B89DDDA8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6bd5506e584ce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56A6CB-3D66-4463-AE31-4DE98CC15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44661C-0125-47E1-9501-F40C3B0C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BFBCB8-1A36-476F-B240-88EB8020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A trajetória acumulada do período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84F5EA-195E-4D7F-9A79-30A448401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trajetória acumulada mantém-se positiva em todo o recorte e fecha em R$ 421,6 mi.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BBF753-1F97-4849-9215-9C35CE141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0d331474654295">
            <a:extLst>
              <a:ext uri="{96DAC541-7B7A-43D3-8B79-37D633B846F1}">
                <asvg:svgBlip xmlns:asvg="http://schemas.microsoft.com/office/drawing/2016/SVG/main" r:embed="Rf9dd5219e710466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0861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90433E-A295-4ADF-A62B-247EE1644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0822DA-7C91-47D3-B535-6294079C8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95850"/>
            <a:ext cx="186309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Faturamento acumulado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E17263-3969-499A-8D3D-C886192B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63215" y="49720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8333DB-A702-4515-8578-569A9448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Folha acumulada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D6FD89-7DF7-453B-ADA7-C76588A61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0090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368341-7F8D-420A-B258-C7BAE4068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4865" y="4972050"/>
            <a:ext cx="666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1C31F0-FA77-4929-B205-B80B2D3A0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8215" y="48958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3E3337-BE7E-4CCC-B050-97519869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94F91D-72AF-4A5E-BD11-293D4FE3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RECEITA ACUMULADA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74A01B-3B81-4F2F-AD40-F3582F297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R$ 516,6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AEEE84-25E5-4E60-8193-8614DFF82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FOLHA ACUMULADA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E3C246-D370-4161-AF0A-86BAEF491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R$ 95 mi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1FEDC2-D3FC-4D8E-B5BD-4DE57D18C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SALDO NO FECHO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DE6CFE-6CEF-4EBC-B1A8-4B45F4B3F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R$ 421,6 mi</a:t>
            </a:r>
          </a:p>
        </p:txBody>
      </p:sp>
    </p:spTree>
    <p:extLst>
      <p:ext uri="{BB962C8B-B14F-4D97-AF65-F5344CB8AC3E}">
        <p14:creationId xmlns:p14="http://schemas.microsoft.com/office/powerpoint/2010/main" val="35597104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E10685-5449-432D-B515-6ABCE823E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E880A1-99E0-4E1B-9298-7420FA7FC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907597-73A3-4372-B351-4CD0F739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SALDO MENSAL E ACUMULADO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AB9D01-AFAB-4577-9885-625101961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07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555855-C438-41F0-B4BF-8DE129F1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9596aa0835496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2DB58F-FC1F-424B-BCB2-04915C978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61EEE6-9E1F-4875-9009-33118AA57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ABAAAC-EC65-452F-A68A-CE38F485D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Onde o período gera e onde consome resultado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5608C5-5403-4D03-80DD-5719BF0E1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Nenhuma competência do recorte fecha com saldo mensal negativo.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FF2D8A-22EB-41A9-8F5C-330C1F02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3543300"/>
          </a:xfrm>
          <a:prstGeom xmlns:a="http://schemas.openxmlformats.org/drawingml/2006/main" prst="roundRect">
            <a:avLst>
              <a:gd name="adj" fmla="val 3226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7abdfab3ee4043">
            <a:extLst>
              <a:ext uri="{96DAC541-7B7A-43D3-8B79-37D633B846F1}">
                <asvg:svgBlip xmlns:asvg="http://schemas.microsoft.com/office/drawing/2016/SVG/main" r:embed="Re752ba42b7c24f2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2857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8FC8D7-A04B-4403-ADD5-11C3C161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DC638B-956D-46BB-AD2F-57D76DBB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(positivo)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8B6F1D-A71E-42F1-BEF4-511647BE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7995" y="4705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2A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B8E99F-F3A7-42C6-966F-83965D8D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667250"/>
            <a:ext cx="20078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do mês (negativo)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B1ADCD-B23C-4568-8868-FDE8FFF03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990" y="4743450"/>
            <a:ext cx="171450" cy="285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D3F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9A73E-E216-416E-BC9B-FCB70522E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2115" y="4667250"/>
            <a:ext cx="2514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Saldo acumulado — eixo direito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EF0670-E8C1-4E01-B511-8F0545347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E939C"/>
                </a:solidFill>
              </a:defRPr>
            </a:pPr>
            <a:r>
              <a:rPr sz="863">
                <a:solidFill>
                  <a:srgbClr val="7E939C"/>
                </a:solidFill>
              </a:rPr>
              <a:t>Colunas: saldo do mês (eixo esquerdo). Linha: saldo acumulado (eixo direito).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892873-ADC2-40D5-B039-81B7E19A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053EFA-4282-4FAF-B6F0-CC042853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MELHOR MÊS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B74438-A807-4177-91DF-A413BF3BA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0874A"/>
                </a:solidFill>
              </a:defRPr>
            </a:pPr>
            <a:r>
              <a:rPr sz="1350" b="1">
                <a:solidFill>
                  <a:srgbClr val="00874A"/>
                </a:solidFill>
              </a:rPr>
              <a:t>dez de 28 · R$ 13,3 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82A22C-D6C8-4339-8B30-DCC6D6C88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PIOR MÊS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412882-0D0F-4BE6-B497-B447B49D5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6383F"/>
                </a:solidFill>
              </a:defRPr>
            </a:pPr>
            <a:r>
              <a:rPr sz="1350" b="1">
                <a:solidFill>
                  <a:srgbClr val="26383F"/>
                </a:solidFill>
              </a:rPr>
              <a:t>dez de 25 · R$ 940,3 mil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AD6925-3DEC-4AA4-812E-0B0241439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486400"/>
            <a:ext cx="346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7E939C"/>
                </a:solidFill>
              </a:defRPr>
            </a:pPr>
            <a:r>
              <a:rPr sz="825" b="1">
                <a:solidFill>
                  <a:srgbClr val="7E939C"/>
                </a:solidFill>
              </a:rPr>
              <a:t>COMPETÊNCIAS NO RECORTE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AA91B3-F09D-4A06-894D-9309F9F44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676900"/>
            <a:ext cx="346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B1A20"/>
                </a:solidFill>
              </a:defRPr>
            </a:pPr>
            <a:r>
              <a:rPr sz="1350" b="1">
                <a:solidFill>
                  <a:srgbClr val="0B1A20"/>
                </a:solidFill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91624354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5A61129-A0C1-4B35-992A-F9A478901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32845E-8BC1-48CA-A033-6EAEE86C6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D1602B-FE76-4945-8ABD-FA400AC55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PROJEÇÃO POR CLIENTE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A574C6-0EC9-4542-8635-B5CEAED66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08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9C67D7-9688-4041-A8A8-F81DB107B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78e2aa10354bf2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699A62-940A-4B57-8E1B-9ED1739A7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E6E997-BA10-4750-A4A8-49C68E83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6C74B6-A6D3-4E61-B45D-3C9BA1E71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Quem compõe o faturamento projetado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8FE0DE-9463-48AA-B3C9-9E056E6C5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A composição mensal reflete o cronograma contratual e a evolução prevista da carteira de clientes.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255707-0116-4356-A947-229EB83D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10972800" cy="4457700"/>
          </a:xfrm>
          <a:prstGeom xmlns:a="http://schemas.openxmlformats.org/drawingml/2006/main" prst="roundRect">
            <a:avLst>
              <a:gd name="adj" fmla="val 2564"/>
            </a:avLst>
          </a:prstGeom>
          <a:gradFill xmlns:a="http://schemas.openxmlformats.org/drawingml/2006/main">
            <a:gsLst>
              <a:gs pos="0">
                <a:srgbClr val="F6FAFB"/>
              </a:gs>
              <a:gs pos="100000">
                <a:srgbClr val="FFFFFF"/>
              </a:gs>
            </a:gsLst>
            <a:lin/>
          </a:gradFill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00767b809c4962">
            <a:extLst>
              <a:ext uri="{96DAC541-7B7A-43D3-8B79-37D633B846F1}">
                <asvg:svgBlip xmlns:asvg="http://schemas.microsoft.com/office/drawing/2016/SVG/main" r:embed="Ra2fffd0be02e42c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42950" y="1752600"/>
            <a:ext cx="10706100" cy="379095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5675AF-163A-46E2-8351-85E48C818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35D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0140C0-F3C6-43F1-89AD-01DAE9375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600700"/>
            <a:ext cx="121158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AXIA Energia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00E75E-88CF-41C9-94AE-D3954879D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17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5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E57933-FDF6-470E-949D-55314A13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9830" y="5600700"/>
            <a:ext cx="9944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Petrobras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4F32ED-BD57-4901-B5E9-B2239BEF3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24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600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D2D692-09E5-46B8-A23C-8A17B3ED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2365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Enel Green Power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65D904-F3DE-431D-93F1-6587E1249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5F94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58F260-BC21-4C82-9B2E-610A0A730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1630" y="5600700"/>
            <a:ext cx="15011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Belém Bioenergia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32E68FC-8029-4CAE-B327-0E6F56B0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277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34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BE1577-4A31-43E6-BCCD-1126A1EE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895" y="560070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Flessak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B99770-9696-4F3A-92C0-F7BBB0C1E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58E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72661A-183B-40C6-89D9-31CEBD22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60070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CEMIG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E8AB7F4-C1A8-42E7-8C20-3F9A7B8E8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63880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44D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B9869C-E7D9-44A0-8D6D-5ED6AEA3E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600700"/>
            <a:ext cx="77724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Harbin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D63221-D7A4-4045-AA4D-3E870729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70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3BC36A-A6E8-4592-8AFE-79275C939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810250"/>
            <a:ext cx="128397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ArcelorMittal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A338292-C073-4C9D-B7B3-9B79467AD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09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6E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08C3A0-F24F-4055-BCC2-647B2F02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2220" y="5810250"/>
            <a:ext cx="84963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Andritz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67AE96-2A72-4C26-959E-927B492CC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164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1008AE-E04C-4422-B360-1F1AFF53C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810250"/>
            <a:ext cx="704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Âmbar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95A9EB8-7BC0-4EC3-B7BF-03FEE3189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848350"/>
            <a:ext cx="1714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7F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3B368DB-C5EE-4343-88E4-D7180986B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810250"/>
            <a:ext cx="135636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7078"/>
                </a:solidFill>
              </a:defRPr>
            </a:pPr>
            <a:r>
              <a:rPr sz="975">
                <a:solidFill>
                  <a:srgbClr val="5B7078"/>
                </a:solidFill>
              </a:rPr>
              <a:t>Hydro Alunorte</a:t>
            </a:r>
          </a:p>
        </p:txBody>
      </p:sp>
    </p:spTree>
    <p:extLst>
      <p:ext uri="{BB962C8B-B14F-4D97-AF65-F5344CB8AC3E}">
        <p14:creationId xmlns:p14="http://schemas.microsoft.com/office/powerpoint/2010/main" val="95734072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AA96B7CD-B2F3-4BDE-8DE1-D0240A8CB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89B259-2B8D-4293-95D0-11C14FA4D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9B4410-B01D-456C-86F9-4AF6742C7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5FFA69-BAA6-4A35-83CF-922C5766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09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CFA9C31-F445-4315-A4A6-DF3508F01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604ba4b5fa45da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DACE01-201B-4664-B956-B9A47D9A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100ACB-5FD9-4CAD-829E-F50F28084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DAE6A6-8BD1-41D0-AFFA-95762315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Todos os valores por trás dos gráficos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30CAEE-EFF5-4D24-8528-919AD7D6D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Dados informados do sistema na Projeção Financeira. As competências projetadas seguem na sequência cronológica, destacadas em cor.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4C186A-ED6E-4AAA-96D6-D82DDC2C2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A88F44-BF5A-4CF7-A09F-5EE9D2F9E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162197-816E-4D96-99F2-4CC9C6BF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169DFA-75E3-4B7F-801E-BC4B5CD5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38BDCD-3AB8-4A1F-864D-ECD39FDE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214EF5-59FE-4CD8-B2B4-E357F22E7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591F76-553C-456A-A984-931DEAD8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4FF43A-565B-4227-B643-3C9FF5250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DD1CC6-7FDC-4D41-BD39-96F0AA88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A7826F-9757-4665-9755-B6E6618E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R$ 6.789.213,81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013C25-1EE0-43E2-9FDC-74BC03D82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R$ 890.704,19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57E0DB-DA5B-4752-A9FF-CBF906C5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R$ 5.898.509,62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40E180-CC96-471F-9AD9-03AA166F1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R$ 5.898.509,62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520358-49D9-4D59-A790-BD51971CE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FF487F-CE91-4321-9B1F-87822482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062A7E-BCAB-4C82-A188-A59F14C80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F83167-3198-4982-8653-37026CA61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R$ 3.817.372,69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ADEB6B-E243-4D27-BBFF-3B6469514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R$ 1.020.426,58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E3F8B3-9DCE-4814-A910-646190C8D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R$ 2.796.946,11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F62698-4B1A-417F-AC83-C1E85A0A9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R$ 8.695.455,73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347C34F-76EB-4B0C-BED1-0FA851891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DCBEC0-D902-4E75-80AB-5AAADDDC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C56D1E8-AF6E-49E4-8B83-CDAE8E1C3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R$ 4.732.792,38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437A120-F7AE-4F31-9E9A-E2861E386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R$ 1.185.267,32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F179AB-0E95-48A6-A348-23954856F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R$ 3.547.525,06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53E081-F56E-4789-91FA-6AEEC1451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R$ 12.242.980,79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863F312-8B87-45FF-9DBC-6DA8A987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C48A667-2B81-48E3-8159-66E762B1E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60B018B-2D04-4E31-BB3D-AA9C13C52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EA80133-CC8C-463A-8D37-E5BEE5B5F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R$ 7.231.990,50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3BA3BEF-277B-4F28-8D7E-0570CA98E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R$ 1.174.044,87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C92507E-2AB9-4291-A184-CD694BF0A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R$ 6.057.945,63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FFD2011-767D-44D2-B57F-D0DF63715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R$ 18.300.926,42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B97E2E4-EF2C-40FE-A95D-CAAE7F196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D3CF9DC-D04F-4D53-83BB-B47801E75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24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D4A0B06-E07A-488B-93E8-74D996C9D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R$ 5.506.503,71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B5BF1E1-3187-4120-93EB-5BE93AE5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R$ 1.091.167,43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5E0A832-9DC8-427E-81F9-B822B36B3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R$ 4.415.336,28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E5A2310-EA98-4FB2-A95B-8A0626946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R$ 22.716.262,70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B3C3041-BE0E-4ED4-B6BB-22570A010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9229FFE-9BE2-4370-820A-2BAF9742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AEA07FF-8DA7-41AA-A846-B92BCC99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24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919AE7F-EFBC-4F07-94BA-D2E4F2E91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R$ 4.380.902,39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DD6CFFB-FC6B-4F66-B7BD-08D8A9172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R$ 1.133.609,80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840E975-726B-4A5F-8A73-3094BF3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R$ 3.247.292,59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866B95C-BE9A-427F-9418-F25D39FFA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R$ 25.963.555,29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FF1D2D7-38E9-4D14-AA4A-907C3866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D83C57D-FAE6-4C4E-9093-57489E885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E0A4477-08BC-4FC8-8F89-087608B5C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R$ 6.510.910,49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177AB64-57C4-40F7-852A-4AB44B88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R$ 1.113.424,01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4762C16-4F55-4671-B6B3-E97C2454B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R$ 5.397.486,48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A727BBA-DB4B-4604-BC98-B355B2328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R$ 31.361.041,77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5E49A0B-5029-4FC8-A834-DEF79883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DE8C619-4883-49E5-9F97-2CC72F31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118B3F2-821F-4E26-A099-58BFC3439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24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B787E4B-842D-4E06-AC35-24A0E595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R$ 5.421.686,74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A670ED1-A2E2-4453-8271-EBFDC595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R$ 1.040.357,05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45F4668-A5F8-40C1-9FA2-08406154A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R$ 4.381.329,69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1E290BE-DF5A-45D5-82D9-2B3365E69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R$ 35.742.371,46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375860C-87D0-40C9-B847-9B84506C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544EFC4-F6D8-4A14-8040-35B74A3D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3AC94E8-28A3-445F-A4A1-B81DF1BF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R$ 5.682.241,80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37A6C8F-6C9C-4159-B8BF-D5ADD866D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R$ 859.008,24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A291EF2-4570-4477-BAEC-54CB6ADE2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R$ 4.823.233,56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F2A0220F-F374-4F2D-A5CE-BE6BDBC4C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R$ 40.565.605,02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15A0D50-473E-44EF-BA85-41E536D51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E68CCE1-D1D3-411C-80DD-33DAFD3FE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9B3D82A-8DB4-4E87-9FE3-CD41B05B2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24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501C6A4-883F-457C-B42E-69D736B6C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R$ 8.541.056,13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759D8A9-5485-426D-B6E8-6AE695CF7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R$ 897.448,27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B5D0DF12-AC32-4A52-AC6F-2E2A60868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R$ 7.643.607,86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F1510D9-AD8F-402E-8C49-887F4C1EE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R$ 48.209.212,88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FA36CF0-38C6-48E1-AFF8-146861DAE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D849AF5A-5EF3-468D-9DA7-F20E2F65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24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217635D-5A84-4363-82BE-7147454FF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R$ 7.608.873,04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13DE263-A14A-4157-88EA-DC786EFDE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R$ 1.021.448,72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5EE7D0B-A991-476D-920D-B4DD2D96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R$ 6.587.424,32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6608ADB-7415-4FD6-89C3-47ADBCC70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R$ 54.796.637,20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43437938-1B71-4EA2-B6DA-C77831FD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7D26889-9B6B-4FE6-8DB0-69B9E6445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E7C7672-07E9-4AFE-AAFD-39255F698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24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0C4C16C-488E-41BE-821A-B200A2D9A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R$ 12.158.119,93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2B495A26-06BB-4916-886A-DB14DEA08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R$ 953.973,58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A7A261B-23A7-47F8-A8C4-12A5BCF4F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R$ 11.204.146,35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9C9A84C-9173-4D15-946B-8094D331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R$ 66.000.783,55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F003431-D780-48AD-86A2-A030A5DD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ADD8A474-E72F-47EF-B487-91221CC62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25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9478F8E-4575-4A03-837F-098AFF227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R$ 6.481.505,36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51F8A56C-6563-4EFD-B79A-78BA24E12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R$ 1.331.022,91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C50493A-3E9F-4F1A-A9C8-1C5C8BF5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R$ 5.150.482,45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5D40C861-CABC-4005-93AF-C63CEDB51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R$ 71.151.266,00</a:t>
            </a:r>
          </a:p>
        </p:txBody>
      </p:sp>
    </p:spTree>
    <p:extLst>
      <p:ext uri="{BB962C8B-B14F-4D97-AF65-F5344CB8AC3E}">
        <p14:creationId xmlns:p14="http://schemas.microsoft.com/office/powerpoint/2010/main" val="123271412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492694AD-D50E-4F6F-B805-DEE50A71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44796D-32B4-401D-9E04-AB09F689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C09A91-1206-436D-AEDB-D521A8960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478166-3665-4C5A-A151-94023626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10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E7BD9F-9FAD-4B2D-982A-B117B631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c0290f48e2411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161154-AF5D-4951-BF80-45D4B5AB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4137BF-36F8-4838-8C97-A5728CBFD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BEE69C-98A2-4DE9-989F-0EF208A36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F5E241-0222-46CF-9F6C-3939FA5EE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2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98762D-85CA-41D2-9F0E-BDB297AC1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E9D2BD-407F-4419-BC1B-4FAE501BD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585315-B426-4142-BF1F-EEDC78339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0DA1F4-76F1-469D-8B1A-AE7028175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7393B5-1E91-462B-B4FC-562B58A76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5EE7FE-58B6-4551-889D-E45299842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29BDA0-6622-45EE-8F3D-0BC4471FD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2D5359-BC65-4F57-86C2-954DD0E5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5EF168-76B4-4501-BA2A-104D458A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7A3009-B904-4B68-A24E-3DF47C4D6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75BF59-6DBF-430A-A484-F795062DF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R$ 7.218.837,49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85BBB4-3B03-4775-9B61-12A4F8C67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R$ 1.310.101,05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50914C9-E5D1-493C-BE2B-ED9EDA1AA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R$ 5.908.736,44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46EB66-50C9-499D-83ED-2AAF935CE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R$ 77.060.002,44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D626F9-2B9B-401F-AAE6-F98C7E19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244BBE-E353-4795-8B09-0BE47DFCD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448F6B-9511-4150-AB47-5AD11D9A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R$ 7.554.012,04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E75AD3-3D64-467C-9C53-31661D17D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R$ 1.354.501,90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FE13D4-57DA-408D-AB15-543C704FD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R$ 6.199.510,14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C37A05-ECB6-4AF1-96F3-35AC5D7BF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R$ 83.259.512,58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92A9A4-8FE1-4F0C-A546-68EC17FC9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263AA3-F95C-46A3-BD5A-9F9A4795A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98A2E3-C000-4D91-A99C-74CFC6931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FA1D346-8700-44B3-86E3-6DB359F58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R$ 4.739.459,41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652B82-EAB3-44C2-83BF-DFC5C86BC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R$ 1.531.002,29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556890C-7136-481D-B1EE-B25E0F285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R$ 3.208.457,12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9617B7-9B56-4399-8AD2-321F93BB3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R$ 86.467.969,70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E2B6D8-2E09-472A-9888-D00B6879D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4810CCA-0C30-46F3-8946-35405E68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8085ED9-8D09-436F-A515-2EC6A5653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R$ 6.235.104,42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E3FCEEE-F231-415D-8B1B-D56B02AEC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R$ 1.761.893,50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C9F1F07-579C-4D1F-8A5A-5C99C7915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R$ 4.473.210,92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3A8E603-213D-4407-AF63-ECB299D14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R$ 90.941.180,62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9D5F5E5-1FC5-459E-B3FD-265885333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3FAB215-3758-4E3B-A0CB-68D288A3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86AC32B-759F-43B0-B9BB-D8EBF2057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50E10E6-BFD8-4727-AE32-E51AC7E9B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R$ 3.511.692,47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D9DB318-4FD3-4A30-8D3F-B363C7F25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R$ 1.523.207,92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650B8E2-3C45-453C-AAA4-6D874996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R$ 1.988.484,55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6086218-CC06-465F-AFE6-4C2421470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R$ 92.929.665,17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C424169-3645-4B01-9CC6-AEAACF75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2710681-F211-4C26-B4D3-D1BAF3F84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25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2F81B61-0458-4617-A8FA-33F2A512D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R$ 3.267.455,46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1C4B7D1C-2FA9-452A-9489-C229C8D3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R$ 1.574.251,96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B264295-5932-423B-AAEF-8F005AF6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R$ 1.693.203,50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9EAD169-7992-4011-A87F-136E35C19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R$ 94.622.868,67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72A4043-39EA-4EF5-BAF9-D3518C039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C6AFCDE-FF17-4511-AF1E-847AC90D8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4F6AD8F-5B02-47C5-A17A-9C305B76F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25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5FDD881-089E-45DA-95CF-9D6571020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R$ 4.042.135,73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5BBE4A0-46A9-4969-A81B-4A5402F29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R$ 1.597.750,18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BB4735B-5110-49BB-8C2F-8AEDD41E8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R$ 2.444.385,55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927573E-4CA0-491C-9092-37EC54251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R$ 97.067.254,22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7FDF6E1-989B-408E-AD57-84F7B1DE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C7CF9D1-5AAF-438A-BAA8-335F78A1F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25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11BB6CA-CC56-49E6-AA7B-3D775358E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R$ 5.879.203,03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62AAE239-F116-443D-BDD9-D6F9721BE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R$ 1.644.127,33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A065901-FBEA-481F-ADA3-2986EDBCC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R$ 4.235.075,70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2104916-B6CD-4A58-A4AC-7CA5F6765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R$ 101.302.329,92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596D2EE-61E4-4778-9293-6AED5597D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1101965-C79F-4CBF-8097-E77D4E502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B70063F-6E8C-4185-A877-2EF93C121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25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503F067-E22B-4AF4-A4BC-C763C3B96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R$ 4.431.996,15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79DA28F8-8442-4926-A83C-6A4410DA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R$ 1.728.097,81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585D742-26AA-4AB2-B6C2-C56F1B96E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R$ 2.703.898,34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B725E8A-4B67-4B4D-A6F5-F22C1130E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R$ 104.006.228,26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59C7AB4C-2883-4206-950F-FAE76B3C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F63C9BB5-CAC8-4DCF-B26A-1F61D02C5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25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860480B-CAB6-4AB3-8A62-5CDA017E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R$ 10.858.257,81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FE99639-A33D-4413-8CC8-F8B1D4FEE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R$ 1.877.160,31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159DADF-1C23-4585-BAD5-41DB816F8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R$ 8.981.097,50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5F3B5C0-E517-4350-BD1E-9F3ADD1A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R$ 112.987.325,76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BD3C0B3-B672-4BF1-A6C7-A58AC7292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27A5EBD-4999-4EE7-BCFF-BE83C0EBE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77D30F4-61FE-4302-8ED6-3DE1F37CE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1B568FBA-C7D3-436D-82C0-B095BF03A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R$ 2.904.942,16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E357A19-D156-4DF4-BBC4-8BF70E0BE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R$ 1.964.681,62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1973C208-2F5A-446E-8FFF-D8D4C6238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R$ 940.260,54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BD86354-6DA2-462B-AB82-71433305F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R$ 113.927.586,30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FB895515-F261-4FEF-9088-15D32326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30259833-2DF3-4165-8FEF-DDD7044B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26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15868875-9535-4BFA-8914-094ACF86C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R$ 10.366.331,04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E33C217-26A5-4424-8030-A0BBDED3D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R$ 3.208.000,00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4A74A30-C5D7-41A5-B267-6FA87AE5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R$ 7.158.331,04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3FB47C5-A7CB-423D-8D9F-A53AB5496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R$ 121.085.917,34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D99944F-260C-41AE-8B20-1D66EE361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4DDD9D3B-B5CF-4CFC-8732-6ABF2C64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D0E0AE3-1119-4DB2-9EDA-38CF548C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26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0B811E8E-6115-4DD3-91B1-8B21AB445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R$ 4.700.897,81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6AEDEBDD-15E1-4DB2-9521-167D52DDC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R$ 3.389.000,00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D3E2A1C-D4BD-4F3B-AA7E-20F9A52D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R$ 1.311.897,81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8A94C0B7-BB14-4D4E-A4C3-5D253D00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R$ 122.397.815,15</a:t>
            </a:r>
          </a:p>
        </p:txBody>
      </p:sp>
    </p:spTree>
    <p:extLst>
      <p:ext uri="{BB962C8B-B14F-4D97-AF65-F5344CB8AC3E}">
        <p14:creationId xmlns:p14="http://schemas.microsoft.com/office/powerpoint/2010/main" val="64762231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5355BB50-3579-4172-81E0-FEAA1E708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8F28E3-D232-45A5-9E18-154C32E3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15F7DB-990A-43AD-9DC3-30EC26570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F6C2CF-1F61-443A-ADC0-FF00B908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11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18DEA9-953A-41B5-980B-E05B53E05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c6119c3c4c423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DB82AC-24E8-476B-813F-59D1E5CB4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67D66A-6153-4715-B947-15A8CAF4F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0A7213-2C7F-4F74-AAF4-B721D64D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581D01-797E-49C7-A102-03CCB6573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3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DDA1CE-1959-4AB7-9284-85B22CE50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C3C2A4-D71A-4258-AEA9-312617775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5460C3-8724-4541-90C2-EF3E069AC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ED2597-DE87-44EE-BA81-858F77ECD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80D609-CF0D-42BA-8534-8671C1029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FF82C0-1056-401A-8106-300C5E9B6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9E62D2-E459-440C-9910-539101E37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3F36FE-690B-46A4-B941-8B3920414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FE3F51-AEBA-4B74-BFCA-CDE050EB1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65F0C7-E325-425D-8C10-4BFEC585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R$ 5.650.881,81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1FE55D-E2A2-46B9-88FF-CC081B48B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R$ 3.266.000,00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1527F6-0885-4F7E-A216-5D83558BD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R$ 2.384.881,81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A3E536-E57F-4C64-9A8E-D79A9400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R$ 124.782.696,96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B20D6B-E133-4934-876A-9A0062A4B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D67870-3B0C-4D5E-94F3-EC0E5A3B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35BFB1-E383-4397-B4DB-042C3A743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E06FCF-5DFD-4108-877D-BA21BE28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R$ 5.897.524,13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F44240-2F7A-4FB8-B5BB-F4F74EAFE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R$ 3.360.000,00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803B5AC-D9BC-43B0-9C0D-BFCF6C86B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R$ 2.537.524,13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ABB3DD-E4E9-42A2-BAFA-F22954A56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R$ 127.320.221,09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C4C76C-6819-4292-B21C-1C6722F52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6D830DB-DE53-45EB-B431-35C7C746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7B04D3D-8DEB-4038-91D2-D1663E186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R$ 7.355.196,27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20762F4-8F52-4745-9C51-1964DC838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R$ 2.953.000,00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5F73CE1-1152-41D6-A8A7-7B7DA3E0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R$ 4.402.196,27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7D17B8F-6F03-47B5-8A44-9F956963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R$ 131.722.417,36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788D074-DE6F-4B68-9D32-B177BC92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2DC3992-2DF8-409B-B506-C5E029B1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6A8E3A5-9822-47F9-BB56-46BB15730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87AE46E-31DF-4953-9895-381D8383E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R$ 7.178.434,69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1D32438-AC18-4F53-A17A-B45F1D379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R$ 3.108.000,00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B9B9C5A-E80A-46BF-88F7-D1D483174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R$ 4.070.434,69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BBD9FE1-B549-4D81-86A5-468B1905B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R$ 135.792.852,05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F2ADAB6-C529-4E2B-B8C6-1C64F3AE9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BCFC1CE-CDF9-4D31-B880-EAABC06D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4F7ADD3-3A20-4404-9139-2BB02EFC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R$ 4.978.967,55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B51DC1-00EC-4CD5-AB5F-0A80241E6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—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1DF2D82-3A45-4AE3-8340-4A165EDA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R$ 4.978.967,55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E8B9918-17FD-4663-AD2A-DA286B2A4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R$ 140.771.819,60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F341CC4-EA1A-4637-85D8-74D5CCF42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24263"/>
            <a:ext cx="10801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825" b="1">
                <a:solidFill>
                  <a:srgbClr val="1D4ED8"/>
                </a:solidFill>
              </a:defRPr>
            </a:pPr>
            <a:r>
              <a:rPr sz="825" b="1">
                <a:solidFill>
                  <a:srgbClr val="1D4ED8"/>
                </a:solidFill>
              </a:rPr>
              <a:t>PROJEÇÃO — COMPETÊNCIAS AINDA NÃO FECHADAS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04735A8-9FB3-409B-B146-DE9B0E26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D7292C7-0C21-42A9-A597-9D7BF82B4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D205490-B9CC-4933-AC79-A9A524288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4C0DE1F-4A3A-4A2E-A394-CAC4D840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26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69422B8-D1CF-4A82-9D13-91D15DD3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R$ 11.459.330,09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A050366-0886-483C-A72A-CF3102C43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R$ 1.512.430,00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2D69893-6AEF-4C90-8E45-93F0BDBAE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R$ 9.946.900,09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62A8E0F-2546-49A9-B451-41E069777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R$ 150.718.719,69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2C24F03-C7CA-4C47-8D48-A64B3040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C7EE0B2-2647-4418-8098-1881437E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26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CB086CD-6B2E-495C-AF73-03A5884BF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R$ 5.617.810,24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0046AC2-486E-49A6-A6D0-2010A316F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R$ 1.387.850,00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F545452-B0CD-4223-8C40-0EE41E2A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R$ 4.229.960,24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52FC1FC-A7E7-4240-9FEA-DFC228F09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R$ 154.948.679,93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70A1364-FD5E-477B-A6B1-251AED6C7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25D00D3-09C6-4274-AFFA-AD20D18B2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5CC4912-07F8-46D4-BDD9-485A706E5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5FBD311-26B6-4FC6-91E3-A4B3C241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04639D9-0C54-4EB8-89B4-3CBF2338D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R$ 1.634.720,00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90F9F35-21CE-4B81-B10A-00ADCFB6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R$ 8.365.280,00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079D853-E0B5-418E-93D6-D49AA56C6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R$ 163.313.959,93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DD96480E-AA98-457A-ADF3-F6CD7879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C2EDC73A-2650-4D04-800A-A8E9C45B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26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11B7F635-8E60-49D0-B4B3-1A6DA2ED9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R$ 10.725.000,00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534BE0F-2444-4B47-BE8B-D643172FE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R$ 1.728.940,00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CBA72CD-F36B-40CD-98A3-818C1D5D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R$ 8.996.060,00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F9FA5D2A-4D3B-426C-A5D3-69DAB2641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R$ 172.310.019,93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AB5BEF7-4C4B-463C-A063-108988539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8E41E3B-ABAA-4332-A877-AF405461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17C46FDD-2A1F-406C-9708-05C452FDC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26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E94A6C23-79A5-41D6-B16E-219BDA676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R$ 10.502.461,80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1BD71EE0-E076-41AF-8F94-E6C43123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R$ 1.596.380,00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904152C5-EA8E-4B87-84C0-E99F3585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R$ 8.906.081,80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B0CDF16-A031-4B46-8484-443783DE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R$ 181.216.101,73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A279A5B-EF4E-4B7A-A691-0F4DED2AA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2E68D9D-1BDE-4535-A3C7-4EB58943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27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5852666-61F4-4684-91D9-91F33990F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R$ 12.200.000,00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5AF16CC-49EC-4612-A090-D86A02B1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R$ 1.682.510,00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33E201C-F0C5-40FC-9E8A-A1F224AD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R$ 10.517.490,00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16774503-6F76-40A2-AA32-0162E539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R$ 191.733.591,73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B292B42-24A4-4445-A064-CF9858484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AF6FC81-1173-4023-91C7-DCFCEC4E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27B3423-2960-4BFB-990D-0423F9BC6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32449BD5-1C94-4CAC-8F49-D6132E26F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R$ 11.800.000,00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A51876D9-CA02-4510-A2ED-9598F3F5E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R$ 1.574.260,00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DA5F23E-2569-49D0-AA6B-B2ACDEBB0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R$ 10.225.740,00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D38F7DFB-4FB9-4B37-9E31-4BC438AA3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R$ 201.959.331,73</a:t>
            </a:r>
          </a:p>
        </p:txBody>
      </p:sp>
    </p:spTree>
    <p:extLst>
      <p:ext uri="{BB962C8B-B14F-4D97-AF65-F5344CB8AC3E}">
        <p14:creationId xmlns:p14="http://schemas.microsoft.com/office/powerpoint/2010/main" val="145040139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8B427516-D9F5-44A4-8243-05C73211F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2099F8-EFC7-4C8B-A480-DC5DB20F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198054-C52B-412A-9415-0A8EFA413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A2B82C-4531-49EB-B241-6C005DD34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12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88FC64-4482-4596-83AA-F4F1AEF9D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de66f2eef74921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A87D17-63E0-45BD-B663-B7605289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18EDEF-C9EC-45AD-9079-038982FE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4DFB85-B7CC-4DA8-867B-E3F5A70C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2551AB-5EE9-40A3-8F21-EC8DFE3C6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4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5F7229-F40C-4A9C-8A96-011246AF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1FA3B5-E66F-42DC-A85C-C5B828DF4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F5A75A-8F2C-4211-AFA2-99EF56B7F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9C80F1-2314-44E0-95CF-E432281A8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60A148-619D-45C4-84AF-DE69642B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F06296-B648-4C3F-B64D-DB97A0699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36FCD7-9B9D-49EB-90A6-2CB81A297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4AD1CA-E300-48D1-93EE-00448ADDD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EF8EFB-DB1B-415A-881E-EFC54226F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22739B-68D3-4D80-9485-64597C69A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R$ 11.200.000,00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78725D-329F-4040-8B51-E2D435C1F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R$ 1.493.870,00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C542FA-CFC8-4E91-8A63-88677286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R$ 9.706.130,00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6FB499-7F85-44FB-9163-AEDC95E2D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R$ 211.665.461,73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60944F-0A8A-4E49-97FE-DB2588BE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050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DD2044-7C8C-4A48-BE0A-5FAA019E1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BED77E-1E6E-414A-A2E9-B03718460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33D9E14-7A4D-4C87-9887-0D586CF15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D0A375-5815-4BD2-ACD5-EC89CC8B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R$ 1.421.650,00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E5228D3-08F5-4A00-9148-A15198279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R$ 9.078.350,00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A882AA-5E48-40EE-B7EE-21E99DDC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R$ 220.743.811,73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433CC86-D7EB-47E1-BE4D-429C86DF3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7000C48-095E-471A-9738-85EF97FCC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27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0DC008D-A3F9-4867-BF67-51334C725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R$ 10.100.000,00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5FF1E1-A95C-4C68-AD78-B080F0E4E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R$ 1.356.420,00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9CD725-2268-4F61-ACED-77131681B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R$ 8.743.580,00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95D015F-3D1C-47E2-B3A1-34B0425F0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R$ 229.487.391,73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6B54BB1-C15E-4080-8B5A-95D88BBD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1D9F44D-FF82-49B2-BF5B-5BC630A0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B2026EB-7D87-4631-BEC0-D8A51658B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27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37115A0-4799-4963-AC4E-F738AEE6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043333A-9A9C-4845-AF18-0F3ED65E5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R$ 1.318.760,00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1B4C42-81E2-427D-BD9E-75637D638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R$ 8.181.240,00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56A6544-8BA6-483D-9F32-20C024420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R$ 237.668.631,73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D5FD4AE-A4E3-424C-B49B-4306F6CCE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8A2CD31-A4EF-4557-BE31-657D34EF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27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6415141-8AED-409E-A7CA-AE8F240E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R$ 9.200.000,00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590506C-5A0F-456B-BF2F-CC84D7C43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R$ 1.342.590,00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DC8CAE1-2414-472B-84B3-B0186AF50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R$ 7.857.410,00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67DCEBB-47BE-4113-8F61-3B453958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R$ 245.526.041,73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3E2EE78-D4E0-46C4-9585-B6C89E530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432BC8E-891E-44B6-90BB-23EFB270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3B91286-95D7-4920-8100-7E12E2572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27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5239F51-6EFE-4834-851D-27D0BF62C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R$ 9.600.000,00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33CB8E6-D56F-40F2-84E6-9AF2F37C4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R$ 1.397.840,00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AAD2DAF-0400-489E-9E68-46476959C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R$ 8.202.160,00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2C7E824-3FDF-4EEC-B9E0-7A580B301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R$ 253.728.201,73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8F0D494-47C2-4F8D-9664-184CEEBB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07583E9-155F-4D58-9423-DDA014BF3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27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D54B9DB-2510-46D7-AE49-0EFF749BA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R$ 10.500.000,00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ADD4CB7-9EA9-4FA9-85B1-216A9670F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R$ 1.468.230,00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B2FDEC6-C34A-4AA0-82F2-74AF6EBA1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R$ 9.031.770,00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A5F48E1-946D-4A30-A7C0-4341E79C8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R$ 262.759.971,73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1407CDD-6C19-46F9-9664-64493BAA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5AE301F-7C5F-4D4B-98A2-D1AABDF20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5AD805B7-BE77-4E4E-92F5-C51D911A5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59BEA8A-07D0-4651-8DE6-382E1595A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177AE07-6A3B-461C-AF54-5E23C178D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R$ 1.559.670,00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4EE2F09-A7F0-4CAA-A756-5B2359DD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R$ 9.940.330,00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A000E0D-5B05-429E-AA99-7300EEDAA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R$ 272.700.301,73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4DB9D9F-0A01-48F7-B811-9C87BAA78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CF0F7A9-DD17-4835-9F41-BEC8A20D1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27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37AF1E0-B3C3-4AE2-9351-DE30083A1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R$ 12.800.000,00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579DC06-61C5-4CDC-998D-2D068ECC0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R$ 1.671.480,00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368F86BB-83AB-4263-85FB-BC05E07E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R$ 11.128.520,00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9CCA6FC-B47E-4A1C-8631-1C390AB7F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R$ 283.828.821,73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20D4115-5462-44C0-9B86-4A111C768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E7D8B04-257A-4C74-A879-1F18546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24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5CD46EC-A64F-4838-8989-2138C233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27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590FC5A-5F43-4153-911C-F644F5793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R$ 14.050.000,00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3156B86-F8B7-417A-9A6B-5412BE61E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R$ 1.739.250,00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2ED530E5-9AF6-4356-BC90-8274FC80F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R$ 12.310.750,00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25CC9572-E5AD-4572-915F-C0EF4F733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R$ 296.139.571,73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435F3B8-1ADC-4BA0-BB71-6343A20AD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7562C0B-3A8D-48FF-A417-2DD810121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jan de 28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BF954B32-AD0C-4A5D-A0EC-7751E1FE5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R$ 13.750.000,00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53D4661-B374-4BFD-A755-080D76579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R$ 1.696.840,00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ACEC2F6-BC4D-4C19-9408-5E6912382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R$ 12.053.160,00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DD1A886-1749-488D-807D-7EAFB6967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R$ 308.192.731,73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90CCB176-8CE1-4A82-A995-B94A5B7BC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EF379DD1-FABE-497C-A03F-19AB6CC89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3A8E897-4E90-4275-9212-2809CB3D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fev de 28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2791FD81-33F0-40DE-BF36-0AC6C6714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R$ 13.000.000,00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31E6D44-3168-4C81-A47A-06E6F1DEB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R$ 1.612.370,00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5A03B94-DCA8-47F1-AFC7-4896FB118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R$ 11.387.630,00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D414AE83-9F71-44A8-A5AB-247919108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R$ 319.580.361,73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C6C63AC-E776-4726-A3CC-0C2DBFB59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333400A-F47B-4B3D-884B-15159F8FB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150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mar de 28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03779BF-6F6E-4A7E-86E5-DC76FB95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R$ 12.300.000,00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5332F94E-52A1-4D3E-A2BA-F010DA7F9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8150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R$ 1.529.680,00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00F5D9FE-BDAC-4062-B653-95344CE99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R$ 10.770.320,00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0A30BE8-13C2-4B24-B90B-43C38FC7D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8150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R$ 330.350.681,73</a:t>
            </a:r>
          </a:p>
        </p:txBody>
      </p:sp>
    </p:spTree>
    <p:extLst>
      <p:ext uri="{BB962C8B-B14F-4D97-AF65-F5344CB8AC3E}">
        <p14:creationId xmlns:p14="http://schemas.microsoft.com/office/powerpoint/2010/main" val="120366731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376AB615-5256-41B4-A584-98EC21A9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B11008-20B9-4207-8B12-BE9BFE041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F61B83-FA7A-4A4F-AF29-C886C8DF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BASE MENSAL INFORMADA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821A85-EEDF-4183-AC5A-8D1F65D88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13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75EA44-E35B-48F2-B3C0-71EDDBCE0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a202480a864e9e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405D40-7241-4684-9FA6-6EDA2CDC5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8ACDF3-B351-4C53-9C53-ACF9340BB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757BBE-1300-4E33-B4F4-F5021B679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Base mensal informada — continuação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740A73-77AB-4B39-B6CE-9707BE03B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Continuação da base: folha 5 de 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63F07B-D9FB-4270-8F63-BDCC1AF38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8D2EA1-C14E-4241-8780-6660BAAB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B98946-9E35-41FE-8140-0EB033CBC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38313"/>
            <a:ext cx="1962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COMPETÊNCIA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2BEE4D-4D20-48F2-9667-29F4152A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FATURAMENTO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24BB74-8B06-4124-BD9D-26113E075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738313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FOLHA + ENCARGOS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0CF01C-33F0-48B8-9147-47DE5D5A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SALDO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E48014-A5CA-44C2-B780-11D6992C2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1738313"/>
            <a:ext cx="1885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ACUMULADO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B51C69-96F6-4C76-8C17-4A0596773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ED396A-3499-44F4-9EB7-62A080841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95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5F045C-4DA9-4EE6-9081-5A3FF195C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431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abr de 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F3C82A-438A-4454-92A9-8F2A3E88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R$ 11.500.000,00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496AF8-F1CB-403E-B81A-9331D099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0431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R$ 1.447.340,00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52AF7A-1B99-45F0-8270-D130B6AFD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R$ 10.052.660,00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FA74DE-BB98-4EA8-BD3B-2CEA6B31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0431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R$ 340.403.341,73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1C8296-E1B3-41EF-87AB-D1AF10A71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98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07E754-D5B2-4E11-9236-EB24260F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3574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mai de 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77EFC60-42AC-4B13-95B3-52CD137FA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R$ 10.800.000,00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F31907-9FAB-4D4A-9D34-B5DC465A3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3574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R$ 1.378.920,00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0FA05C-62F2-4EC0-837E-BDA8C943C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R$ 9.421.080,00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2A5F964-46C1-4190-85CE-296169F73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3574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R$ 349.824.421,73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965EAB-03E7-4F70-9C9D-27D68F94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193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348691C-1216-4AC0-A5D2-7B0F29C8C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5830C1-99EF-4216-A1E1-8329CE700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717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jun de 28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5C593E-AC98-458C-8CA8-02A3DC1C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R$ 9.800.000,00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046A445-1E80-4B16-AE86-FA4CDF109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6717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R$ 1.326.410,00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48972ED-B49A-42C8-BD41-D580FEEC9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R$ 8.473.590,00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954C16E-7830-421C-8098-55B3C0C0C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6717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R$ 358.298.011,73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267ACC3-7F4A-48D2-9F77-DAF3F028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44D1BC-CAC6-4BEF-85B6-45DF70B7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9860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jul de 28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B474E66-597B-4FCC-A023-586F343DD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R$ 9.500.000,00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C81CDFC-8CC1-42E5-8C02-9B75D523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29860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R$ 1.349.870,00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87317E8-363C-46F8-957A-E8838CCBE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R$ 8.150.130,00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0CEC7E8-251E-40B9-B658-7C98FF904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29860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R$ 366.448.141,73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046E477-778E-4F84-8D79-30796F5B7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3C4EFDC-D5D2-4CE6-9EBE-17C867B72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528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2C2F862-6E97-435B-8140-87A47038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3004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ago de 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79E7089-2A14-4575-A4C1-93DB879C7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R$ 10.000.000,00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3943F24-2681-40A8-940A-178F9F01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3004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R$ 1.408.630,00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6E04F45-52D1-45BB-B7BF-ECFBD4EF3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R$ 8.591.370,00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3DF2A27-F723-421D-9AC5-0C0C87891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3004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R$ 375.039.511,73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918B6FD-37A9-4154-862A-B489D3CB4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8CBDEB7-A8F0-4C6A-9229-EBBD855BE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6147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set de 28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1EA8633-A0F4-4FAF-A597-F70B61EAA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R$ 11.300.000,00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8CEFC4D-298F-4B62-8D8B-C0119C351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6147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R$ 1.482.760,00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FD7E976-9DD5-4D89-9A93-26AD9101C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R$ 9.817.240,00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E0D7E61-CFFF-4495-8D8A-913E7E0B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6147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R$ 384.856.751,73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BFE3A34-442F-42D9-B777-E28AC4BD8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8F7FC6C-50B6-4571-9F0D-03C65DEA9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81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DAE3556-00A2-47BC-B3ED-667818C5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290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out de 28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6DA062C-DB18-49D0-BAE4-19BE1165F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R$ 12.600.000,00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CF480A2-5CDE-4710-A0EF-BBCA85DD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39290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R$ 1.578.140,00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AF4E99F-EFF6-4B9C-A7C1-ED1A03EE3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R$ 11.021.860,00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8EEDB53-2A35-4074-865D-ABB77C432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39290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R$ 395.878.611,73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F57B631-19F6-415F-8AD8-31E737DE6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BF77929-66F7-44E6-BA34-94D799CB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2433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nov de 28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DBEB1C0-958D-4E6D-B169-E9C6B03E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R$ 14.200.000,00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B43E505-D9F5-414A-B6FA-7F859DB37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2433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R$ 1.689.630,00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1EB6A5A-2A81-4689-B08A-170862E1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R$ 12.510.370,00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601A04F-7178-4F5E-9090-4B8A2E645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2433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R$ 408.388.981,73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867FEA9-08D0-4E1E-A969-770922F9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BCF99F9-0982-40C2-8EDC-D9F35982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73F38A3-02E4-469F-A719-E5C634E6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55771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dez de 28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16797C9-29A0-478A-B6D7-D2D0775F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R$ 15.000.000,00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359C04D-43A7-40AE-A487-E9468C22E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55771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1D4ED8"/>
                </a:solidFill>
              </a:defRPr>
            </a:pPr>
            <a:r>
              <a:rPr sz="1050" b="0">
                <a:solidFill>
                  <a:srgbClr val="1D4ED8"/>
                </a:solidFill>
              </a:rPr>
              <a:t>R$ 1.742.180,00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DC84044-9BBC-4EC6-9128-EFDF0383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00874A"/>
                </a:solidFill>
              </a:defRPr>
            </a:pPr>
            <a:r>
              <a:rPr sz="1050" b="0">
                <a:solidFill>
                  <a:srgbClr val="00874A"/>
                </a:solidFill>
              </a:rPr>
              <a:t>R$ 13.257.820,00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CF41313-ECFD-4C93-AE46-76ABB17E1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55771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26383F"/>
                </a:solidFill>
              </a:defRPr>
            </a:pPr>
            <a:r>
              <a:rPr sz="1050" b="0">
                <a:solidFill>
                  <a:srgbClr val="26383F"/>
                </a:solidFill>
              </a:rPr>
              <a:t>R$ 421.646.801,73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0EAF5385-9666-4E3B-8AAC-7D68FD2AB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03F1245-A7BB-4F9C-A6D3-FFE637D2F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7203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realizado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C8F4A28B-D7A5-439C-871B-9165C0CB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R$ 191.634.498,44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6BDA02C6-9D01-43DE-BA58-8B9EC84BB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487203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R$ 50.862.678,84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08193142-FDDA-412A-BB22-05425B03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R$ 140.771.819,60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E016E3A-1E80-48C5-98F7-42F8D6A21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87203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F556055-6499-4FFD-99B7-F3DB09BB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56EFB6B-8A24-44AB-987E-DE29DF647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86363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Subtotal projetado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5B8815A-4432-40C6-8FC9-BEFAFE9ED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R$ 325.004.602,13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96C41C9-6668-4E7F-B35F-9453C8A4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186363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1D4ED8"/>
                </a:solidFill>
              </a:defRPr>
            </a:pPr>
            <a:r>
              <a:rPr sz="1050" b="1">
                <a:solidFill>
                  <a:srgbClr val="1D4ED8"/>
                </a:solidFill>
              </a:rPr>
              <a:t>R$ 44.129.620,00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2306BB2A-7C53-4A74-B36A-57CADB4C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R$ 280.874.982,13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230EA3E7-F7CC-41BF-8883-A05640590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186363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B7078"/>
                </a:solidFill>
              </a:defRPr>
            </a:pPr>
            <a:r>
              <a:rPr sz="1050" b="1">
                <a:solidFill>
                  <a:srgbClr val="5B7078"/>
                </a:solidFill>
              </a:rPr>
              <a:t>—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E6C38AF-07ED-467F-9179-8222098FD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B4E7155-82ED-42A8-9181-14482E76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5A2C4F5-4E76-4618-BCC3-6892182EB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00688"/>
            <a:ext cx="1962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Total do recorte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3AD4941-9DE4-4492-83B2-D1A4B2123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R$ 516.639.100,57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278A3AB-4D15-489B-9C8E-E90EF9183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5500688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R$ 94.992.298,84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DBA4995-736E-42C4-A783-AD6F2A5DA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4AA606D-FB34-4C1D-B8B2-67DD61214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0688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B1A20"/>
                </a:solidFill>
              </a:defRPr>
            </a:pPr>
            <a:r>
              <a:rPr sz="1050" b="1">
                <a:solidFill>
                  <a:srgbClr val="0B1A20"/>
                </a:solidFill>
              </a:rPr>
              <a:t>R$ 421.646.801,73</a:t>
            </a:r>
          </a:p>
        </p:txBody>
      </p:sp>
    </p:spTree>
    <p:extLst>
      <p:ext uri="{BB962C8B-B14F-4D97-AF65-F5344CB8AC3E}">
        <p14:creationId xmlns:p14="http://schemas.microsoft.com/office/powerpoint/2010/main" val="50730038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2B54BECD-EC82-478B-877E-8FB7039BF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89D721-AD92-40E3-B233-BA123D0C1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201896-D65C-4B06-8300-FAB092D3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00874A"/>
                </a:solidFill>
              </a:defRPr>
            </a:pPr>
            <a:r>
              <a:rPr sz="975" b="1">
                <a:solidFill>
                  <a:srgbClr val="00874A"/>
                </a:solidFill>
              </a:rPr>
              <a:t>CARTEIRA E RECEBÍVEIS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E090E3-27B6-46E4-A583-FA0ECDF51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14 / 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5C666E-A4FF-4158-A6C0-701E005D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531d74790843d9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EEA95E-5FB5-4027-A4B4-F40D9BE01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12820C-4E58-4E35-A41C-394925A6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92906B-875D-4E74-90F8-8C70A410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A20"/>
                </a:solidFill>
              </a:defRPr>
            </a:pPr>
            <a:r>
              <a:rPr sz="2550" b="1">
                <a:solidFill>
                  <a:srgbClr val="0B1A20"/>
                </a:solidFill>
              </a:rPr>
              <a:t>Backlog que sustenta a projeção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19C85F-0DA3-4AEA-94AD-D1CADC301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10591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B7078"/>
                </a:solidFill>
              </a:defRPr>
            </a:pPr>
            <a:r>
              <a:rPr sz="1125">
                <a:solidFill>
                  <a:srgbClr val="5B7078"/>
                </a:solidFill>
              </a:rPr>
              <a:t>Saldo a receber conforme informado na carteira; não equivale necessariamente a caixa recebido.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5BBFC5-7511-436E-BCB0-FA749F612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A6D82B-7E13-42AD-8A5A-03611850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9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EEB2BB-B850-4B7C-9DF6-B434E15E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752600"/>
            <a:ext cx="1276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CLIENTE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CFB7A2-79DE-4717-A571-E16780F53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1752600"/>
            <a:ext cx="89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STATUS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74C96D-D476-4FE7-8F7D-3AD8CCD46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CARTEIRA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8C6AC2-6373-4D48-AFE5-5C6184616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FATURADO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113A10-7D64-414B-A4CC-7C09FB041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BACKLOG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70E0C7-FCBD-4BC6-8923-078C7BCBB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 RECEBER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E19085-DB81-433F-9D64-7FCECED99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ATÉ 2028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FC5AB9-2B43-459F-9C2F-749621DE7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1752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5B7078"/>
                </a:solidFill>
              </a:defRPr>
            </a:pPr>
            <a:r>
              <a:rPr sz="825" b="1">
                <a:solidFill>
                  <a:srgbClr val="5B7078"/>
                </a:solidFill>
              </a:rPr>
              <a:t>PÓS-2028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B97518-2177-4C0E-90B9-E4EAB047C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52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593C6E-5653-4202-AF21-425CED657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85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AXIA Energia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2A305A5-5749-403D-96F2-47D4D2199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085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DA5E51-60BD-4AC6-9460-E88C36FFB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R$ 42.544.856,72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D40CBE2-A9E6-498D-87AF-FCB346679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R$ 13.587.630,96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DDAB51-24D3-4184-A381-7E9442C7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R$ 28.957.225,76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F56B59-29E5-4FAB-87F6-D5871B31C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R$ 16.901.328,68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AB0B2C-5953-4365-84E7-3FB6465F2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R$ 28.957.225,76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B81C2B-574D-462B-AE12-AD1AD4EA2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085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FE43A8-70F4-4C4A-8C3E-763898C99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6D67DB4-E0EB-4277-8001-D5E8BFA6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955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1FDD61-BBB0-4FE3-B3B0-50D3630BD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28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Petrobras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357CA67-A221-45A1-A508-F64F71E8C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28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131837-34F2-4D2A-99FF-B76F60C9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R$ 126.739.271,47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7B33A1E-A62D-4571-AC93-A58161183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R$ 1.506.178,20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D4E6E40-FEE2-4AB7-82E9-A7B7E0911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R$ 125.233.093,27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CD3194B-D6C6-48BE-A069-78A2899FC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R$ 2.752.843,23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E65C261-1B3A-48B4-8ABA-AFF72811E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R$ 123.670.948,92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0BC3E9A-F4A9-4800-AB64-65E7DE80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428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R$ 1.562.144,35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558B30-7D16-452A-9A04-5FF32DE08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87D83F3-E1AB-4D8D-B110-080CD4618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7717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Enel Green Power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B6652A9-C9FA-4EED-A176-808F57C07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7717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AE9C96A-396B-4EE6-A23D-8C3AE19F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R$ 74.695.374,05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5AA048-1424-4734-8C6B-FB05D8E67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R$ 46.633.200,10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A17B614-F417-4323-89DD-C532163B1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R$ 28.062.173,95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14A2B29-DC41-4F8B-83C6-2DE54B957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R$ 25.512.835,02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AA67D75-744B-440A-95FC-BBA9E2D2C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R$ 28.062.173,95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C8CE6AB-950F-413F-92F0-641B64BAD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27717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FEF1117-59C0-442E-A98F-83AB35C79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A3EB40A-C89A-499C-91C5-41A96D032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813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9AA70AB-4017-4EE0-AA65-F35377BDC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146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CEMIG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CE91B98-8436-4BB3-A27C-86F8CCCA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1146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5B3D7BC-9CE5-44CF-B402-2665FA492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R$ 157.646.971,08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92F09F3-8E4D-433F-94DA-AAA12739F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R$ 15.287.450,14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19EA057-6BA7-4B15-8DF6-ECC6815B0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R$ 142.359.520,94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6925B59-2B84-4614-BC13-A468AF453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R$ 15.391.505,90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1003017-7EEA-45C4-93E0-3C1EA1F25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R$ 142.359.520,94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D31C940-3AF0-4E75-A87F-66F61A6DE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1146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7BE7710-4993-417B-B0B3-C324F005C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20570DE-EBAE-4F6E-9205-614F6512E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4575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Âmbar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FAE098D-2C94-4BA5-9DF2-8821A70B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575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63FE9AF-4F8B-4F09-A721-6B41F61B9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FF3C751-6119-4626-B49C-FC2767D1B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R$ 794.985,49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DEA8E03-4AC8-46D7-9138-C4C85C4F2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R$ 88.331,72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4C6A4D7-3DCD-4C21-9542-AF1303414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R$ 883.317,20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1112FC6-4F95-4FDD-941F-1780A2269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R$ 485.824,46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9C68114-CDEC-4783-9148-AAD146B1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4575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E2BD3D1-38BD-42A4-9D5B-B19E7A483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037378A-08A3-4F89-9F6C-031278942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3F16E36-77A2-4F78-B439-EB638B3EC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8004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Hydro Alunorte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5DE09F5-0597-4CED-AD20-77FF31FD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8004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9315F57B-FBB2-470B-A74C-36F60362C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R$ 4.965.143,38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D836EF7D-B46C-4933-913C-1BAE98DC5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R$ 828.439,34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C3A0B12-10EE-43A3-811B-2CE1EFA0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R$ 4.136.704,04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66E9127-FED0-49BA-946C-52158B666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R$ 872.409,82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2307CFF-2374-4A45-8174-83D55B92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R$ 4.136.704,04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61B3EAB-44AD-4016-A374-5178378E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38004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9FB7B089-D4AE-45FB-8DC0-F84813FE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28D356F-85F3-4307-AAD1-62E6DA81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433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Belém Bioenergia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6F4F933-96D5-4302-B4AE-959686A78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1433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6EB9DBA-5213-42CB-927F-E3A84DCE3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0EFF3D2-AF77-4AB3-ACA0-98C8A628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R$ 279.135,36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AF811A4-6B1B-4657-B635-68DCE9244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R$ 1.166.709,35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455A035-21E2-4B97-85BB-2E32BC6C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R$ 1.445.844,71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E82178E-FD80-488B-8EC4-0E785B51A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R$ 1.166.709,35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5CE004F6-03A7-4B55-9D1A-61D9EE01B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143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CFA441A-1477-4424-BF0D-BF41CCCD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F4A4BBC-38BE-4EE7-A89A-51FD8C76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529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17A4A927-4CEA-4574-B312-9891B8D4E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Flessak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7F8EE922-3B04-44C9-9C9B-AA0B5FD2F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862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7A7BE0DB-AC20-4A9D-9D67-A8F06F4C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R$ 803.178,97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2428292-5581-4C7A-804C-A9EA32904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R$ 80.317,90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5666A1B-29C4-4AB3-9D61-C92180A4A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R$ 722.861,07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ADB6C2C8-40D0-46A0-9544-C310BD34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R$ 803.178,96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3310E1F-B00E-4A0F-9276-3BCFF57C6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R$ 722.861,06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0E4D9D98-2B20-4F37-94A0-83F51E48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4862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R$ 0,01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898D0AAF-0A06-44D1-8B3E-8912CAEA1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4CD0432-A7E1-413C-9B70-8DF5AF0FD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8291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Harbin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93C1CD9-AC7E-45F7-83CF-96ECBA7C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291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2399F7F-56CA-448E-A176-5830AF0D1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9D9D1E3B-5D70-4C0F-BC4B-93CA86B6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C617912-09C5-4E63-ACBD-EA726AB2A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2193ABEB-38AF-4912-8FBF-A7D0AB02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3E18D962-5AB1-47D2-A4EA-1E61DC641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FF282563-6D54-445E-A51F-05F71EC6E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48291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61D0CC7F-BA81-4720-A85E-2C27BB6A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054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9EE760BB-B2D3-4822-9D02-EECAEC29A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387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4AC8AF0D-BD34-4456-BDA2-7E97CF9FF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720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ArcelorMittal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CCB09235-FE93-4AA4-8BF0-ED386ACAB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1720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773B8785-4475-4D51-BBBF-C02481F67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2AE6F140-312B-4BDC-BFEF-DEC6F028E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0FD521CF-BB1C-473D-A68F-23B4CE434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R$ 261.601,20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E9F0C12C-6333-49E4-A63C-1D1B200E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B45E968B-8A77-4923-AC38-63F63D763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R$ 261.601,20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FA3DBB73-9639-49F3-A8B3-E07E0E34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172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286C639F-20D7-4149-92B0-ABCC713A6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5AB16061-7336-4DB5-844D-9125153F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5149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Andritz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638C1241-36DD-484E-810C-CD0CDC7FD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149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Ativo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B8C74C2B-AD17-46BB-91CB-1221320F0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A202323F-27B2-4684-BFC6-FC503EF69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9CA82A61-46A0-43DA-8EBC-6A1E9535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1D4ED8"/>
                </a:solidFill>
              </a:defRPr>
            </a:pPr>
            <a:r>
              <a:rPr sz="938" b="0">
                <a:solidFill>
                  <a:srgbClr val="1D4ED8"/>
                </a:solidFill>
              </a:rPr>
              <a:t>R$ 80.000,00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E1214585-710E-461F-8987-30731F95C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7F003879-8091-490C-B4EC-AD83A38C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R$ 80.000,00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E0E705B3-C423-4743-894A-0B3DD058D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5149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0">
                <a:solidFill>
                  <a:srgbClr val="26383F"/>
                </a:solidFill>
              </a:defRPr>
            </a:pPr>
            <a:r>
              <a:rPr sz="938" b="0">
                <a:solidFill>
                  <a:srgbClr val="26383F"/>
                </a:solidFill>
              </a:rPr>
              <a:t>R$ 0,00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9F82D366-26C4-4498-9FA1-0D1C3AD0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A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C92B03C5-6284-4549-AD28-2A144E74D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1090A9C2-AD4C-4546-B725-73BDDEFC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857875"/>
            <a:ext cx="1276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Total da carteira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6F00CD0C-599E-4FF4-86F9-70A45FBB4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857875"/>
            <a:ext cx="895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11 cliente(s)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745D9FC0-6BB5-48A8-8596-33636BC29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R$ 410.145.558,79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9F5B6CCB-34DE-48F7-8D92-7A4877B0A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R$ 78.997.337,49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1B697317-626E-41FD-A7AF-B95E2F0F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1D4ED8"/>
                </a:solidFill>
              </a:defRPr>
            </a:pPr>
            <a:r>
              <a:rPr sz="938" b="1">
                <a:solidFill>
                  <a:srgbClr val="1D4ED8"/>
                </a:solidFill>
              </a:rPr>
              <a:t>R$ 331.148.221,30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24CB684D-93F0-4295-B54B-D2D7B5FF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R$ 64.984.864,72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A8C0E9C0-770A-493C-9ADC-141385C95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R$ 329.983.569,68</a:t>
            </a:r>
          </a:p>
        </p:txBody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B2360C1E-5A31-4378-9C49-6CE00535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8425" y="58578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38" b="1">
                <a:solidFill>
                  <a:srgbClr val="0B1A20"/>
                </a:solidFill>
              </a:defRPr>
            </a:pPr>
            <a:r>
              <a:rPr sz="938" b="1">
                <a:solidFill>
                  <a:srgbClr val="0B1A20"/>
                </a:solidFill>
              </a:rPr>
              <a:t>R$ 1.562.144,36</a:t>
            </a:r>
          </a:p>
        </p:txBody>
      </p:sp>
    </p:spTree>
    <p:extLst>
      <p:ext uri="{BB962C8B-B14F-4D97-AF65-F5344CB8AC3E}">
        <p14:creationId xmlns:p14="http://schemas.microsoft.com/office/powerpoint/2010/main" val="133691985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A7A888-D18C-401D-9B53-ED7738D2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" y="209550"/>
            <a:ext cx="11772900" cy="6438900"/>
          </a:xfrm>
          <a:prstGeom xmlns:a="http://schemas.openxmlformats.org/drawingml/2006/main" prst="roundRect">
            <a:avLst>
              <a:gd name="adj" fmla="val 177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4EBE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585E8B-44F8-44C2-9D97-367881D2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10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7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05D387-86A6-4B0C-86FE-494DA8778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1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7E939C"/>
                </a:solidFill>
              </a:defRPr>
            </a:pPr>
            <a:r>
              <a:rPr sz="900">
                <a:solidFill>
                  <a:srgbClr val="7E939C"/>
                </a:solidFill>
              </a:rPr>
              <a:t>15 /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1DF82C-E2D5-4637-80D4-8F254964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c6da3105e54b9b"/>
          <a:stretch xmlns:a="http://schemas.openxmlformats.org/drawingml/2006/main"/>
        </p:blipFill>
        <p:spPr>
          <a:xfrm xmlns:a="http://schemas.openxmlformats.org/drawingml/2006/main">
            <a:off x="612031" y="6334125"/>
            <a:ext cx="928688" cy="12382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E20EED-B80A-4887-93FC-5AB2FC2DF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632460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Dados informados do sistema na Projeção Financeira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BCD236-DF99-44D6-ABCE-A3644216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63246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788">
                <a:solidFill>
                  <a:srgbClr val="7E939C"/>
                </a:solidFill>
              </a:defRPr>
            </a:pPr>
            <a:r>
              <a:rPr sz="788">
                <a:solidFill>
                  <a:srgbClr val="7E939C"/>
                </a:solidFill>
              </a:rPr>
              <a:t>Faturamento vs Folha de Pagamento · v1 · CONFIDENCIAL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48cd5b11a54e4f"/>
          <a:stretch xmlns:a="http://schemas.openxmlformats.org/drawingml/2006/main"/>
        </p:blipFill>
        <p:spPr>
          <a:xfrm xmlns:a="http://schemas.openxmlformats.org/drawingml/2006/main">
            <a:off x="3143250" y="3037351"/>
            <a:ext cx="5905500" cy="78329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7868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2026-09-16T16:44:12.7530000Z</dcterms:created>
  <dcterms:modified xsi:type="dcterms:W3CDTF">2026-09-16T16:44:12.7530000Z</dcterms:modified>
</coreProperties>
</file>